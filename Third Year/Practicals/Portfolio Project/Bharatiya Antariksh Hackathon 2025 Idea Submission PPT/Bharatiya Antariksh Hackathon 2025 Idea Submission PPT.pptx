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8" r:id="rId6"/>
    <p:sldId id="260" r:id="rId7"/>
    <p:sldId id="261" r:id="rId8"/>
    <p:sldId id="262" r:id="rId9"/>
    <p:sldId id="263" r:id="rId10"/>
    <p:sldId id="264" r:id="rId11"/>
    <p:sldId id="266" r:id="rId12"/>
    <p:sldId id="265" r:id="rId13"/>
    <p:sldId id="267" r:id="rId14"/>
  </p:sldIdLst>
  <p:sldSz cx="9144000" cy="5143500" type="screen16x9"/>
  <p:notesSz cx="6858000" cy="9144000"/>
  <p:embeddedFontLst>
    <p:embeddedFont>
      <p:font typeface="Google Sans" panose="020B0604020202020204" charset="0"/>
      <p:regular r:id="rId16"/>
      <p:bold r:id="rId17"/>
      <p:italic r:id="rId18"/>
      <p:boldItalic r:id="rId19"/>
    </p:embeddedFont>
    <p:embeddedFont>
      <p:font typeface="Google Sans Medium" panose="020B060402020202020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C262256-4528-4FDF-9F87-B4D7C54D61A4}">
  <a:tblStyle styleId="{9C262256-4528-4FDF-9F87-B4D7C54D61A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624071705a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624071705a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6240df152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6240df152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624071705a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624071705a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624071705a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624071705a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624071705a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624071705a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624071705a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624071705a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624071705a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624071705a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624071705a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624071705a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624071705a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624071705a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624071705a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624071705a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624071705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624071705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0.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0.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title="Artboard eee– 1.png"/>
          <p:cNvPicPr preferRelativeResize="0"/>
          <p:nvPr/>
        </p:nvPicPr>
        <p:blipFill>
          <a:blip r:embed="rId3">
            <a:alphaModFix/>
          </a:blip>
          <a:stretch>
            <a:fillRect/>
          </a:stretch>
        </p:blipFill>
        <p:spPr>
          <a:xfrm>
            <a:off x="0" y="0"/>
            <a:ext cx="9144008" cy="5143501"/>
          </a:xfrm>
          <a:prstGeom prst="rect">
            <a:avLst/>
          </a:prstGeom>
          <a:noFill/>
          <a:ln>
            <a:noFill/>
          </a:ln>
        </p:spPr>
      </p:pic>
      <p:sp>
        <p:nvSpPr>
          <p:cNvPr id="55" name="Google Shape;55;p13"/>
          <p:cNvSpPr txBox="1"/>
          <p:nvPr/>
        </p:nvSpPr>
        <p:spPr>
          <a:xfrm>
            <a:off x="294675" y="3319373"/>
            <a:ext cx="8520600" cy="44370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1600" dirty="0">
                <a:solidFill>
                  <a:srgbClr val="202729"/>
                </a:solidFill>
                <a:latin typeface="Google Sans Medium"/>
                <a:ea typeface="Google Sans Medium"/>
                <a:cs typeface="Google Sans Medium"/>
                <a:sym typeface="Google Sans Medium"/>
              </a:rPr>
              <a:t>Team Name : </a:t>
            </a:r>
            <a:r>
              <a:rPr lang="en-GB" sz="1600" dirty="0" err="1">
                <a:solidFill>
                  <a:srgbClr val="202729"/>
                </a:solidFill>
                <a:latin typeface="Google Sans Medium"/>
                <a:ea typeface="Google Sans Medium"/>
                <a:cs typeface="Google Sans Medium"/>
                <a:sym typeface="Google Sans Medium"/>
              </a:rPr>
              <a:t>Inevitables</a:t>
            </a:r>
            <a:endParaRPr sz="1600" dirty="0">
              <a:solidFill>
                <a:srgbClr val="202729"/>
              </a:solidFill>
              <a:latin typeface="Google Sans Medium"/>
              <a:ea typeface="Google Sans Medium"/>
              <a:cs typeface="Google Sans Medium"/>
              <a:sym typeface="Google Sans Medium"/>
            </a:endParaRPr>
          </a:p>
        </p:txBody>
      </p:sp>
      <p:sp>
        <p:nvSpPr>
          <p:cNvPr id="56" name="Google Shape;56;p13"/>
          <p:cNvSpPr txBox="1"/>
          <p:nvPr/>
        </p:nvSpPr>
        <p:spPr>
          <a:xfrm>
            <a:off x="328730" y="4269210"/>
            <a:ext cx="8520600" cy="408600"/>
          </a:xfrm>
          <a:prstGeom prst="rect">
            <a:avLst/>
          </a:prstGeom>
          <a:noFill/>
          <a:ln>
            <a:noFill/>
          </a:ln>
        </p:spPr>
        <p:txBody>
          <a:bodyPr spcFirstLastPara="1" wrap="square" lIns="91425" tIns="91425" rIns="91425" bIns="91425" anchor="t" anchorCtr="0">
            <a:normAutofit/>
          </a:bodyPr>
          <a:lstStyle/>
          <a:p>
            <a:pPr lvl="0">
              <a:lnSpc>
                <a:spcPct val="70000"/>
              </a:lnSpc>
            </a:pPr>
            <a:r>
              <a:rPr lang="en-GB" sz="1600" dirty="0">
                <a:solidFill>
                  <a:srgbClr val="202729"/>
                </a:solidFill>
                <a:latin typeface="Google Sans Medium"/>
                <a:ea typeface="Google Sans Medium"/>
                <a:cs typeface="Google Sans Medium"/>
                <a:sym typeface="Google Sans Medium"/>
              </a:rPr>
              <a:t>Problem Statement : </a:t>
            </a:r>
            <a:r>
              <a:rPr lang="en-US" sz="1600" dirty="0">
                <a:solidFill>
                  <a:srgbClr val="202729"/>
                </a:solidFill>
                <a:latin typeface="Google Sans Medium"/>
                <a:ea typeface="Google Sans Medium"/>
                <a:cs typeface="Google Sans Medium"/>
                <a:sym typeface="Google Sans Medium"/>
              </a:rPr>
              <a:t>Simulation/Modelling of Forest Fire Spread using AI/ML techniques</a:t>
            </a:r>
            <a:endParaRPr sz="1600" dirty="0">
              <a:solidFill>
                <a:srgbClr val="202729"/>
              </a:solidFill>
              <a:latin typeface="Google Sans Medium"/>
              <a:ea typeface="Google Sans Medium"/>
              <a:cs typeface="Google Sans Medium"/>
              <a:sym typeface="Google Sans Medium"/>
            </a:endParaRPr>
          </a:p>
        </p:txBody>
      </p:sp>
      <p:sp>
        <p:nvSpPr>
          <p:cNvPr id="57" name="Google Shape;57;p13"/>
          <p:cNvSpPr txBox="1"/>
          <p:nvPr/>
        </p:nvSpPr>
        <p:spPr>
          <a:xfrm>
            <a:off x="310163" y="3794133"/>
            <a:ext cx="8520600" cy="44370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1600" dirty="0">
                <a:solidFill>
                  <a:srgbClr val="202729"/>
                </a:solidFill>
                <a:latin typeface="Google Sans Medium"/>
                <a:ea typeface="Google Sans Medium"/>
                <a:cs typeface="Google Sans Medium"/>
                <a:sym typeface="Google Sans Medium"/>
              </a:rPr>
              <a:t>Team Leader Name : Akshit Kotnala </a:t>
            </a:r>
            <a:endParaRPr sz="1600" dirty="0">
              <a:solidFill>
                <a:srgbClr val="202729"/>
              </a:solidFill>
              <a:latin typeface="Google Sans Medium"/>
              <a:ea typeface="Google Sans Medium"/>
              <a:cs typeface="Google Sans Medium"/>
              <a:sym typeface="Google Sans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p14" title="Artboard eee– 2.png"/>
          <p:cNvPicPr preferRelativeResize="0"/>
          <p:nvPr/>
        </p:nvPicPr>
        <p:blipFill rotWithShape="1">
          <a:blip r:embed="rId3">
            <a:alphaModFix/>
          </a:blip>
          <a:srcRect/>
          <a:stretch/>
        </p:blipFill>
        <p:spPr>
          <a:xfrm>
            <a:off x="0" y="0"/>
            <a:ext cx="9144008" cy="5143501"/>
          </a:xfrm>
          <a:prstGeom prst="rect">
            <a:avLst/>
          </a:prstGeom>
          <a:noFill/>
          <a:ln>
            <a:noFill/>
          </a:ln>
        </p:spPr>
      </p:pic>
      <p:sp>
        <p:nvSpPr>
          <p:cNvPr id="63" name="Google Shape;63;p14"/>
          <p:cNvSpPr txBox="1"/>
          <p:nvPr/>
        </p:nvSpPr>
        <p:spPr>
          <a:xfrm>
            <a:off x="2880642" y="639449"/>
            <a:ext cx="2850686" cy="465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200"/>
              </a:spcAft>
              <a:buSzPts val="1018"/>
              <a:buNone/>
            </a:pPr>
            <a:r>
              <a:rPr lang="en-GB" sz="2400" b="1" u="sng" dirty="0">
                <a:solidFill>
                  <a:schemeClr val="dk1"/>
                </a:solidFill>
                <a:latin typeface="Google Sans Medium"/>
                <a:ea typeface="Google Sans Medium"/>
                <a:cs typeface="Google Sans Medium"/>
                <a:sym typeface="Google Sans Medium"/>
              </a:rPr>
              <a:t>Team Members</a:t>
            </a:r>
            <a:endParaRPr sz="2400" b="1" u="sng" dirty="0">
              <a:solidFill>
                <a:schemeClr val="dk1"/>
              </a:solidFill>
              <a:latin typeface="Google Sans Medium"/>
              <a:ea typeface="Google Sans Medium"/>
              <a:cs typeface="Google Sans Medium"/>
              <a:sym typeface="Google Sans Medium"/>
            </a:endParaRPr>
          </a:p>
        </p:txBody>
      </p:sp>
      <p:graphicFrame>
        <p:nvGraphicFramePr>
          <p:cNvPr id="64" name="Google Shape;64;p14"/>
          <p:cNvGraphicFramePr/>
          <p:nvPr>
            <p:extLst>
              <p:ext uri="{D42A27DB-BD31-4B8C-83A1-F6EECF244321}">
                <p14:modId xmlns:p14="http://schemas.microsoft.com/office/powerpoint/2010/main" val="1709985013"/>
              </p:ext>
            </p:extLst>
          </p:nvPr>
        </p:nvGraphicFramePr>
        <p:xfrm>
          <a:off x="952500" y="1329450"/>
          <a:ext cx="7239000" cy="3589950"/>
        </p:xfrm>
        <a:graphic>
          <a:graphicData uri="http://schemas.openxmlformats.org/drawingml/2006/table">
            <a:tbl>
              <a:tblPr>
                <a:noFill/>
                <a:tableStyleId>{9C262256-4528-4FDF-9F87-B4D7C54D61A4}</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1794975">
                <a:tc>
                  <a:txBody>
                    <a:bodyPr/>
                    <a:lstStyle/>
                    <a:p>
                      <a:pPr marL="0" lvl="0" indent="0" algn="l" rtl="0">
                        <a:spcBef>
                          <a:spcPts val="0"/>
                        </a:spcBef>
                        <a:spcAft>
                          <a:spcPts val="0"/>
                        </a:spcAft>
                        <a:buNone/>
                      </a:pPr>
                      <a:r>
                        <a:rPr lang="en-GB" dirty="0"/>
                        <a:t>Team Leader: </a:t>
                      </a:r>
                    </a:p>
                    <a:p>
                      <a:pPr marL="0" lvl="0" indent="0" algn="l" rtl="0">
                        <a:spcBef>
                          <a:spcPts val="0"/>
                        </a:spcBef>
                        <a:spcAft>
                          <a:spcPts val="0"/>
                        </a:spcAft>
                        <a:buNone/>
                      </a:pPr>
                      <a:endParaRPr lang="en-GB" dirty="0"/>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dirty="0"/>
                        <a:t>Name: Akshit Kotnala</a:t>
                      </a:r>
                      <a:endParaRPr dirty="0"/>
                    </a:p>
                    <a:p>
                      <a:pPr marL="0" lvl="0" indent="0" algn="l" rtl="0">
                        <a:spcBef>
                          <a:spcPts val="0"/>
                        </a:spcBef>
                        <a:spcAft>
                          <a:spcPts val="0"/>
                        </a:spcAft>
                        <a:buNone/>
                      </a:pPr>
                      <a:r>
                        <a:rPr lang="en-GB" dirty="0"/>
                        <a:t>College: Army Institute of Technology Pune</a:t>
                      </a:r>
                      <a:endParaRPr dirty="0"/>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GB" dirty="0">
                          <a:solidFill>
                            <a:schemeClr val="dk1"/>
                          </a:solidFill>
                        </a:rPr>
                        <a:t>Team Member-1: </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GB" dirty="0">
                          <a:solidFill>
                            <a:schemeClr val="dk1"/>
                          </a:solidFill>
                        </a:rPr>
                        <a:t>Name: Shivam </a:t>
                      </a:r>
                      <a:r>
                        <a:rPr lang="en-GB" dirty="0" err="1">
                          <a:solidFill>
                            <a:schemeClr val="dk1"/>
                          </a:solidFill>
                        </a:rPr>
                        <a:t>Kapasiya</a:t>
                      </a:r>
                      <a:r>
                        <a:rPr lang="en-GB" dirty="0">
                          <a:solidFill>
                            <a:schemeClr val="dk1"/>
                          </a:solidFill>
                        </a:rPr>
                        <a:t> </a:t>
                      </a:r>
                      <a:endParaRPr dirty="0">
                        <a:solidFill>
                          <a:schemeClr val="dk1"/>
                        </a:solidFill>
                      </a:endParaRPr>
                    </a:p>
                    <a:p>
                      <a:pPr marL="0" lvl="0" indent="0" algn="l" rtl="0">
                        <a:spcBef>
                          <a:spcPts val="0"/>
                        </a:spcBef>
                        <a:spcAft>
                          <a:spcPts val="0"/>
                        </a:spcAft>
                        <a:buClr>
                          <a:schemeClr val="dk1"/>
                        </a:buClr>
                        <a:buSzPts val="1100"/>
                        <a:buFont typeface="Arial"/>
                        <a:buNone/>
                      </a:pPr>
                      <a:r>
                        <a:rPr lang="en-GB" dirty="0">
                          <a:solidFill>
                            <a:schemeClr val="dk1"/>
                          </a:solidFill>
                        </a:rPr>
                        <a:t>College: </a:t>
                      </a:r>
                      <a:r>
                        <a:rPr lang="en-GB" dirty="0"/>
                        <a:t>Army Institute of Technology Pune</a:t>
                      </a:r>
                      <a:endParaRPr dirty="0">
                        <a:solidFill>
                          <a:schemeClr val="dk1"/>
                        </a:solidFill>
                      </a:endParaRPr>
                    </a:p>
                    <a:p>
                      <a:pPr marL="0" lvl="0" indent="0" algn="l" rtl="0">
                        <a:spcBef>
                          <a:spcPts val="0"/>
                        </a:spcBef>
                        <a:spcAft>
                          <a:spcPts val="0"/>
                        </a:spcAft>
                        <a:buNone/>
                      </a:pPr>
                      <a:endParaRPr dirty="0"/>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0"/>
                  </a:ext>
                </a:extLst>
              </a:tr>
              <a:tr h="1794975">
                <a:tc>
                  <a:txBody>
                    <a:bodyPr/>
                    <a:lstStyle/>
                    <a:p>
                      <a:pPr marL="0" lvl="0" indent="0" algn="l" rtl="0">
                        <a:spcBef>
                          <a:spcPts val="0"/>
                        </a:spcBef>
                        <a:spcAft>
                          <a:spcPts val="0"/>
                        </a:spcAft>
                        <a:buClr>
                          <a:schemeClr val="dk1"/>
                        </a:buClr>
                        <a:buSzPts val="1100"/>
                        <a:buFont typeface="Arial"/>
                        <a:buNone/>
                      </a:pPr>
                      <a:r>
                        <a:rPr lang="en-GB" dirty="0">
                          <a:solidFill>
                            <a:schemeClr val="dk1"/>
                          </a:solidFill>
                        </a:rPr>
                        <a:t>Team Member-2: </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GB" dirty="0">
                          <a:solidFill>
                            <a:schemeClr val="dk1"/>
                          </a:solidFill>
                        </a:rPr>
                        <a:t>Name: Vishal Ghosh </a:t>
                      </a:r>
                      <a:endParaRPr dirty="0">
                        <a:solidFill>
                          <a:schemeClr val="dk1"/>
                        </a:solidFill>
                      </a:endParaRPr>
                    </a:p>
                    <a:p>
                      <a:pPr marL="0" lvl="0" indent="0" algn="l" rtl="0">
                        <a:spcBef>
                          <a:spcPts val="0"/>
                        </a:spcBef>
                        <a:spcAft>
                          <a:spcPts val="0"/>
                        </a:spcAft>
                        <a:buClr>
                          <a:schemeClr val="dk1"/>
                        </a:buClr>
                        <a:buSzPts val="1100"/>
                        <a:buFont typeface="Arial"/>
                        <a:buNone/>
                      </a:pPr>
                      <a:r>
                        <a:rPr lang="en-GB" dirty="0">
                          <a:solidFill>
                            <a:schemeClr val="dk1"/>
                          </a:solidFill>
                        </a:rPr>
                        <a:t>College: </a:t>
                      </a:r>
                      <a:r>
                        <a:rPr lang="en-GB" dirty="0"/>
                        <a:t>Army Institute of Technology Pune</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None/>
                      </a:pPr>
                      <a:endParaRPr dirty="0"/>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GB" dirty="0">
                          <a:solidFill>
                            <a:schemeClr val="dk1"/>
                          </a:solidFill>
                        </a:rPr>
                        <a:t>Team Member-3: </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Clr>
                          <a:schemeClr val="dk1"/>
                        </a:buClr>
                        <a:buSzPts val="1100"/>
                        <a:buFont typeface="Arial"/>
                        <a:buNone/>
                      </a:pPr>
                      <a:r>
                        <a:rPr lang="en-GB" dirty="0">
                          <a:solidFill>
                            <a:schemeClr val="dk1"/>
                          </a:solidFill>
                        </a:rPr>
                        <a:t>Name:</a:t>
                      </a:r>
                      <a:endParaRPr dirty="0">
                        <a:solidFill>
                          <a:schemeClr val="dk1"/>
                        </a:solidFill>
                      </a:endParaRPr>
                    </a:p>
                    <a:p>
                      <a:pPr marL="0" lvl="0" indent="0" algn="l" rtl="0">
                        <a:spcBef>
                          <a:spcPts val="0"/>
                        </a:spcBef>
                        <a:spcAft>
                          <a:spcPts val="0"/>
                        </a:spcAft>
                        <a:buClr>
                          <a:schemeClr val="dk1"/>
                        </a:buClr>
                        <a:buSzPts val="1100"/>
                        <a:buFont typeface="Arial"/>
                        <a:buNone/>
                      </a:pPr>
                      <a:r>
                        <a:rPr lang="en-GB" dirty="0">
                          <a:solidFill>
                            <a:schemeClr val="dk1"/>
                          </a:solidFill>
                        </a:rPr>
                        <a:t>College:</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None/>
                      </a:pPr>
                      <a:endParaRPr dirty="0"/>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15" title="Artboard eee– 2.png"/>
          <p:cNvPicPr preferRelativeResize="0"/>
          <p:nvPr/>
        </p:nvPicPr>
        <p:blipFill rotWithShape="1">
          <a:blip r:embed="rId3">
            <a:alphaModFix/>
          </a:blip>
          <a:srcRect/>
          <a:stretch/>
        </p:blipFill>
        <p:spPr>
          <a:xfrm>
            <a:off x="0" y="0"/>
            <a:ext cx="9144008" cy="5143501"/>
          </a:xfrm>
          <a:prstGeom prst="rect">
            <a:avLst/>
          </a:prstGeom>
          <a:noFill/>
          <a:ln>
            <a:noFill/>
          </a:ln>
        </p:spPr>
      </p:pic>
      <p:sp>
        <p:nvSpPr>
          <p:cNvPr id="70" name="Google Shape;70;p15"/>
          <p:cNvSpPr txBox="1"/>
          <p:nvPr/>
        </p:nvSpPr>
        <p:spPr>
          <a:xfrm>
            <a:off x="328029" y="614950"/>
            <a:ext cx="2403000" cy="465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018"/>
              <a:buNone/>
            </a:pPr>
            <a:r>
              <a:rPr lang="en-GB" sz="1600" b="1" u="sng" dirty="0">
                <a:solidFill>
                  <a:schemeClr val="dk1"/>
                </a:solidFill>
                <a:latin typeface="Google Sans Medium"/>
                <a:ea typeface="Google Sans Medium"/>
                <a:cs typeface="Google Sans Medium"/>
                <a:sym typeface="Google Sans Medium"/>
              </a:rPr>
              <a:t>Brief about the Idea:  </a:t>
            </a:r>
            <a:endParaRPr sz="1600" b="1" u="sng" dirty="0">
              <a:solidFill>
                <a:schemeClr val="dk1"/>
              </a:solidFill>
              <a:latin typeface="Google Sans Medium"/>
              <a:ea typeface="Google Sans Medium"/>
              <a:cs typeface="Google Sans Medium"/>
              <a:sym typeface="Google Sans Medium"/>
            </a:endParaRPr>
          </a:p>
        </p:txBody>
      </p:sp>
      <p:sp>
        <p:nvSpPr>
          <p:cNvPr id="3" name="TextBox 2">
            <a:extLst>
              <a:ext uri="{FF2B5EF4-FFF2-40B4-BE49-F238E27FC236}">
                <a16:creationId xmlns:a16="http://schemas.microsoft.com/office/drawing/2014/main" id="{BF05AA56-D460-77B9-884C-097E16CD7732}"/>
              </a:ext>
            </a:extLst>
          </p:cNvPr>
          <p:cNvSpPr txBox="1"/>
          <p:nvPr/>
        </p:nvSpPr>
        <p:spPr>
          <a:xfrm>
            <a:off x="753196" y="981000"/>
            <a:ext cx="7949933" cy="4493538"/>
          </a:xfrm>
          <a:prstGeom prst="rect">
            <a:avLst/>
          </a:prstGeom>
          <a:noFill/>
        </p:spPr>
        <p:txBody>
          <a:bodyPr wrap="square">
            <a:spAutoFit/>
          </a:bodyPr>
          <a:lstStyle/>
          <a:p>
            <a:r>
              <a:rPr lang="en-IN" sz="1300" dirty="0"/>
              <a:t>Forest fires are growing more frequent and severe due to climate change, rising temperatures, and human encroachment. These fires threaten biodiversity, human lives, and property, and they often spread faster than authorities can respond. Most existing systems detect fires after they’ve already begun, offering little time for preventive action. To address this, our idea is to build </a:t>
            </a:r>
            <a:r>
              <a:rPr lang="en-IN" sz="1300" b="1" dirty="0"/>
              <a:t>an AI/ML-powered forest fire spread simulation model that can predict how a fire might evolve before it causes irreversible damage</a:t>
            </a:r>
            <a:r>
              <a:rPr lang="en-IN" sz="1300" dirty="0"/>
              <a:t>.</a:t>
            </a:r>
          </a:p>
          <a:p>
            <a:r>
              <a:rPr lang="en-IN" sz="1300" dirty="0"/>
              <a:t>Our system will use a </a:t>
            </a:r>
            <a:r>
              <a:rPr lang="en-IN" sz="1300" b="1" dirty="0"/>
              <a:t>combination of satellite imagery</a:t>
            </a:r>
            <a:r>
              <a:rPr lang="en-IN" sz="1300" dirty="0"/>
              <a:t>, </a:t>
            </a:r>
            <a:r>
              <a:rPr lang="en-IN" sz="1300" b="1" dirty="0"/>
              <a:t>weather data</a:t>
            </a:r>
            <a:r>
              <a:rPr lang="en-IN" sz="1300" dirty="0"/>
              <a:t> (such as wind speed, humidity, and temperature), </a:t>
            </a:r>
            <a:r>
              <a:rPr lang="en-IN" sz="1300" b="1" dirty="0"/>
              <a:t>vegetation indices </a:t>
            </a:r>
            <a:r>
              <a:rPr lang="en-IN" sz="1300" dirty="0"/>
              <a:t>(like NDVI), and </a:t>
            </a:r>
            <a:r>
              <a:rPr lang="en-IN" sz="1300" b="1" dirty="0"/>
              <a:t>topographic features</a:t>
            </a:r>
            <a:r>
              <a:rPr lang="en-IN" sz="1300" dirty="0"/>
              <a:t> to forecast the likely direction, speed, and extent of a wildfire. Through spatiotemporal </a:t>
            </a:r>
            <a:r>
              <a:rPr lang="en-IN" sz="1300" dirty="0" err="1"/>
              <a:t>modeling</a:t>
            </a:r>
            <a:r>
              <a:rPr lang="en-IN" sz="1300" dirty="0"/>
              <a:t> techniques, the platform will simulate the fire’s </a:t>
            </a:r>
            <a:r>
              <a:rPr lang="en-IN" sz="1300" dirty="0" err="1"/>
              <a:t>behavior</a:t>
            </a:r>
            <a:r>
              <a:rPr lang="en-IN" sz="1300" dirty="0"/>
              <a:t> over time, helping authorities visualize its potential spread in the coming hours or days.</a:t>
            </a:r>
          </a:p>
          <a:p>
            <a:r>
              <a:rPr lang="en-IN" sz="1300" b="1" dirty="0"/>
              <a:t>Users will be able to select a region or input geographic coordinates through an intuitive interface</a:t>
            </a:r>
            <a:r>
              <a:rPr lang="en-IN" sz="1300" dirty="0"/>
              <a:t>. The tool will then display an interactive map showing predicted fire zones, allowing decision-makers to prepare accordingly. This includes planning evacuations, prioritizing vulnerable zones, and efficiently deploying firefighting resources.</a:t>
            </a:r>
          </a:p>
          <a:p>
            <a:r>
              <a:rPr lang="en-IN" sz="1300" dirty="0"/>
              <a:t>By </a:t>
            </a:r>
            <a:r>
              <a:rPr lang="en-IN" sz="1300" b="1" dirty="0"/>
              <a:t>combining geospatial data with machine learning and simulation</a:t>
            </a:r>
            <a:r>
              <a:rPr lang="en-IN" sz="1300" dirty="0"/>
              <a:t>, we aim to </a:t>
            </a:r>
            <a:r>
              <a:rPr lang="en-IN" sz="1300" b="1" dirty="0"/>
              <a:t>shift wildfire management from reactive to proactive</a:t>
            </a:r>
            <a:r>
              <a:rPr lang="en-IN" sz="1300" dirty="0"/>
              <a:t>. Our goal is to build a scalable, accessible system that supports real-time forecasting and better disaster response—ultimately minimizing loss to life, nature, and economy.</a:t>
            </a:r>
          </a:p>
          <a:p>
            <a:endParaRPr lang="en-IN" sz="1300" dirty="0"/>
          </a:p>
          <a:p>
            <a:endParaRPr lang="en-IN" sz="1300" dirty="0"/>
          </a:p>
          <a:p>
            <a:endParaRPr lang="en-IN"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pic>
        <p:nvPicPr>
          <p:cNvPr id="75" name="Google Shape;75;p16" title="Artboard eee– 2.png"/>
          <p:cNvPicPr preferRelativeResize="0"/>
          <p:nvPr/>
        </p:nvPicPr>
        <p:blipFill rotWithShape="1">
          <a:blip r:embed="rId3">
            <a:alphaModFix/>
          </a:blip>
          <a:srcRect/>
          <a:stretch/>
        </p:blipFill>
        <p:spPr>
          <a:xfrm>
            <a:off x="0" y="81354"/>
            <a:ext cx="9144008" cy="5143501"/>
          </a:xfrm>
          <a:prstGeom prst="rect">
            <a:avLst/>
          </a:prstGeom>
          <a:noFill/>
          <a:ln>
            <a:noFill/>
          </a:ln>
        </p:spPr>
      </p:pic>
      <p:sp>
        <p:nvSpPr>
          <p:cNvPr id="76" name="Google Shape;76;p16"/>
          <p:cNvSpPr txBox="1"/>
          <p:nvPr/>
        </p:nvSpPr>
        <p:spPr>
          <a:xfrm>
            <a:off x="311700" y="863550"/>
            <a:ext cx="7569300" cy="465900"/>
          </a:xfrm>
          <a:prstGeom prst="rect">
            <a:avLst/>
          </a:prstGeom>
          <a:noFill/>
          <a:ln>
            <a:noFill/>
          </a:ln>
        </p:spPr>
        <p:txBody>
          <a:bodyPr spcFirstLastPara="1" wrap="square" lIns="91425" tIns="91425" rIns="91425" bIns="91425" anchor="t" anchorCtr="0">
            <a:noAutofit/>
          </a:bodyPr>
          <a:lstStyle/>
          <a:p>
            <a:pPr marL="457200" lvl="0" indent="-330993" algn="l" rtl="0">
              <a:lnSpc>
                <a:spcPct val="150000"/>
              </a:lnSpc>
              <a:spcBef>
                <a:spcPts val="1200"/>
              </a:spcBef>
              <a:spcAft>
                <a:spcPts val="0"/>
              </a:spcAft>
              <a:buClr>
                <a:schemeClr val="dk2"/>
              </a:buClr>
              <a:buSzPct val="100000"/>
              <a:buFont typeface="Google Sans"/>
              <a:buChar char="●"/>
            </a:pPr>
            <a:r>
              <a:rPr lang="en-GB" sz="1800" b="1" u="sng" dirty="0">
                <a:solidFill>
                  <a:schemeClr val="dk2"/>
                </a:solidFill>
                <a:latin typeface="Google Sans"/>
                <a:ea typeface="Google Sans"/>
                <a:cs typeface="Google Sans"/>
                <a:sym typeface="Google Sans"/>
              </a:rPr>
              <a:t>How different is it from any of the other existing ideas?</a:t>
            </a:r>
            <a:endParaRPr sz="1800" b="1" u="sng" dirty="0">
              <a:solidFill>
                <a:schemeClr val="dk2"/>
              </a:solidFill>
              <a:latin typeface="Google Sans"/>
              <a:ea typeface="Google Sans"/>
              <a:cs typeface="Google Sans"/>
              <a:sym typeface="Google Sans"/>
            </a:endParaRPr>
          </a:p>
          <a:p>
            <a:pPr marL="0" lvl="0" indent="0" algn="l" rtl="0">
              <a:lnSpc>
                <a:spcPct val="115000"/>
              </a:lnSpc>
              <a:spcBef>
                <a:spcPts val="1200"/>
              </a:spcBef>
              <a:spcAft>
                <a:spcPts val="1200"/>
              </a:spcAft>
              <a:buSzPct val="61666"/>
              <a:buNone/>
            </a:pPr>
            <a:endParaRPr sz="500" b="1" u="sng" dirty="0">
              <a:solidFill>
                <a:schemeClr val="dk1"/>
              </a:solidFill>
              <a:latin typeface="Google Sans"/>
              <a:ea typeface="Google Sans"/>
              <a:cs typeface="Google Sans"/>
              <a:sym typeface="Google Sans"/>
            </a:endParaRPr>
          </a:p>
        </p:txBody>
      </p:sp>
      <p:sp>
        <p:nvSpPr>
          <p:cNvPr id="3" name="TextBox 2">
            <a:extLst>
              <a:ext uri="{FF2B5EF4-FFF2-40B4-BE49-F238E27FC236}">
                <a16:creationId xmlns:a16="http://schemas.microsoft.com/office/drawing/2014/main" id="{77E11CC3-D1C6-6155-7D35-0895C70FE241}"/>
              </a:ext>
            </a:extLst>
          </p:cNvPr>
          <p:cNvSpPr txBox="1"/>
          <p:nvPr/>
        </p:nvSpPr>
        <p:spPr>
          <a:xfrm>
            <a:off x="1028699" y="1514224"/>
            <a:ext cx="6792687" cy="1077218"/>
          </a:xfrm>
          <a:prstGeom prst="rect">
            <a:avLst/>
          </a:prstGeom>
          <a:noFill/>
        </p:spPr>
        <p:txBody>
          <a:bodyPr wrap="square">
            <a:spAutoFit/>
          </a:bodyPr>
          <a:lstStyle/>
          <a:p>
            <a:pPr>
              <a:buFont typeface="Arial" panose="020B0604020202020204" pitchFamily="34" charset="0"/>
              <a:buChar char="•"/>
            </a:pPr>
            <a:r>
              <a:rPr lang="en-US" sz="1600" dirty="0"/>
              <a:t>Predicts </a:t>
            </a:r>
            <a:r>
              <a:rPr lang="en-US" sz="1600" b="1" dirty="0"/>
              <a:t>fire spread</a:t>
            </a:r>
            <a:r>
              <a:rPr lang="en-US" sz="1600" dirty="0"/>
              <a:t>, not just detects fire.</a:t>
            </a:r>
          </a:p>
          <a:p>
            <a:pPr>
              <a:buFont typeface="Arial" panose="020B0604020202020204" pitchFamily="34" charset="0"/>
              <a:buChar char="•"/>
            </a:pPr>
            <a:r>
              <a:rPr lang="en-US" sz="1600" dirty="0"/>
              <a:t>Uses </a:t>
            </a:r>
            <a:r>
              <a:rPr lang="en-US" sz="1600" b="1" dirty="0"/>
              <a:t>multi-source data</a:t>
            </a:r>
            <a:r>
              <a:rPr lang="en-US" sz="1600" dirty="0"/>
              <a:t> (satellite, weather, NDVI, topography).</a:t>
            </a:r>
          </a:p>
          <a:p>
            <a:pPr>
              <a:buFont typeface="Arial" panose="020B0604020202020204" pitchFamily="34" charset="0"/>
              <a:buChar char="•"/>
            </a:pPr>
            <a:r>
              <a:rPr lang="en-US" sz="1600" dirty="0"/>
              <a:t>Provides </a:t>
            </a:r>
            <a:r>
              <a:rPr lang="en-US" sz="1600" b="1" dirty="0"/>
              <a:t>interactive map-based simulation</a:t>
            </a:r>
            <a:r>
              <a:rPr lang="en-US" sz="1600" dirty="0"/>
              <a:t>.</a:t>
            </a:r>
          </a:p>
          <a:p>
            <a:pPr>
              <a:buFont typeface="Arial" panose="020B0604020202020204" pitchFamily="34" charset="0"/>
              <a:buChar char="•"/>
            </a:pPr>
            <a:r>
              <a:rPr lang="en-US" sz="1600" dirty="0"/>
              <a:t>Allows </a:t>
            </a:r>
            <a:r>
              <a:rPr lang="en-US" sz="1600" b="1" dirty="0"/>
              <a:t>custom location input</a:t>
            </a:r>
            <a:r>
              <a:rPr lang="en-US" sz="1600" dirty="0"/>
              <a:t> for localized forecasting.   </a:t>
            </a:r>
          </a:p>
        </p:txBody>
      </p:sp>
      <p:sp>
        <p:nvSpPr>
          <p:cNvPr id="5" name="TextBox 4">
            <a:extLst>
              <a:ext uri="{FF2B5EF4-FFF2-40B4-BE49-F238E27FC236}">
                <a16:creationId xmlns:a16="http://schemas.microsoft.com/office/drawing/2014/main" id="{376233EE-68A0-57FE-A9B4-56EBA8B153BE}"/>
              </a:ext>
            </a:extLst>
          </p:cNvPr>
          <p:cNvSpPr txBox="1"/>
          <p:nvPr/>
        </p:nvSpPr>
        <p:spPr>
          <a:xfrm>
            <a:off x="311699" y="2653105"/>
            <a:ext cx="6015621" cy="467244"/>
          </a:xfrm>
          <a:prstGeom prst="rect">
            <a:avLst/>
          </a:prstGeom>
          <a:noFill/>
        </p:spPr>
        <p:txBody>
          <a:bodyPr wrap="square">
            <a:spAutoFit/>
          </a:bodyPr>
          <a:lstStyle/>
          <a:p>
            <a:pPr marL="457200" lvl="0" indent="-330993" algn="l" rtl="0">
              <a:lnSpc>
                <a:spcPct val="150000"/>
              </a:lnSpc>
              <a:spcBef>
                <a:spcPts val="0"/>
              </a:spcBef>
              <a:spcAft>
                <a:spcPts val="0"/>
              </a:spcAft>
              <a:buClr>
                <a:schemeClr val="dk2"/>
              </a:buClr>
              <a:buSzPct val="100000"/>
              <a:buFont typeface="Google Sans"/>
              <a:buChar char="●"/>
            </a:pPr>
            <a:r>
              <a:rPr lang="en-US" sz="1800" b="1" u="sng" dirty="0">
                <a:solidFill>
                  <a:schemeClr val="dk2"/>
                </a:solidFill>
                <a:latin typeface="Google Sans"/>
                <a:ea typeface="Google Sans"/>
                <a:cs typeface="Google Sans"/>
                <a:sym typeface="Google Sans"/>
              </a:rPr>
              <a:t>How will it be able to solve the problem?</a:t>
            </a:r>
          </a:p>
        </p:txBody>
      </p:sp>
      <p:sp>
        <p:nvSpPr>
          <p:cNvPr id="9" name="Rectangle 4">
            <a:extLst>
              <a:ext uri="{FF2B5EF4-FFF2-40B4-BE49-F238E27FC236}">
                <a16:creationId xmlns:a16="http://schemas.microsoft.com/office/drawing/2014/main" id="{261A199F-0F33-FECF-BC49-27C922AC1E4C}"/>
              </a:ext>
            </a:extLst>
          </p:cNvPr>
          <p:cNvSpPr>
            <a:spLocks noChangeArrowheads="1"/>
          </p:cNvSpPr>
          <p:nvPr/>
        </p:nvSpPr>
        <p:spPr bwMode="auto">
          <a:xfrm>
            <a:off x="759278" y="3130267"/>
            <a:ext cx="546656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buClrTx/>
              <a:buFontTx/>
              <a:buChar char="•"/>
            </a:pPr>
            <a:r>
              <a:rPr lang="en-US" altLang="en-US" sz="1600" dirty="0">
                <a:solidFill>
                  <a:schemeClr val="tx1"/>
                </a:solidFill>
                <a:latin typeface="Arial" panose="020B0604020202020204" pitchFamily="34" charset="0"/>
              </a:rPr>
              <a:t>Enables </a:t>
            </a:r>
            <a:r>
              <a:rPr lang="en-US" altLang="en-US" sz="1600" b="1" dirty="0">
                <a:solidFill>
                  <a:schemeClr val="tx1"/>
                </a:solidFill>
                <a:latin typeface="Arial" panose="020B0604020202020204" pitchFamily="34" charset="0"/>
              </a:rPr>
              <a:t>early planning and evacuation</a:t>
            </a:r>
            <a:r>
              <a:rPr lang="en-US" altLang="en-US" sz="1600" dirty="0">
                <a:solidFill>
                  <a:schemeClr val="tx1"/>
                </a:solidFill>
                <a:latin typeface="Arial" panose="020B0604020202020204" pitchFamily="34" charset="0"/>
              </a:rPr>
              <a:t>.</a:t>
            </a:r>
          </a:p>
          <a:p>
            <a:pPr lvl="0" eaLnBrk="0" fontAlgn="base" hangingPunct="0">
              <a:spcBef>
                <a:spcPct val="0"/>
              </a:spcBef>
              <a:spcAft>
                <a:spcPct val="0"/>
              </a:spcAft>
              <a:buClrTx/>
              <a:buFontTx/>
              <a:buChar char="•"/>
            </a:pPr>
            <a:r>
              <a:rPr lang="en-US" altLang="en-US" sz="1600" dirty="0">
                <a:solidFill>
                  <a:schemeClr val="tx1"/>
                </a:solidFill>
                <a:latin typeface="Arial" panose="020B0604020202020204" pitchFamily="34" charset="0"/>
              </a:rPr>
              <a:t>Supports </a:t>
            </a:r>
            <a:r>
              <a:rPr lang="en-US" altLang="en-US" sz="1600" b="1" dirty="0">
                <a:solidFill>
                  <a:schemeClr val="tx1"/>
                </a:solidFill>
                <a:latin typeface="Arial" panose="020B0604020202020204" pitchFamily="34" charset="0"/>
              </a:rPr>
              <a:t>smart deployment</a:t>
            </a:r>
            <a:r>
              <a:rPr lang="en-US" altLang="en-US" sz="1600" dirty="0">
                <a:solidFill>
                  <a:schemeClr val="tx1"/>
                </a:solidFill>
                <a:latin typeface="Arial" panose="020B0604020202020204" pitchFamily="34" charset="0"/>
              </a:rPr>
              <a:t> of firefighting resources.</a:t>
            </a:r>
          </a:p>
          <a:p>
            <a:pPr lvl="0" eaLnBrk="0" fontAlgn="base" hangingPunct="0">
              <a:spcBef>
                <a:spcPct val="0"/>
              </a:spcBef>
              <a:spcAft>
                <a:spcPct val="0"/>
              </a:spcAft>
              <a:buClrTx/>
              <a:buFontTx/>
              <a:buChar char="•"/>
            </a:pPr>
            <a:r>
              <a:rPr lang="en-US" altLang="en-US" sz="1600" dirty="0">
                <a:solidFill>
                  <a:schemeClr val="tx1"/>
                </a:solidFill>
                <a:latin typeface="Arial" panose="020B0604020202020204" pitchFamily="34" charset="0"/>
              </a:rPr>
              <a:t>Reduces damage through </a:t>
            </a:r>
            <a:r>
              <a:rPr lang="en-US" altLang="en-US" sz="1600" b="1" dirty="0">
                <a:solidFill>
                  <a:schemeClr val="tx1"/>
                </a:solidFill>
                <a:latin typeface="Arial" panose="020B0604020202020204" pitchFamily="34" charset="0"/>
              </a:rPr>
              <a:t>data-driven forecasts</a:t>
            </a:r>
            <a:r>
              <a:rPr lang="en-US" altLang="en-US" sz="1600" dirty="0">
                <a:solidFill>
                  <a:schemeClr val="tx1"/>
                </a:solidFill>
                <a:latin typeface="Arial" panose="020B0604020202020204" pitchFamily="34" charset="0"/>
              </a:rPr>
              <a:t>.</a:t>
            </a:r>
          </a:p>
          <a:p>
            <a:pPr lvl="0" eaLnBrk="0" fontAlgn="base" hangingPunct="0">
              <a:spcBef>
                <a:spcPct val="0"/>
              </a:spcBef>
              <a:spcAft>
                <a:spcPct val="0"/>
              </a:spcAft>
              <a:buClrTx/>
              <a:buFontTx/>
              <a:buChar char="•"/>
            </a:pPr>
            <a:r>
              <a:rPr lang="en-US" altLang="en-US" sz="1600" dirty="0">
                <a:solidFill>
                  <a:schemeClr val="tx1"/>
                </a:solidFill>
                <a:latin typeface="Arial" panose="020B0604020202020204" pitchFamily="34" charset="0"/>
              </a:rPr>
              <a:t>Enhances </a:t>
            </a:r>
            <a:r>
              <a:rPr lang="en-US" altLang="en-US" sz="1600" b="1" dirty="0">
                <a:solidFill>
                  <a:schemeClr val="tx1"/>
                </a:solidFill>
                <a:latin typeface="Arial" panose="020B0604020202020204" pitchFamily="34" charset="0"/>
              </a:rPr>
              <a:t>situational awareness</a:t>
            </a:r>
            <a:r>
              <a:rPr lang="en-US" altLang="en-US" sz="1600" dirty="0">
                <a:solidFill>
                  <a:schemeClr val="tx1"/>
                </a:solidFill>
                <a:latin typeface="Arial" panose="020B0604020202020204" pitchFamily="34" charset="0"/>
              </a:rPr>
              <a:t> with visual predictions.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BE329-8DEA-3E4E-BF0C-02B6413FEA14}"/>
              </a:ext>
            </a:extLst>
          </p:cNvPr>
          <p:cNvSpPr>
            <a:spLocks noGrp="1"/>
          </p:cNvSpPr>
          <p:nvPr>
            <p:ph type="title"/>
          </p:nvPr>
        </p:nvSpPr>
        <p:spPr/>
        <p:txBody>
          <a:bodyPr/>
          <a:lstStyle/>
          <a:p>
            <a:endParaRPr lang="en-IN"/>
          </a:p>
        </p:txBody>
      </p:sp>
      <p:pic>
        <p:nvPicPr>
          <p:cNvPr id="3" name="Google Shape;75;p16" title="Artboard eee– 2.png">
            <a:extLst>
              <a:ext uri="{FF2B5EF4-FFF2-40B4-BE49-F238E27FC236}">
                <a16:creationId xmlns:a16="http://schemas.microsoft.com/office/drawing/2014/main" id="{7041ACE1-CC5C-8065-6CD4-EF88D2AE49F6}"/>
              </a:ext>
            </a:extLst>
          </p:cNvPr>
          <p:cNvPicPr preferRelativeResize="0"/>
          <p:nvPr/>
        </p:nvPicPr>
        <p:blipFill rotWithShape="1">
          <a:blip r:embed="rId2">
            <a:alphaModFix/>
          </a:blip>
          <a:srcRect/>
          <a:stretch/>
        </p:blipFill>
        <p:spPr>
          <a:xfrm>
            <a:off x="0" y="-1"/>
            <a:ext cx="9144008" cy="5143501"/>
          </a:xfrm>
          <a:prstGeom prst="rect">
            <a:avLst/>
          </a:prstGeom>
          <a:noFill/>
          <a:ln>
            <a:noFill/>
          </a:ln>
        </p:spPr>
      </p:pic>
      <p:sp>
        <p:nvSpPr>
          <p:cNvPr id="5" name="TextBox 4">
            <a:extLst>
              <a:ext uri="{FF2B5EF4-FFF2-40B4-BE49-F238E27FC236}">
                <a16:creationId xmlns:a16="http://schemas.microsoft.com/office/drawing/2014/main" id="{6A585CF7-1251-542E-3C2E-037E41FB2B6D}"/>
              </a:ext>
            </a:extLst>
          </p:cNvPr>
          <p:cNvSpPr txBox="1"/>
          <p:nvPr/>
        </p:nvSpPr>
        <p:spPr>
          <a:xfrm>
            <a:off x="440872" y="841799"/>
            <a:ext cx="4653642" cy="508857"/>
          </a:xfrm>
          <a:prstGeom prst="rect">
            <a:avLst/>
          </a:prstGeom>
          <a:noFill/>
        </p:spPr>
        <p:txBody>
          <a:bodyPr wrap="square">
            <a:spAutoFit/>
          </a:bodyPr>
          <a:lstStyle/>
          <a:p>
            <a:pPr marL="457200" lvl="0" indent="-330993" algn="l" rtl="0">
              <a:lnSpc>
                <a:spcPct val="150000"/>
              </a:lnSpc>
              <a:spcBef>
                <a:spcPts val="0"/>
              </a:spcBef>
              <a:spcAft>
                <a:spcPts val="0"/>
              </a:spcAft>
              <a:buClr>
                <a:schemeClr val="dk2"/>
              </a:buClr>
              <a:buSzPct val="100000"/>
              <a:buFont typeface="Google Sans"/>
              <a:buChar char="●"/>
            </a:pPr>
            <a:r>
              <a:rPr lang="en-US" sz="2000" b="1" u="sng" dirty="0">
                <a:solidFill>
                  <a:schemeClr val="dk2"/>
                </a:solidFill>
                <a:latin typeface="Google Sans"/>
                <a:ea typeface="Google Sans"/>
                <a:cs typeface="Google Sans"/>
                <a:sym typeface="Google Sans"/>
              </a:rPr>
              <a:t>USP of the proposed solution</a:t>
            </a:r>
          </a:p>
        </p:txBody>
      </p:sp>
      <p:sp>
        <p:nvSpPr>
          <p:cNvPr id="7" name="TextBox 6">
            <a:extLst>
              <a:ext uri="{FF2B5EF4-FFF2-40B4-BE49-F238E27FC236}">
                <a16:creationId xmlns:a16="http://schemas.microsoft.com/office/drawing/2014/main" id="{E7263A6D-B002-7243-DC76-AB06F7A524D4}"/>
              </a:ext>
            </a:extLst>
          </p:cNvPr>
          <p:cNvSpPr txBox="1"/>
          <p:nvPr/>
        </p:nvSpPr>
        <p:spPr>
          <a:xfrm>
            <a:off x="1045028" y="1559512"/>
            <a:ext cx="6915149" cy="646331"/>
          </a:xfrm>
          <a:prstGeom prst="rect">
            <a:avLst/>
          </a:prstGeom>
          <a:noFill/>
        </p:spPr>
        <p:txBody>
          <a:bodyPr wrap="square">
            <a:spAutoFit/>
          </a:bodyPr>
          <a:lstStyle/>
          <a:p>
            <a:r>
              <a:rPr lang="en-US" sz="1800" i="1" dirty="0"/>
              <a:t>A proactive, AI-powered wildfire simulation engine that visualizes the future path of forest fires before they ignite chaos.</a:t>
            </a:r>
            <a:endParaRPr lang="en-IN" sz="1800" i="1" dirty="0"/>
          </a:p>
        </p:txBody>
      </p:sp>
      <p:sp>
        <p:nvSpPr>
          <p:cNvPr id="8" name="Rectangle 1">
            <a:extLst>
              <a:ext uri="{FF2B5EF4-FFF2-40B4-BE49-F238E27FC236}">
                <a16:creationId xmlns:a16="http://schemas.microsoft.com/office/drawing/2014/main" id="{6F483000-6F9A-554B-6099-E3D8B2633904}"/>
              </a:ext>
            </a:extLst>
          </p:cNvPr>
          <p:cNvSpPr>
            <a:spLocks noChangeArrowheads="1"/>
          </p:cNvSpPr>
          <p:nvPr/>
        </p:nvSpPr>
        <p:spPr bwMode="auto">
          <a:xfrm>
            <a:off x="685800" y="2506206"/>
            <a:ext cx="734207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Predictive simulation</a:t>
            </a:r>
            <a:r>
              <a:rPr kumimoji="0" lang="en-US" altLang="en-US" sz="1600" b="0" i="0" u="none" strike="noStrike" cap="none" normalizeH="0" baseline="0" dirty="0">
                <a:ln>
                  <a:noFill/>
                </a:ln>
                <a:solidFill>
                  <a:schemeClr val="tx1"/>
                </a:solidFill>
                <a:effectLst/>
                <a:latin typeface="Arial" panose="020B0604020202020204" pitchFamily="34" charset="0"/>
              </a:rPr>
              <a:t>, not just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Multi-source AI/ML modeling</a:t>
            </a:r>
            <a:r>
              <a:rPr kumimoji="0" lang="en-US" altLang="en-US" sz="1600" b="0" i="0" u="none" strike="noStrike" cap="none" normalizeH="0" baseline="0" dirty="0">
                <a:ln>
                  <a:noFill/>
                </a:ln>
                <a:solidFill>
                  <a:schemeClr val="tx1"/>
                </a:solidFill>
                <a:effectLst/>
                <a:latin typeface="Arial" panose="020B0604020202020204" pitchFamily="34" charset="0"/>
              </a:rPr>
              <a:t> for higher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User-friendly, geo-coordinate based simulation interface.</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Designed for </a:t>
            </a:r>
            <a:r>
              <a:rPr kumimoji="0" lang="en-US" altLang="en-US" sz="1600" b="1" i="0" u="none" strike="noStrike" cap="none" normalizeH="0" baseline="0" dirty="0">
                <a:ln>
                  <a:noFill/>
                </a:ln>
                <a:solidFill>
                  <a:schemeClr val="tx1"/>
                </a:solidFill>
                <a:effectLst/>
                <a:latin typeface="Arial" panose="020B0604020202020204" pitchFamily="34" charset="0"/>
              </a:rPr>
              <a:t>scalability</a:t>
            </a:r>
            <a:r>
              <a:rPr kumimoji="0" lang="en-US" altLang="en-US" sz="1600" b="0" i="0" u="none" strike="noStrike" cap="none" normalizeH="0" baseline="0" dirty="0">
                <a:ln>
                  <a:noFill/>
                </a:ln>
                <a:solidFill>
                  <a:schemeClr val="tx1"/>
                </a:solidFill>
                <a:effectLst/>
                <a:latin typeface="Arial" panose="020B0604020202020204" pitchFamily="34" charset="0"/>
              </a:rPr>
              <a:t>—can be used in different regions with minimal setup.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Supports disaster planning</a:t>
            </a:r>
            <a:r>
              <a:rPr kumimoji="0" lang="en-US" altLang="en-US" sz="1600" b="0" i="0" u="none" strike="noStrike" cap="none" normalizeH="0" baseline="0" dirty="0">
                <a:ln>
                  <a:noFill/>
                </a:ln>
                <a:solidFill>
                  <a:schemeClr val="tx1"/>
                </a:solidFill>
                <a:effectLst/>
                <a:latin typeface="Arial" panose="020B0604020202020204" pitchFamily="34" charset="0"/>
              </a:rPr>
              <a:t> and saves lives, ecosystems, and infrastructure.</a:t>
            </a:r>
          </a:p>
        </p:txBody>
      </p:sp>
    </p:spTree>
    <p:extLst>
      <p:ext uri="{BB962C8B-B14F-4D97-AF65-F5344CB8AC3E}">
        <p14:creationId xmlns:p14="http://schemas.microsoft.com/office/powerpoint/2010/main" val="2187112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pic>
        <p:nvPicPr>
          <p:cNvPr id="81" name="Google Shape;81;p17" title="Artboard eee– 2.png"/>
          <p:cNvPicPr preferRelativeResize="0"/>
          <p:nvPr/>
        </p:nvPicPr>
        <p:blipFill rotWithShape="1">
          <a:blip r:embed="rId3">
            <a:alphaModFix/>
          </a:blip>
          <a:srcRect/>
          <a:stretch/>
        </p:blipFill>
        <p:spPr>
          <a:xfrm>
            <a:off x="0" y="0"/>
            <a:ext cx="9144008" cy="5143501"/>
          </a:xfrm>
          <a:prstGeom prst="rect">
            <a:avLst/>
          </a:prstGeom>
          <a:noFill/>
          <a:ln>
            <a:noFill/>
          </a:ln>
        </p:spPr>
      </p:pic>
      <p:sp>
        <p:nvSpPr>
          <p:cNvPr id="82" name="Google Shape;82;p17"/>
          <p:cNvSpPr txBox="1"/>
          <p:nvPr/>
        </p:nvSpPr>
        <p:spPr>
          <a:xfrm>
            <a:off x="254550" y="594129"/>
            <a:ext cx="7569300" cy="2570100"/>
          </a:xfrm>
          <a:prstGeom prst="rect">
            <a:avLst/>
          </a:prstGeom>
          <a:noFill/>
          <a:ln>
            <a:noFill/>
          </a:ln>
        </p:spPr>
        <p:txBody>
          <a:bodyPr spcFirstLastPara="1" wrap="square" lIns="91425" tIns="91425" rIns="91425" bIns="91425" anchor="t" anchorCtr="0">
            <a:normAutofit/>
          </a:bodyPr>
          <a:lstStyle/>
          <a:p>
            <a:pPr marL="0" lvl="0" indent="0" algn="ctr" rtl="0">
              <a:lnSpc>
                <a:spcPct val="150000"/>
              </a:lnSpc>
              <a:spcBef>
                <a:spcPts val="0"/>
              </a:spcBef>
              <a:spcAft>
                <a:spcPts val="0"/>
              </a:spcAft>
              <a:buNone/>
            </a:pPr>
            <a:r>
              <a:rPr lang="en-GB" sz="1800" b="1" u="sng" dirty="0">
                <a:solidFill>
                  <a:schemeClr val="dk1"/>
                </a:solidFill>
                <a:latin typeface="Google Sans Medium"/>
                <a:ea typeface="Google Sans Medium"/>
                <a:cs typeface="Google Sans Medium"/>
                <a:sym typeface="Google Sans Medium"/>
              </a:rPr>
              <a:t>List of features offered by the solution</a:t>
            </a:r>
          </a:p>
          <a:p>
            <a:pPr marL="0" lvl="0" indent="0" algn="ctr" rtl="0">
              <a:lnSpc>
                <a:spcPct val="150000"/>
              </a:lnSpc>
              <a:spcBef>
                <a:spcPts val="0"/>
              </a:spcBef>
              <a:spcAft>
                <a:spcPts val="0"/>
              </a:spcAft>
              <a:buNone/>
            </a:pPr>
            <a:endParaRPr sz="1800" b="1" u="sng" dirty="0">
              <a:solidFill>
                <a:schemeClr val="dk1"/>
              </a:solidFill>
              <a:latin typeface="Google Sans Medium"/>
              <a:ea typeface="Google Sans Medium"/>
              <a:cs typeface="Google Sans Medium"/>
              <a:sym typeface="Google Sans Medium"/>
            </a:endParaRPr>
          </a:p>
        </p:txBody>
      </p:sp>
      <p:pic>
        <p:nvPicPr>
          <p:cNvPr id="3" name="Picture 2">
            <a:extLst>
              <a:ext uri="{FF2B5EF4-FFF2-40B4-BE49-F238E27FC236}">
                <a16:creationId xmlns:a16="http://schemas.microsoft.com/office/drawing/2014/main" id="{472EB10E-E22B-0F7F-EA3F-09CE56C71200}"/>
              </a:ext>
            </a:extLst>
          </p:cNvPr>
          <p:cNvPicPr>
            <a:picLocks noChangeAspect="1"/>
          </p:cNvPicPr>
          <p:nvPr/>
        </p:nvPicPr>
        <p:blipFill>
          <a:blip r:embed="rId4"/>
          <a:stretch>
            <a:fillRect/>
          </a:stretch>
        </p:blipFill>
        <p:spPr>
          <a:xfrm>
            <a:off x="753578" y="1141136"/>
            <a:ext cx="7127422" cy="372155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pic>
        <p:nvPicPr>
          <p:cNvPr id="87" name="Google Shape;87;p18" title="Artboard eee– 2.png"/>
          <p:cNvPicPr preferRelativeResize="0"/>
          <p:nvPr/>
        </p:nvPicPr>
        <p:blipFill rotWithShape="1">
          <a:blip r:embed="rId3">
            <a:alphaModFix/>
          </a:blip>
          <a:srcRect/>
          <a:stretch/>
        </p:blipFill>
        <p:spPr>
          <a:xfrm>
            <a:off x="0" y="0"/>
            <a:ext cx="9144008" cy="5143501"/>
          </a:xfrm>
          <a:prstGeom prst="rect">
            <a:avLst/>
          </a:prstGeom>
          <a:noFill/>
          <a:ln>
            <a:noFill/>
          </a:ln>
        </p:spPr>
      </p:pic>
      <p:sp>
        <p:nvSpPr>
          <p:cNvPr id="88" name="Google Shape;88;p18"/>
          <p:cNvSpPr txBox="1"/>
          <p:nvPr/>
        </p:nvSpPr>
        <p:spPr>
          <a:xfrm>
            <a:off x="679093" y="805479"/>
            <a:ext cx="7569300" cy="2570100"/>
          </a:xfrm>
          <a:prstGeom prst="rect">
            <a:avLst/>
          </a:prstGeom>
          <a:noFill/>
          <a:ln>
            <a:noFill/>
          </a:ln>
        </p:spPr>
        <p:txBody>
          <a:bodyPr spcFirstLastPara="1" wrap="square" lIns="91425" tIns="91425" rIns="91425" bIns="91425" anchor="t" anchorCtr="0">
            <a:normAutofit/>
          </a:bodyPr>
          <a:lstStyle/>
          <a:p>
            <a:pPr marL="0" lvl="0" indent="0" algn="ctr" rtl="0">
              <a:lnSpc>
                <a:spcPct val="115000"/>
              </a:lnSpc>
              <a:spcBef>
                <a:spcPts val="0"/>
              </a:spcBef>
              <a:spcAft>
                <a:spcPts val="0"/>
              </a:spcAft>
              <a:buNone/>
            </a:pPr>
            <a:r>
              <a:rPr lang="en-US" sz="1800" b="1" u="sng" dirty="0">
                <a:solidFill>
                  <a:schemeClr val="dk1"/>
                </a:solidFill>
                <a:latin typeface="Google Sans Medium"/>
                <a:ea typeface="Google Sans Medium"/>
                <a:cs typeface="Google Sans Medium"/>
                <a:sym typeface="Google Sans Medium"/>
              </a:rPr>
              <a:t>Process flow diagram  Or Use-case diagram</a:t>
            </a:r>
          </a:p>
          <a:p>
            <a:pPr marL="0" lvl="0" indent="0" algn="ctr" rtl="0">
              <a:lnSpc>
                <a:spcPct val="115000"/>
              </a:lnSpc>
              <a:spcBef>
                <a:spcPts val="1200"/>
              </a:spcBef>
              <a:spcAft>
                <a:spcPts val="1200"/>
              </a:spcAft>
              <a:buNone/>
            </a:pPr>
            <a:endParaRPr sz="1800" b="1" u="sng" dirty="0">
              <a:solidFill>
                <a:schemeClr val="dk2"/>
              </a:solidFill>
              <a:latin typeface="Google Sans"/>
              <a:ea typeface="Google Sans"/>
              <a:cs typeface="Google Sans"/>
              <a:sym typeface="Google Sans"/>
            </a:endParaRPr>
          </a:p>
        </p:txBody>
      </p:sp>
      <p:pic>
        <p:nvPicPr>
          <p:cNvPr id="11" name="Picture 10">
            <a:extLst>
              <a:ext uri="{FF2B5EF4-FFF2-40B4-BE49-F238E27FC236}">
                <a16:creationId xmlns:a16="http://schemas.microsoft.com/office/drawing/2014/main" id="{5EC476F7-EBD8-EDF2-F51B-62ABB701F625}"/>
              </a:ext>
            </a:extLst>
          </p:cNvPr>
          <p:cNvPicPr>
            <a:picLocks noChangeAspect="1"/>
          </p:cNvPicPr>
          <p:nvPr/>
        </p:nvPicPr>
        <p:blipFill>
          <a:blip r:embed="rId4"/>
          <a:stretch>
            <a:fillRect/>
          </a:stretch>
        </p:blipFill>
        <p:spPr>
          <a:xfrm>
            <a:off x="774300" y="1474024"/>
            <a:ext cx="3606985" cy="2863997"/>
          </a:xfrm>
          <a:prstGeom prst="rect">
            <a:avLst/>
          </a:prstGeom>
        </p:spPr>
      </p:pic>
      <p:pic>
        <p:nvPicPr>
          <p:cNvPr id="13" name="Picture 12">
            <a:extLst>
              <a:ext uri="{FF2B5EF4-FFF2-40B4-BE49-F238E27FC236}">
                <a16:creationId xmlns:a16="http://schemas.microsoft.com/office/drawing/2014/main" id="{2F051596-CC4F-3FDE-FAB9-965FAD30B7EA}"/>
              </a:ext>
            </a:extLst>
          </p:cNvPr>
          <p:cNvPicPr>
            <a:picLocks noChangeAspect="1"/>
          </p:cNvPicPr>
          <p:nvPr/>
        </p:nvPicPr>
        <p:blipFill>
          <a:blip r:embed="rId5"/>
          <a:stretch>
            <a:fillRect/>
          </a:stretch>
        </p:blipFill>
        <p:spPr>
          <a:xfrm>
            <a:off x="5155585" y="2148600"/>
            <a:ext cx="2146491" cy="218942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93" name="Google Shape;93;p19" title="Artboard eee– 2.png"/>
          <p:cNvPicPr preferRelativeResize="0"/>
          <p:nvPr/>
        </p:nvPicPr>
        <p:blipFill rotWithShape="1">
          <a:blip r:embed="rId3">
            <a:alphaModFix/>
          </a:blip>
          <a:srcRect/>
          <a:stretch/>
        </p:blipFill>
        <p:spPr>
          <a:xfrm>
            <a:off x="0" y="0"/>
            <a:ext cx="9144008" cy="5143501"/>
          </a:xfrm>
          <a:prstGeom prst="rect">
            <a:avLst/>
          </a:prstGeom>
          <a:noFill/>
          <a:ln>
            <a:noFill/>
          </a:ln>
        </p:spPr>
      </p:pic>
      <p:sp>
        <p:nvSpPr>
          <p:cNvPr id="94" name="Google Shape;94;p19"/>
          <p:cNvSpPr txBox="1"/>
          <p:nvPr/>
        </p:nvSpPr>
        <p:spPr>
          <a:xfrm>
            <a:off x="277586" y="863550"/>
            <a:ext cx="8188778" cy="2570100"/>
          </a:xfrm>
          <a:prstGeom prst="rect">
            <a:avLst/>
          </a:prstGeom>
          <a:noFill/>
          <a:ln>
            <a:noFill/>
          </a:ln>
        </p:spPr>
        <p:txBody>
          <a:bodyPr spcFirstLastPara="1" wrap="square" lIns="91425" tIns="91425" rIns="91425" bIns="91425" anchor="t" anchorCtr="0">
            <a:normAutofit/>
          </a:bodyPr>
          <a:lstStyle/>
          <a:p>
            <a:pPr marL="0" lvl="0" indent="0" algn="ctr" rtl="0">
              <a:lnSpc>
                <a:spcPct val="115000"/>
              </a:lnSpc>
              <a:spcBef>
                <a:spcPts val="0"/>
              </a:spcBef>
              <a:spcAft>
                <a:spcPts val="1200"/>
              </a:spcAft>
              <a:buNone/>
            </a:pPr>
            <a:r>
              <a:rPr lang="en-GB" sz="1800" b="1" u="sng" dirty="0">
                <a:solidFill>
                  <a:schemeClr val="dk1"/>
                </a:solidFill>
                <a:latin typeface="Google Sans Medium"/>
                <a:ea typeface="Google Sans Medium"/>
                <a:cs typeface="Google Sans Medium"/>
                <a:sym typeface="Google Sans Medium"/>
              </a:rPr>
              <a:t> Wireframes/Mock diagrams of the proposed solution (optional)</a:t>
            </a:r>
            <a:endParaRPr sz="1800" b="1" u="sng" dirty="0">
              <a:solidFill>
                <a:schemeClr val="dk1"/>
              </a:solidFill>
              <a:latin typeface="Google Sans Medium"/>
              <a:ea typeface="Google Sans Medium"/>
              <a:cs typeface="Google Sans Medium"/>
              <a:sym typeface="Google Sans Medium"/>
            </a:endParaRPr>
          </a:p>
        </p:txBody>
      </p:sp>
      <p:pic>
        <p:nvPicPr>
          <p:cNvPr id="7" name="Picture 6">
            <a:extLst>
              <a:ext uri="{FF2B5EF4-FFF2-40B4-BE49-F238E27FC236}">
                <a16:creationId xmlns:a16="http://schemas.microsoft.com/office/drawing/2014/main" id="{BDFD94DF-22CF-D1D3-7700-CA0DD0AAEAE2}"/>
              </a:ext>
            </a:extLst>
          </p:cNvPr>
          <p:cNvPicPr>
            <a:picLocks noChangeAspect="1"/>
          </p:cNvPicPr>
          <p:nvPr/>
        </p:nvPicPr>
        <p:blipFill>
          <a:blip r:embed="rId4"/>
          <a:stretch>
            <a:fillRect/>
          </a:stretch>
        </p:blipFill>
        <p:spPr>
          <a:xfrm>
            <a:off x="853081" y="1348380"/>
            <a:ext cx="3372023" cy="3410125"/>
          </a:xfrm>
          <a:prstGeom prst="rect">
            <a:avLst/>
          </a:prstGeom>
        </p:spPr>
      </p:pic>
      <p:pic>
        <p:nvPicPr>
          <p:cNvPr id="9" name="Picture 8">
            <a:extLst>
              <a:ext uri="{FF2B5EF4-FFF2-40B4-BE49-F238E27FC236}">
                <a16:creationId xmlns:a16="http://schemas.microsoft.com/office/drawing/2014/main" id="{E0A9DE30-4277-B59F-E140-31785A571A15}"/>
              </a:ext>
            </a:extLst>
          </p:cNvPr>
          <p:cNvPicPr>
            <a:picLocks noChangeAspect="1"/>
          </p:cNvPicPr>
          <p:nvPr/>
        </p:nvPicPr>
        <p:blipFill>
          <a:blip r:embed="rId5"/>
          <a:stretch>
            <a:fillRect/>
          </a:stretch>
        </p:blipFill>
        <p:spPr>
          <a:xfrm>
            <a:off x="4503829" y="2571750"/>
            <a:ext cx="4230252" cy="220032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99" name="Google Shape;99;p20" title="Artboard eee– 2.png"/>
          <p:cNvPicPr preferRelativeResize="0"/>
          <p:nvPr/>
        </p:nvPicPr>
        <p:blipFill rotWithShape="1">
          <a:blip r:embed="rId3">
            <a:alphaModFix/>
          </a:blip>
          <a:srcRect/>
          <a:stretch/>
        </p:blipFill>
        <p:spPr>
          <a:xfrm>
            <a:off x="0" y="0"/>
            <a:ext cx="9144008" cy="5143501"/>
          </a:xfrm>
          <a:prstGeom prst="rect">
            <a:avLst/>
          </a:prstGeom>
          <a:noFill/>
          <a:ln>
            <a:noFill/>
          </a:ln>
        </p:spPr>
      </p:pic>
      <p:sp>
        <p:nvSpPr>
          <p:cNvPr id="100" name="Google Shape;100;p20"/>
          <p:cNvSpPr txBox="1"/>
          <p:nvPr/>
        </p:nvSpPr>
        <p:spPr>
          <a:xfrm>
            <a:off x="295371" y="468086"/>
            <a:ext cx="7569300" cy="2570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GB" sz="2000" b="1" u="sng" dirty="0">
                <a:solidFill>
                  <a:schemeClr val="dk1"/>
                </a:solidFill>
                <a:latin typeface="Google Sans Medium"/>
                <a:ea typeface="Google Sans Medium"/>
                <a:cs typeface="Google Sans Medium"/>
                <a:sym typeface="Google Sans Medium"/>
              </a:rPr>
              <a:t>Architecture diagram of the proposed solution</a:t>
            </a:r>
            <a:endParaRPr sz="2000" b="1" u="sng" dirty="0">
              <a:solidFill>
                <a:schemeClr val="dk1"/>
              </a:solidFill>
              <a:latin typeface="Google Sans Medium"/>
              <a:ea typeface="Google Sans Medium"/>
              <a:cs typeface="Google Sans Medium"/>
              <a:sym typeface="Google Sans Medium"/>
            </a:endParaRPr>
          </a:p>
          <a:p>
            <a:pPr marL="0" lvl="0" indent="0" algn="l" rtl="0">
              <a:lnSpc>
                <a:spcPct val="115000"/>
              </a:lnSpc>
              <a:spcBef>
                <a:spcPts val="1200"/>
              </a:spcBef>
              <a:spcAft>
                <a:spcPts val="1200"/>
              </a:spcAft>
              <a:buNone/>
            </a:pPr>
            <a:endParaRPr sz="2000" b="1" u="sng" dirty="0">
              <a:solidFill>
                <a:schemeClr val="dk1"/>
              </a:solidFill>
              <a:latin typeface="Google Sans Medium"/>
              <a:ea typeface="Google Sans Medium"/>
              <a:cs typeface="Google Sans Medium"/>
              <a:sym typeface="Google Sans Medium"/>
            </a:endParaRPr>
          </a:p>
        </p:txBody>
      </p:sp>
      <p:pic>
        <p:nvPicPr>
          <p:cNvPr id="3" name="Picture 2">
            <a:extLst>
              <a:ext uri="{FF2B5EF4-FFF2-40B4-BE49-F238E27FC236}">
                <a16:creationId xmlns:a16="http://schemas.microsoft.com/office/drawing/2014/main" id="{7D6F2451-6344-3061-7597-7B9D1E38E708}"/>
              </a:ext>
            </a:extLst>
          </p:cNvPr>
          <p:cNvPicPr>
            <a:picLocks noChangeAspect="1"/>
          </p:cNvPicPr>
          <p:nvPr/>
        </p:nvPicPr>
        <p:blipFill>
          <a:blip r:embed="rId4"/>
          <a:stretch>
            <a:fillRect/>
          </a:stretch>
        </p:blipFill>
        <p:spPr>
          <a:xfrm>
            <a:off x="1577540" y="979715"/>
            <a:ext cx="6382637" cy="38982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pic>
        <p:nvPicPr>
          <p:cNvPr id="105" name="Google Shape;105;p21" title="Artboard eee– 2.png"/>
          <p:cNvPicPr preferRelativeResize="0"/>
          <p:nvPr/>
        </p:nvPicPr>
        <p:blipFill rotWithShape="1">
          <a:blip r:embed="rId3">
            <a:alphaModFix/>
          </a:blip>
          <a:srcRect/>
          <a:stretch/>
        </p:blipFill>
        <p:spPr>
          <a:xfrm>
            <a:off x="0" y="0"/>
            <a:ext cx="9144008" cy="5143501"/>
          </a:xfrm>
          <a:prstGeom prst="rect">
            <a:avLst/>
          </a:prstGeom>
          <a:noFill/>
          <a:ln>
            <a:noFill/>
          </a:ln>
        </p:spPr>
      </p:pic>
      <p:sp>
        <p:nvSpPr>
          <p:cNvPr id="106" name="Google Shape;106;p21"/>
          <p:cNvSpPr txBox="1"/>
          <p:nvPr/>
        </p:nvSpPr>
        <p:spPr>
          <a:xfrm>
            <a:off x="352522" y="863550"/>
            <a:ext cx="7569300" cy="2570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GB" sz="2000" b="1" u="sng" dirty="0">
                <a:solidFill>
                  <a:schemeClr val="dk1"/>
                </a:solidFill>
                <a:latin typeface="Google Sans Medium"/>
                <a:ea typeface="Google Sans Medium"/>
                <a:cs typeface="Google Sans Medium"/>
                <a:sym typeface="Google Sans Medium"/>
              </a:rPr>
              <a:t>Technologies to be used in the solution:</a:t>
            </a:r>
            <a:endParaRPr sz="2000" b="1" u="sng" dirty="0">
              <a:solidFill>
                <a:schemeClr val="dk1"/>
              </a:solidFill>
              <a:latin typeface="Google Sans Medium"/>
              <a:ea typeface="Google Sans Medium"/>
              <a:cs typeface="Google Sans Medium"/>
              <a:sym typeface="Google Sans Medium"/>
            </a:endParaRPr>
          </a:p>
          <a:p>
            <a:pPr marL="0" lvl="0" indent="0" algn="l" rtl="0">
              <a:lnSpc>
                <a:spcPct val="115000"/>
              </a:lnSpc>
              <a:spcBef>
                <a:spcPts val="1200"/>
              </a:spcBef>
              <a:spcAft>
                <a:spcPts val="1200"/>
              </a:spcAft>
              <a:buNone/>
            </a:pPr>
            <a:endParaRPr sz="1600" dirty="0">
              <a:solidFill>
                <a:schemeClr val="dk1"/>
              </a:solidFill>
              <a:latin typeface="Google Sans Medium"/>
              <a:ea typeface="Google Sans Medium"/>
              <a:cs typeface="Google Sans Medium"/>
              <a:sym typeface="Google Sans Medium"/>
            </a:endParaRPr>
          </a:p>
        </p:txBody>
      </p:sp>
      <p:sp>
        <p:nvSpPr>
          <p:cNvPr id="3" name="TextBox 2">
            <a:extLst>
              <a:ext uri="{FF2B5EF4-FFF2-40B4-BE49-F238E27FC236}">
                <a16:creationId xmlns:a16="http://schemas.microsoft.com/office/drawing/2014/main" id="{40F3C41E-156B-ED3E-3CFF-05D2D5517D24}"/>
              </a:ext>
            </a:extLst>
          </p:cNvPr>
          <p:cNvSpPr txBox="1"/>
          <p:nvPr/>
        </p:nvSpPr>
        <p:spPr>
          <a:xfrm>
            <a:off x="676415" y="1483529"/>
            <a:ext cx="7879755" cy="3785652"/>
          </a:xfrm>
          <a:prstGeom prst="rect">
            <a:avLst/>
          </a:prstGeom>
          <a:noFill/>
        </p:spPr>
        <p:txBody>
          <a:bodyPr wrap="square">
            <a:spAutoFit/>
          </a:bodyPr>
          <a:lstStyle/>
          <a:p>
            <a:pPr>
              <a:buNone/>
            </a:pPr>
            <a:r>
              <a:rPr lang="en-IN" sz="1600" b="1" dirty="0"/>
              <a:t>1 </a:t>
            </a:r>
            <a:r>
              <a:rPr lang="en-IN" sz="1600" b="1" u="sng" dirty="0"/>
              <a:t>Programming &amp; Machine Learning Frameworks</a:t>
            </a:r>
          </a:p>
          <a:p>
            <a:pPr>
              <a:buNone/>
            </a:pPr>
            <a:endParaRPr lang="en-IN" sz="1600" b="1" u="sng" dirty="0"/>
          </a:p>
          <a:p>
            <a:pPr>
              <a:buFont typeface="Arial" panose="020B0604020202020204" pitchFamily="34" charset="0"/>
              <a:buChar char="•"/>
            </a:pPr>
            <a:r>
              <a:rPr lang="en-IN" sz="1600" b="1" dirty="0"/>
              <a:t>Python</a:t>
            </a:r>
            <a:r>
              <a:rPr lang="en-IN" sz="1600" dirty="0"/>
              <a:t> – Core programming language.</a:t>
            </a:r>
          </a:p>
          <a:p>
            <a:pPr>
              <a:buFont typeface="Arial" panose="020B0604020202020204" pitchFamily="34" charset="0"/>
              <a:buChar char="•"/>
            </a:pPr>
            <a:r>
              <a:rPr lang="en-IN" sz="1600" b="1" dirty="0"/>
              <a:t>Scikit-learn</a:t>
            </a:r>
            <a:r>
              <a:rPr lang="en-IN" sz="1600" dirty="0"/>
              <a:t> – For traditional ML models.</a:t>
            </a:r>
          </a:p>
          <a:p>
            <a:pPr>
              <a:buFont typeface="Arial" panose="020B0604020202020204" pitchFamily="34" charset="0"/>
              <a:buChar char="•"/>
            </a:pPr>
            <a:r>
              <a:rPr lang="en-IN" sz="1600" b="1" dirty="0"/>
              <a:t>TensorFlow / </a:t>
            </a:r>
            <a:r>
              <a:rPr lang="en-IN" sz="1600" b="1" dirty="0" err="1"/>
              <a:t>PyTorch</a:t>
            </a:r>
            <a:r>
              <a:rPr lang="en-IN" sz="1600" dirty="0"/>
              <a:t> – For deep learning, particularly spatiotemporal models.</a:t>
            </a:r>
          </a:p>
          <a:p>
            <a:endParaRPr lang="en-IN" sz="1600" dirty="0"/>
          </a:p>
          <a:p>
            <a:pPr>
              <a:buNone/>
            </a:pPr>
            <a:r>
              <a:rPr lang="en-IN" sz="1600" b="1" dirty="0"/>
              <a:t>2. </a:t>
            </a:r>
            <a:r>
              <a:rPr lang="en-IN" sz="1600" b="1" u="sng" dirty="0"/>
              <a:t>Spatiotemporal </a:t>
            </a:r>
            <a:r>
              <a:rPr lang="en-IN" sz="1600" b="1" u="sng" dirty="0" err="1"/>
              <a:t>Modeling</a:t>
            </a:r>
            <a:endParaRPr lang="en-IN" sz="1600" b="1" u="sng" dirty="0"/>
          </a:p>
          <a:p>
            <a:pPr>
              <a:buNone/>
            </a:pPr>
            <a:endParaRPr lang="en-IN" sz="1600" b="1" u="sng" dirty="0"/>
          </a:p>
          <a:p>
            <a:pPr>
              <a:buFont typeface="Arial" panose="020B0604020202020204" pitchFamily="34" charset="0"/>
              <a:buChar char="•"/>
            </a:pPr>
            <a:r>
              <a:rPr lang="en-IN" sz="1600" b="1" dirty="0" err="1"/>
              <a:t>ConvLSTM</a:t>
            </a:r>
            <a:r>
              <a:rPr lang="en-IN" sz="1600" dirty="0"/>
              <a:t> – For capturing spatial and temporal fire spread patterns.</a:t>
            </a:r>
          </a:p>
          <a:p>
            <a:pPr>
              <a:buFont typeface="Arial" panose="020B0604020202020204" pitchFamily="34" charset="0"/>
              <a:buChar char="•"/>
            </a:pPr>
            <a:r>
              <a:rPr lang="en-IN" sz="1600" b="1" dirty="0"/>
              <a:t>Temporal Fusion Transformers (TFT)</a:t>
            </a:r>
            <a:r>
              <a:rPr lang="en-IN" sz="1600" dirty="0"/>
              <a:t> – For sequence forecasting with interpretability.</a:t>
            </a:r>
          </a:p>
          <a:p>
            <a:pPr>
              <a:buFont typeface="Arial" panose="020B0604020202020204" pitchFamily="34" charset="0"/>
              <a:buChar char="•"/>
            </a:pPr>
            <a:r>
              <a:rPr lang="en-IN" sz="1600" b="1" dirty="0"/>
              <a:t>Other Sequence-based ML Models</a:t>
            </a:r>
            <a:r>
              <a:rPr lang="en-IN" sz="1600" dirty="0"/>
              <a:t> – Suitable for dynamic predictions over time and space.</a:t>
            </a:r>
          </a:p>
          <a:p>
            <a:endParaRPr lang="en-IN" sz="1600" dirty="0"/>
          </a:p>
          <a:p>
            <a:pPr>
              <a:buNone/>
            </a:pPr>
            <a:endParaRPr lang="en-IN"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pic>
        <p:nvPicPr>
          <p:cNvPr id="117" name="Google Shape;117;p23" title="Artboard eee– 2.png"/>
          <p:cNvPicPr preferRelativeResize="0"/>
          <p:nvPr/>
        </p:nvPicPr>
        <p:blipFill rotWithShape="1">
          <a:blip r:embed="rId3">
            <a:alphaModFix/>
          </a:blip>
          <a:srcRect/>
          <a:stretch/>
        </p:blipFill>
        <p:spPr>
          <a:xfrm>
            <a:off x="0" y="0"/>
            <a:ext cx="9144008" cy="5143501"/>
          </a:xfrm>
          <a:prstGeom prst="rect">
            <a:avLst/>
          </a:prstGeom>
          <a:noFill/>
          <a:ln>
            <a:noFill/>
          </a:ln>
        </p:spPr>
      </p:pic>
      <p:sp>
        <p:nvSpPr>
          <p:cNvPr id="3" name="TextBox 2">
            <a:extLst>
              <a:ext uri="{FF2B5EF4-FFF2-40B4-BE49-F238E27FC236}">
                <a16:creationId xmlns:a16="http://schemas.microsoft.com/office/drawing/2014/main" id="{A1C07416-6FDC-E5B2-2168-30FD678CEF3E}"/>
              </a:ext>
            </a:extLst>
          </p:cNvPr>
          <p:cNvSpPr txBox="1"/>
          <p:nvPr/>
        </p:nvSpPr>
        <p:spPr>
          <a:xfrm>
            <a:off x="808264" y="1171013"/>
            <a:ext cx="7364185" cy="3539430"/>
          </a:xfrm>
          <a:prstGeom prst="rect">
            <a:avLst/>
          </a:prstGeom>
          <a:noFill/>
        </p:spPr>
        <p:txBody>
          <a:bodyPr wrap="square">
            <a:spAutoFit/>
          </a:bodyPr>
          <a:lstStyle/>
          <a:p>
            <a:pPr>
              <a:buNone/>
            </a:pPr>
            <a:r>
              <a:rPr lang="en-IN" sz="1600" b="1" dirty="0"/>
              <a:t>3. </a:t>
            </a:r>
            <a:r>
              <a:rPr lang="en-IN" sz="1600" b="1" u="sng" dirty="0"/>
              <a:t>Satellite &amp; Environmental Data Sources</a:t>
            </a:r>
          </a:p>
          <a:p>
            <a:pPr>
              <a:buNone/>
            </a:pPr>
            <a:endParaRPr lang="en-IN" sz="1600" b="1" u="sng" dirty="0"/>
          </a:p>
          <a:p>
            <a:pPr>
              <a:buFont typeface="Arial" panose="020B0604020202020204" pitchFamily="34" charset="0"/>
              <a:buChar char="•"/>
            </a:pPr>
            <a:r>
              <a:rPr lang="en-IN" sz="1600" b="1" dirty="0"/>
              <a:t>Google Earth Engine</a:t>
            </a:r>
            <a:r>
              <a:rPr lang="en-IN" sz="1600" dirty="0"/>
              <a:t> – For accessing and processing satellite data.</a:t>
            </a:r>
          </a:p>
          <a:p>
            <a:pPr>
              <a:buFont typeface="Arial" panose="020B0604020202020204" pitchFamily="34" charset="0"/>
              <a:buChar char="•"/>
            </a:pPr>
            <a:r>
              <a:rPr lang="en-IN" sz="1600" b="1" dirty="0"/>
              <a:t>MODIS, Sentinel-2, INSAT</a:t>
            </a:r>
            <a:r>
              <a:rPr lang="en-IN" sz="1600" dirty="0"/>
              <a:t> – Satellite imagery for vegetation, temperature, and fire detection.</a:t>
            </a:r>
          </a:p>
          <a:p>
            <a:pPr>
              <a:buFont typeface="Arial" panose="020B0604020202020204" pitchFamily="34" charset="0"/>
              <a:buChar char="•"/>
            </a:pPr>
            <a:r>
              <a:rPr lang="en-IN" sz="1600" b="1" dirty="0"/>
              <a:t>ERA5, NASA POWER</a:t>
            </a:r>
            <a:r>
              <a:rPr lang="en-IN" sz="1600" dirty="0"/>
              <a:t> – Reanalysis weather datasets for wind speed, humidity, and temperature.</a:t>
            </a:r>
          </a:p>
          <a:p>
            <a:endParaRPr lang="en-IN" sz="1600" dirty="0"/>
          </a:p>
          <a:p>
            <a:pPr>
              <a:buNone/>
            </a:pPr>
            <a:r>
              <a:rPr lang="en-IN" sz="1600" b="1" dirty="0"/>
              <a:t>4. </a:t>
            </a:r>
            <a:r>
              <a:rPr lang="en-IN" sz="1600" b="1" u="sng" dirty="0"/>
              <a:t>Geospatial Tools</a:t>
            </a:r>
          </a:p>
          <a:p>
            <a:pPr>
              <a:buNone/>
            </a:pPr>
            <a:endParaRPr lang="en-IN" sz="1600" b="1" u="sng" dirty="0"/>
          </a:p>
          <a:p>
            <a:pPr>
              <a:buFont typeface="Arial" panose="020B0604020202020204" pitchFamily="34" charset="0"/>
              <a:buChar char="•"/>
            </a:pPr>
            <a:r>
              <a:rPr lang="en-IN" sz="1600" b="1" dirty="0" err="1"/>
              <a:t>GeoPandas</a:t>
            </a:r>
            <a:r>
              <a:rPr lang="en-IN" sz="1600" dirty="0"/>
              <a:t> – For geospatial vector data manipulation.</a:t>
            </a:r>
          </a:p>
          <a:p>
            <a:pPr>
              <a:buFont typeface="Arial" panose="020B0604020202020204" pitchFamily="34" charset="0"/>
              <a:buChar char="•"/>
            </a:pPr>
            <a:r>
              <a:rPr lang="en-IN" sz="1600" b="1" dirty="0" err="1"/>
              <a:t>Rasterio</a:t>
            </a:r>
            <a:r>
              <a:rPr lang="en-IN" sz="1600" dirty="0"/>
              <a:t> – For reading and writing raster datasets.</a:t>
            </a:r>
          </a:p>
          <a:p>
            <a:pPr>
              <a:buFont typeface="Arial" panose="020B0604020202020204" pitchFamily="34" charset="0"/>
              <a:buChar char="•"/>
            </a:pPr>
            <a:r>
              <a:rPr lang="en-IN" sz="1600" b="1" dirty="0"/>
              <a:t>QGIS</a:t>
            </a:r>
            <a:r>
              <a:rPr lang="en-IN" sz="1600" dirty="0"/>
              <a:t> – For advanced spatial data visualization and analysis.</a:t>
            </a:r>
          </a:p>
          <a:p>
            <a:pPr>
              <a:buFont typeface="Arial" panose="020B0604020202020204" pitchFamily="34" charset="0"/>
              <a:buChar char="•"/>
            </a:pPr>
            <a:r>
              <a:rPr lang="en-IN" sz="1600" b="1" dirty="0"/>
              <a:t>Vegetation Indices (e.g., NDVI)</a:t>
            </a:r>
            <a:r>
              <a:rPr lang="en-IN" sz="1600" dirty="0"/>
              <a:t> – To assess fire-prone vegetation areas.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p22" title="Artboard eee– 2.png"/>
          <p:cNvPicPr preferRelativeResize="0"/>
          <p:nvPr/>
        </p:nvPicPr>
        <p:blipFill rotWithShape="1">
          <a:blip r:embed="rId3">
            <a:alphaModFix/>
          </a:blip>
          <a:srcRect/>
          <a:stretch/>
        </p:blipFill>
        <p:spPr>
          <a:xfrm>
            <a:off x="0" y="0"/>
            <a:ext cx="9144008" cy="5143501"/>
          </a:xfrm>
          <a:prstGeom prst="rect">
            <a:avLst/>
          </a:prstGeom>
          <a:noFill/>
          <a:ln>
            <a:noFill/>
          </a:ln>
        </p:spPr>
      </p:pic>
      <p:sp>
        <p:nvSpPr>
          <p:cNvPr id="112" name="Google Shape;112;p22"/>
          <p:cNvSpPr txBox="1"/>
          <p:nvPr/>
        </p:nvSpPr>
        <p:spPr>
          <a:xfrm>
            <a:off x="377014" y="863550"/>
            <a:ext cx="7569300" cy="25701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GB" sz="2000" b="1" u="sng" dirty="0">
                <a:solidFill>
                  <a:schemeClr val="dk1"/>
                </a:solidFill>
                <a:latin typeface="Google Sans Medium"/>
                <a:ea typeface="Google Sans Medium"/>
                <a:cs typeface="Google Sans Medium"/>
                <a:sym typeface="Google Sans Medium"/>
              </a:rPr>
              <a:t>Estimated implementation cost (optional):</a:t>
            </a:r>
            <a:endParaRPr sz="2000" b="1" u="sng" dirty="0">
              <a:solidFill>
                <a:schemeClr val="dk1"/>
              </a:solidFill>
              <a:latin typeface="Google Sans Medium"/>
              <a:ea typeface="Google Sans Medium"/>
              <a:cs typeface="Google Sans Medium"/>
              <a:sym typeface="Google Sans Medium"/>
            </a:endParaRPr>
          </a:p>
          <a:p>
            <a:pPr marL="0" lvl="0" indent="0" algn="l" rtl="0">
              <a:lnSpc>
                <a:spcPct val="115000"/>
              </a:lnSpc>
              <a:spcBef>
                <a:spcPts val="1200"/>
              </a:spcBef>
              <a:spcAft>
                <a:spcPts val="1200"/>
              </a:spcAft>
              <a:buNone/>
            </a:pPr>
            <a:endParaRPr sz="1600" dirty="0">
              <a:solidFill>
                <a:schemeClr val="dk1"/>
              </a:solidFill>
              <a:latin typeface="Google Sans Medium"/>
              <a:ea typeface="Google Sans Medium"/>
              <a:cs typeface="Google Sans Medium"/>
              <a:sym typeface="Google Sans Medium"/>
            </a:endParaRPr>
          </a:p>
        </p:txBody>
      </p:sp>
      <p:graphicFrame>
        <p:nvGraphicFramePr>
          <p:cNvPr id="2" name="Table 1">
            <a:extLst>
              <a:ext uri="{FF2B5EF4-FFF2-40B4-BE49-F238E27FC236}">
                <a16:creationId xmlns:a16="http://schemas.microsoft.com/office/drawing/2014/main" id="{984ABE35-CB09-749C-2A2F-B85645CF6695}"/>
              </a:ext>
            </a:extLst>
          </p:cNvPr>
          <p:cNvGraphicFramePr>
            <a:graphicFrameLocks noGrp="1"/>
          </p:cNvGraphicFramePr>
          <p:nvPr/>
        </p:nvGraphicFramePr>
        <p:xfrm>
          <a:off x="311150" y="1580515"/>
          <a:ext cx="8521701" cy="2560320"/>
        </p:xfrm>
        <a:graphic>
          <a:graphicData uri="http://schemas.openxmlformats.org/drawingml/2006/table">
            <a:tbl>
              <a:tblPr/>
              <a:tblGrid>
                <a:gridCol w="2840567">
                  <a:extLst>
                    <a:ext uri="{9D8B030D-6E8A-4147-A177-3AD203B41FA5}">
                      <a16:colId xmlns:a16="http://schemas.microsoft.com/office/drawing/2014/main" val="1967894498"/>
                    </a:ext>
                  </a:extLst>
                </a:gridCol>
                <a:gridCol w="2840567">
                  <a:extLst>
                    <a:ext uri="{9D8B030D-6E8A-4147-A177-3AD203B41FA5}">
                      <a16:colId xmlns:a16="http://schemas.microsoft.com/office/drawing/2014/main" val="217567276"/>
                    </a:ext>
                  </a:extLst>
                </a:gridCol>
                <a:gridCol w="2840567">
                  <a:extLst>
                    <a:ext uri="{9D8B030D-6E8A-4147-A177-3AD203B41FA5}">
                      <a16:colId xmlns:a16="http://schemas.microsoft.com/office/drawing/2014/main" val="2894972387"/>
                    </a:ext>
                  </a:extLst>
                </a:gridCol>
              </a:tblGrid>
              <a:tr h="304800">
                <a:tc>
                  <a:txBody>
                    <a:bodyPr/>
                    <a:lstStyle/>
                    <a:p>
                      <a:r>
                        <a:rPr lang="en-IN" sz="1400" b="1"/>
                        <a:t>Category</a:t>
                      </a:r>
                      <a:endParaRPr lang="en-IN" sz="1400"/>
                    </a:p>
                  </a:txBody>
                  <a:tcPr anchor="ctr">
                    <a:lnL>
                      <a:noFill/>
                    </a:lnL>
                    <a:lnR>
                      <a:noFill/>
                    </a:lnR>
                    <a:lnT>
                      <a:noFill/>
                    </a:lnT>
                    <a:lnB>
                      <a:noFill/>
                    </a:lnB>
                    <a:noFill/>
                  </a:tcPr>
                </a:tc>
                <a:tc>
                  <a:txBody>
                    <a:bodyPr/>
                    <a:lstStyle/>
                    <a:p>
                      <a:r>
                        <a:rPr lang="en-IN" sz="1400" b="1"/>
                        <a:t>Item</a:t>
                      </a:r>
                      <a:endParaRPr lang="en-IN" sz="1400"/>
                    </a:p>
                  </a:txBody>
                  <a:tcPr anchor="ctr">
                    <a:lnL>
                      <a:noFill/>
                    </a:lnL>
                    <a:lnR>
                      <a:noFill/>
                    </a:lnR>
                    <a:lnT>
                      <a:noFill/>
                    </a:lnT>
                    <a:lnB>
                      <a:noFill/>
                    </a:lnB>
                    <a:noFill/>
                  </a:tcPr>
                </a:tc>
                <a:tc>
                  <a:txBody>
                    <a:bodyPr/>
                    <a:lstStyle/>
                    <a:p>
                      <a:r>
                        <a:rPr lang="en-IN" sz="1400" b="1"/>
                        <a:t>Estimated Cost (USD)</a:t>
                      </a:r>
                      <a:endParaRPr lang="en-IN" sz="1400"/>
                    </a:p>
                  </a:txBody>
                  <a:tcPr anchor="ctr">
                    <a:lnL>
                      <a:noFill/>
                    </a:lnL>
                    <a:lnR>
                      <a:noFill/>
                    </a:lnR>
                    <a:lnT>
                      <a:noFill/>
                    </a:lnT>
                    <a:lnB>
                      <a:noFill/>
                    </a:lnB>
                    <a:noFill/>
                  </a:tcPr>
                </a:tc>
                <a:extLst>
                  <a:ext uri="{0D108BD9-81ED-4DB2-BD59-A6C34878D82A}">
                    <a16:rowId xmlns:a16="http://schemas.microsoft.com/office/drawing/2014/main" val="1793477299"/>
                  </a:ext>
                </a:extLst>
              </a:tr>
              <a:tr h="518160">
                <a:tc>
                  <a:txBody>
                    <a:bodyPr/>
                    <a:lstStyle/>
                    <a:p>
                      <a:r>
                        <a:rPr lang="en-IN" sz="1400" b="1"/>
                        <a:t>Data APIs</a:t>
                      </a:r>
                      <a:endParaRPr lang="en-IN" sz="1400"/>
                    </a:p>
                  </a:txBody>
                  <a:tcPr anchor="ctr">
                    <a:lnL>
                      <a:noFill/>
                    </a:lnL>
                    <a:lnR>
                      <a:noFill/>
                    </a:lnR>
                    <a:lnT>
                      <a:noFill/>
                    </a:lnT>
                    <a:lnB>
                      <a:noFill/>
                    </a:lnB>
                    <a:noFill/>
                  </a:tcPr>
                </a:tc>
                <a:tc>
                  <a:txBody>
                    <a:bodyPr/>
                    <a:lstStyle/>
                    <a:p>
                      <a:r>
                        <a:rPr lang="en-US" sz="1400" dirty="0"/>
                        <a:t>Weather &amp; Satellite APIs (Free Tiers)</a:t>
                      </a:r>
                    </a:p>
                  </a:txBody>
                  <a:tcPr anchor="ctr">
                    <a:lnL>
                      <a:noFill/>
                    </a:lnL>
                    <a:lnR>
                      <a:noFill/>
                    </a:lnR>
                    <a:lnT>
                      <a:noFill/>
                    </a:lnT>
                    <a:lnB>
                      <a:noFill/>
                    </a:lnB>
                    <a:noFill/>
                  </a:tcPr>
                </a:tc>
                <a:tc>
                  <a:txBody>
                    <a:bodyPr/>
                    <a:lstStyle/>
                    <a:p>
                      <a:r>
                        <a:rPr lang="en-IN" sz="1400"/>
                        <a:t>$0 – $100</a:t>
                      </a:r>
                    </a:p>
                  </a:txBody>
                  <a:tcPr anchor="ctr">
                    <a:lnL>
                      <a:noFill/>
                    </a:lnL>
                    <a:lnR>
                      <a:noFill/>
                    </a:lnR>
                    <a:lnT>
                      <a:noFill/>
                    </a:lnT>
                    <a:lnB>
                      <a:noFill/>
                    </a:lnB>
                    <a:noFill/>
                  </a:tcPr>
                </a:tc>
                <a:extLst>
                  <a:ext uri="{0D108BD9-81ED-4DB2-BD59-A6C34878D82A}">
                    <a16:rowId xmlns:a16="http://schemas.microsoft.com/office/drawing/2014/main" val="3030256807"/>
                  </a:ext>
                </a:extLst>
              </a:tr>
              <a:tr h="518160">
                <a:tc>
                  <a:txBody>
                    <a:bodyPr/>
                    <a:lstStyle/>
                    <a:p>
                      <a:r>
                        <a:rPr lang="en-IN" sz="1400" b="1"/>
                        <a:t>Cloud Compute</a:t>
                      </a:r>
                      <a:endParaRPr lang="en-IN" sz="1400"/>
                    </a:p>
                  </a:txBody>
                  <a:tcPr anchor="ctr">
                    <a:lnL>
                      <a:noFill/>
                    </a:lnL>
                    <a:lnR>
                      <a:noFill/>
                    </a:lnR>
                    <a:lnT>
                      <a:noFill/>
                    </a:lnT>
                    <a:lnB>
                      <a:noFill/>
                    </a:lnB>
                    <a:noFill/>
                  </a:tcPr>
                </a:tc>
                <a:tc>
                  <a:txBody>
                    <a:bodyPr/>
                    <a:lstStyle/>
                    <a:p>
                      <a:r>
                        <a:rPr lang="en-US" sz="1400"/>
                        <a:t>Model Training (GPU on GCP/AWS)</a:t>
                      </a:r>
                    </a:p>
                  </a:txBody>
                  <a:tcPr anchor="ctr">
                    <a:lnL>
                      <a:noFill/>
                    </a:lnL>
                    <a:lnR>
                      <a:noFill/>
                    </a:lnR>
                    <a:lnT>
                      <a:noFill/>
                    </a:lnT>
                    <a:lnB>
                      <a:noFill/>
                    </a:lnB>
                    <a:noFill/>
                  </a:tcPr>
                </a:tc>
                <a:tc>
                  <a:txBody>
                    <a:bodyPr/>
                    <a:lstStyle/>
                    <a:p>
                      <a:r>
                        <a:rPr lang="en-IN" sz="1400"/>
                        <a:t>$100 – $300</a:t>
                      </a:r>
                    </a:p>
                  </a:txBody>
                  <a:tcPr anchor="ctr">
                    <a:lnL>
                      <a:noFill/>
                    </a:lnL>
                    <a:lnR>
                      <a:noFill/>
                    </a:lnR>
                    <a:lnT>
                      <a:noFill/>
                    </a:lnT>
                    <a:lnB>
                      <a:noFill/>
                    </a:lnB>
                    <a:noFill/>
                  </a:tcPr>
                </a:tc>
                <a:extLst>
                  <a:ext uri="{0D108BD9-81ED-4DB2-BD59-A6C34878D82A}">
                    <a16:rowId xmlns:a16="http://schemas.microsoft.com/office/drawing/2014/main" val="1724923007"/>
                  </a:ext>
                </a:extLst>
              </a:tr>
              <a:tr h="304800">
                <a:tc>
                  <a:txBody>
                    <a:bodyPr/>
                    <a:lstStyle/>
                    <a:p>
                      <a:r>
                        <a:rPr lang="en-IN" sz="1400" b="1"/>
                        <a:t>Web Hosting</a:t>
                      </a:r>
                      <a:endParaRPr lang="en-IN" sz="1400"/>
                    </a:p>
                  </a:txBody>
                  <a:tcPr anchor="ctr">
                    <a:lnL>
                      <a:noFill/>
                    </a:lnL>
                    <a:lnR>
                      <a:noFill/>
                    </a:lnR>
                    <a:lnT>
                      <a:noFill/>
                    </a:lnT>
                    <a:lnB>
                      <a:noFill/>
                    </a:lnB>
                    <a:noFill/>
                  </a:tcPr>
                </a:tc>
                <a:tc>
                  <a:txBody>
                    <a:bodyPr/>
                    <a:lstStyle/>
                    <a:p>
                      <a:r>
                        <a:rPr lang="en-IN" sz="1400"/>
                        <a:t>App &amp; Backend Deployment</a:t>
                      </a:r>
                    </a:p>
                  </a:txBody>
                  <a:tcPr anchor="ctr">
                    <a:lnL>
                      <a:noFill/>
                    </a:lnL>
                    <a:lnR>
                      <a:noFill/>
                    </a:lnR>
                    <a:lnT>
                      <a:noFill/>
                    </a:lnT>
                    <a:lnB>
                      <a:noFill/>
                    </a:lnB>
                    <a:noFill/>
                  </a:tcPr>
                </a:tc>
                <a:tc>
                  <a:txBody>
                    <a:bodyPr/>
                    <a:lstStyle/>
                    <a:p>
                      <a:r>
                        <a:rPr lang="en-IN" sz="1400"/>
                        <a:t>$30 – $100</a:t>
                      </a:r>
                    </a:p>
                  </a:txBody>
                  <a:tcPr anchor="ctr">
                    <a:lnL>
                      <a:noFill/>
                    </a:lnL>
                    <a:lnR>
                      <a:noFill/>
                    </a:lnR>
                    <a:lnT>
                      <a:noFill/>
                    </a:lnT>
                    <a:lnB>
                      <a:noFill/>
                    </a:lnB>
                    <a:noFill/>
                  </a:tcPr>
                </a:tc>
                <a:extLst>
                  <a:ext uri="{0D108BD9-81ED-4DB2-BD59-A6C34878D82A}">
                    <a16:rowId xmlns:a16="http://schemas.microsoft.com/office/drawing/2014/main" val="2110821165"/>
                  </a:ext>
                </a:extLst>
              </a:tr>
              <a:tr h="304800">
                <a:tc>
                  <a:txBody>
                    <a:bodyPr/>
                    <a:lstStyle/>
                    <a:p>
                      <a:r>
                        <a:rPr lang="en-IN" sz="1400" b="1"/>
                        <a:t>Storage</a:t>
                      </a:r>
                      <a:endParaRPr lang="en-IN" sz="1400"/>
                    </a:p>
                  </a:txBody>
                  <a:tcPr anchor="ctr">
                    <a:lnL>
                      <a:noFill/>
                    </a:lnL>
                    <a:lnR>
                      <a:noFill/>
                    </a:lnR>
                    <a:lnT>
                      <a:noFill/>
                    </a:lnT>
                    <a:lnB>
                      <a:noFill/>
                    </a:lnB>
                    <a:noFill/>
                  </a:tcPr>
                </a:tc>
                <a:tc>
                  <a:txBody>
                    <a:bodyPr/>
                    <a:lstStyle/>
                    <a:p>
                      <a:r>
                        <a:rPr lang="en-IN" sz="1400"/>
                        <a:t>Cloud Storage for Data</a:t>
                      </a:r>
                    </a:p>
                  </a:txBody>
                  <a:tcPr anchor="ctr">
                    <a:lnL>
                      <a:noFill/>
                    </a:lnL>
                    <a:lnR>
                      <a:noFill/>
                    </a:lnR>
                    <a:lnT>
                      <a:noFill/>
                    </a:lnT>
                    <a:lnB>
                      <a:noFill/>
                    </a:lnB>
                    <a:noFill/>
                  </a:tcPr>
                </a:tc>
                <a:tc>
                  <a:txBody>
                    <a:bodyPr/>
                    <a:lstStyle/>
                    <a:p>
                      <a:r>
                        <a:rPr lang="en-IN" sz="1400"/>
                        <a:t>$20 – $50</a:t>
                      </a:r>
                    </a:p>
                  </a:txBody>
                  <a:tcPr anchor="ctr">
                    <a:lnL>
                      <a:noFill/>
                    </a:lnL>
                    <a:lnR>
                      <a:noFill/>
                    </a:lnR>
                    <a:lnT>
                      <a:noFill/>
                    </a:lnT>
                    <a:lnB>
                      <a:noFill/>
                    </a:lnB>
                    <a:noFill/>
                  </a:tcPr>
                </a:tc>
                <a:extLst>
                  <a:ext uri="{0D108BD9-81ED-4DB2-BD59-A6C34878D82A}">
                    <a16:rowId xmlns:a16="http://schemas.microsoft.com/office/drawing/2014/main" val="2822715014"/>
                  </a:ext>
                </a:extLst>
              </a:tr>
              <a:tr h="304800">
                <a:tc>
                  <a:txBody>
                    <a:bodyPr/>
                    <a:lstStyle/>
                    <a:p>
                      <a:r>
                        <a:rPr lang="en-IN" sz="1400" b="1"/>
                        <a:t>Visualization Tools</a:t>
                      </a:r>
                      <a:endParaRPr lang="en-IN" sz="1400"/>
                    </a:p>
                  </a:txBody>
                  <a:tcPr anchor="ctr">
                    <a:lnL>
                      <a:noFill/>
                    </a:lnL>
                    <a:lnR>
                      <a:noFill/>
                    </a:lnR>
                    <a:lnT>
                      <a:noFill/>
                    </a:lnT>
                    <a:lnB>
                      <a:noFill/>
                    </a:lnB>
                    <a:noFill/>
                  </a:tcPr>
                </a:tc>
                <a:tc>
                  <a:txBody>
                    <a:bodyPr/>
                    <a:lstStyle/>
                    <a:p>
                      <a:r>
                        <a:rPr lang="en-IN" sz="1400"/>
                        <a:t>Mapbox / Leaflet (Free)</a:t>
                      </a:r>
                    </a:p>
                  </a:txBody>
                  <a:tcPr anchor="ctr">
                    <a:lnL>
                      <a:noFill/>
                    </a:lnL>
                    <a:lnR>
                      <a:noFill/>
                    </a:lnR>
                    <a:lnT>
                      <a:noFill/>
                    </a:lnT>
                    <a:lnB>
                      <a:noFill/>
                    </a:lnB>
                    <a:noFill/>
                  </a:tcPr>
                </a:tc>
                <a:tc>
                  <a:txBody>
                    <a:bodyPr/>
                    <a:lstStyle/>
                    <a:p>
                      <a:r>
                        <a:rPr lang="en-IN" sz="1400"/>
                        <a:t>$0</a:t>
                      </a:r>
                    </a:p>
                  </a:txBody>
                  <a:tcPr anchor="ctr">
                    <a:lnL>
                      <a:noFill/>
                    </a:lnL>
                    <a:lnR>
                      <a:noFill/>
                    </a:lnR>
                    <a:lnT>
                      <a:noFill/>
                    </a:lnT>
                    <a:lnB>
                      <a:noFill/>
                    </a:lnB>
                    <a:noFill/>
                  </a:tcPr>
                </a:tc>
                <a:extLst>
                  <a:ext uri="{0D108BD9-81ED-4DB2-BD59-A6C34878D82A}">
                    <a16:rowId xmlns:a16="http://schemas.microsoft.com/office/drawing/2014/main" val="1815368715"/>
                  </a:ext>
                </a:extLst>
              </a:tr>
              <a:tr h="304800">
                <a:tc>
                  <a:txBody>
                    <a:bodyPr/>
                    <a:lstStyle/>
                    <a:p>
                      <a:r>
                        <a:rPr lang="en-IN" sz="1400" b="1"/>
                        <a:t>Miscellaneous</a:t>
                      </a:r>
                      <a:endParaRPr lang="en-IN" sz="1400"/>
                    </a:p>
                  </a:txBody>
                  <a:tcPr anchor="ctr">
                    <a:lnL>
                      <a:noFill/>
                    </a:lnL>
                    <a:lnR>
                      <a:noFill/>
                    </a:lnR>
                    <a:lnT>
                      <a:noFill/>
                    </a:lnT>
                    <a:lnB>
                      <a:noFill/>
                    </a:lnB>
                    <a:noFill/>
                  </a:tcPr>
                </a:tc>
                <a:tc>
                  <a:txBody>
                    <a:bodyPr/>
                    <a:lstStyle/>
                    <a:p>
                      <a:r>
                        <a:rPr lang="en-IN" sz="1400"/>
                        <a:t>Domain, Testing Tools</a:t>
                      </a:r>
                    </a:p>
                  </a:txBody>
                  <a:tcPr anchor="ctr">
                    <a:lnL>
                      <a:noFill/>
                    </a:lnL>
                    <a:lnR>
                      <a:noFill/>
                    </a:lnR>
                    <a:lnT>
                      <a:noFill/>
                    </a:lnT>
                    <a:lnB>
                      <a:noFill/>
                    </a:lnB>
                    <a:noFill/>
                  </a:tcPr>
                </a:tc>
                <a:tc>
                  <a:txBody>
                    <a:bodyPr/>
                    <a:lstStyle/>
                    <a:p>
                      <a:r>
                        <a:rPr lang="en-IN" sz="1400" dirty="0"/>
                        <a:t>$20 – $50</a:t>
                      </a:r>
                    </a:p>
                  </a:txBody>
                  <a:tcPr anchor="ctr">
                    <a:lnL>
                      <a:noFill/>
                    </a:lnL>
                    <a:lnR>
                      <a:noFill/>
                    </a:lnR>
                    <a:lnT>
                      <a:noFill/>
                    </a:lnT>
                    <a:lnB>
                      <a:noFill/>
                    </a:lnB>
                    <a:noFill/>
                  </a:tcPr>
                </a:tc>
                <a:extLst>
                  <a:ext uri="{0D108BD9-81ED-4DB2-BD59-A6C34878D82A}">
                    <a16:rowId xmlns:a16="http://schemas.microsoft.com/office/drawing/2014/main" val="2733957100"/>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pic>
        <p:nvPicPr>
          <p:cNvPr id="122" name="Google Shape;122;p24" title="Artboard eee– 3.png"/>
          <p:cNvPicPr preferRelativeResize="0"/>
          <p:nvPr/>
        </p:nvPicPr>
        <p:blipFill rotWithShape="1">
          <a:blip r:embed="rId3">
            <a:alphaModFix/>
          </a:blip>
          <a:srcRect/>
          <a:stretch/>
        </p:blipFill>
        <p:spPr>
          <a:xfrm>
            <a:off x="0" y="0"/>
            <a:ext cx="914400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799</Words>
  <Application>Microsoft Office PowerPoint</Application>
  <PresentationFormat>On-screen Show (16:9)</PresentationFormat>
  <Paragraphs>93</Paragraphs>
  <Slides>13</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Google Sans Medium</vt:lpstr>
      <vt:lpstr>Google Sans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Akshit Kotnala</cp:lastModifiedBy>
  <cp:revision>1</cp:revision>
  <dcterms:modified xsi:type="dcterms:W3CDTF">2025-07-06T07:29:48Z</dcterms:modified>
</cp:coreProperties>
</file>