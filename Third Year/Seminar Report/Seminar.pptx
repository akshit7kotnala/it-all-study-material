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5" r:id="rId6"/>
    <p:sldId id="267" r:id="rId7"/>
    <p:sldId id="268" r:id="rId8"/>
    <p:sldId id="270" r:id="rId9"/>
    <p:sldId id="271" r:id="rId10"/>
    <p:sldId id="272" r:id="rId11"/>
    <p:sldId id="264" r:id="rId12"/>
    <p:sldId id="260" r:id="rId13"/>
    <p:sldId id="269" r:id="rId14"/>
    <p:sldId id="261" r:id="rId15"/>
    <p:sldId id="262" r:id="rId16"/>
    <p:sldId id="263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9F553-F691-4C10-B72D-1587963ADCA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6780E-13AF-4BFE-8B9D-4D95CC0902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0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6780E-13AF-4BFE-8B9D-4D95CC09020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06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A1EE-8A46-3611-607F-5954BA86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9EAE8-FD00-B148-0139-DB3A18A2B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628E1-DA42-B62F-1583-5468AE1E7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B187-904A-4911-9544-7626061BDF4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DDC6A-106E-1317-A6BF-54A153C0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59284-CC89-D97D-BC63-878E975E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5277-7EA0-4609-A2A8-77C102A4DC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419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4FF7-F32C-E93A-D9BE-79A838B7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FA8E1-3A59-362E-E465-7CBB5D526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89E24-F149-C1DD-315D-486F8347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B187-904A-4911-9544-7626061BDF4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CEF29-5651-CFA2-4534-638AD2D8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CA6B3-57F1-4364-B52A-B2BAFCD7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5277-7EA0-4609-A2A8-77C102A4DC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294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BC917-DAC2-C2A8-762A-29F8FD12D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CF0BA-DF05-22E8-1BFA-3F3BCE9FA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3FD24-8954-5B0A-E382-1CBC003F0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B187-904A-4911-9544-7626061BDF4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58864-0913-320B-409C-A5EA2ED3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1C541-1F16-58E5-353A-B4D18670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5277-7EA0-4609-A2A8-77C102A4DC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410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E74D-FCDC-C70D-5DAF-4590A0C5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7FAC8-16DB-A5D0-4659-2E958CDAD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122E7-D48C-6B7D-F288-81E46B1B6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84206-196F-3934-7B17-85BF6098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B187-904A-4911-9544-7626061BDF4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476D7-3F33-7915-4439-14AAA7A94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3BF94-ADD1-21E8-02D7-FC55E9AA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5277-7EA0-4609-A2A8-77C102A4DC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724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797F-7186-982A-EF36-B4F6C55EE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91C48-C96D-21DE-6F42-38EB961E4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0A134-EB06-7079-5126-CA7FB83EF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936A3-BEE3-BAB9-F6DE-B42FDBD2A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2947A0-5C1B-BB5F-6794-D58968DFB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23ED58-5B59-61D0-5E49-C9D0881DD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B187-904A-4911-9544-7626061BDF4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27ADD1-98C5-F356-4158-C79F60BD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B8FAFC-5780-B826-ADB8-D161C870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5277-7EA0-4609-A2A8-77C102A4DC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969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701B0-6CA0-CB55-3F2A-2337C5B6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0A1C9-B51E-8CDF-7ACE-9348FC4C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B187-904A-4911-9544-7626061BDF4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9A306-C300-0CB6-3922-E1ACADBB6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DA6E9-6A9C-BD41-747D-C9E9802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5277-7EA0-4609-A2A8-77C102A4DC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76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BA776-6F92-F22D-37FB-1FE29BA3F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B187-904A-4911-9544-7626061BDF4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3B3BF5-67F5-3F09-A54A-FC5B27D92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1D37F-FD18-51DB-2844-A19347C6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5277-7EA0-4609-A2A8-77C102A4DC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99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32C6-9054-4325-B26A-BDD431A3D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CCBFB-A024-1ABA-2E96-BFBE92A8B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5AD96-49DE-C658-B821-7BF32F89C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853D1-8AE4-2DE1-B362-6728E5E0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B187-904A-4911-9544-7626061BDF4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DFB36-7B3A-63E8-EECF-6492C374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007A6-9871-3FE6-3B3E-66B4A3DC7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5277-7EA0-4609-A2A8-77C102A4DC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018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CB01D-4FB2-FB10-C29D-C6BFF6E0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66AAB-EE89-C3DA-859B-FD2B3E3D2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DA332-1902-C695-82F9-DEEE97246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FD7E6-28FB-30FE-F8A9-3EC40D8E2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B187-904A-4911-9544-7626061BDF4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C1E0C-0AB7-CF7F-0883-91F24DD4B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B91DE-64F4-FC93-1EFA-D9A7AAF19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5277-7EA0-4609-A2A8-77C102A4DC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91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C454-72D2-82A4-A130-938A6BF7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751EF-398B-23EB-5180-2AF8E9D2D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23842-7EF7-78BC-8A2F-C07D2233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B187-904A-4911-9544-7626061BDF4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E7D6B-764E-413D-02DD-17A8CF4C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C64D1-7FFB-080D-E4A0-35778726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5277-7EA0-4609-A2A8-77C102A4DC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58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E4050-E309-C4F7-0F0E-A44DD59A2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AF86C-9B29-BAE2-181A-130F2FCD9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D9FE5-7BAE-A787-4BB7-C7CE242DF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B187-904A-4911-9544-7626061BDF4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DAB3E-4C01-E2AA-571F-DAA18AF97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472FC-0C95-C83A-11BD-A6D08704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A5277-7EA0-4609-A2A8-77C102A4DC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05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3A5CA3-A516-6E59-FE80-1790DC0F8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CDF1D-B293-D264-4574-B9724C51B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479E3-CDEF-F089-196F-62F98C7587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EB187-904A-4911-9544-7626061BDF47}" type="datetimeFigureOut">
              <a:rPr lang="en-IN" smtClean="0"/>
              <a:t>25-10-2024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66DA8-EC8C-49B0-EB06-CFBE38F79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2B78E-1C75-61D4-1F01-53DDA848A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A5277-7EA0-4609-A2A8-77C102A4DC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72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595F3D8-A1B4-DB77-B5C5-076810D8E077}"/>
              </a:ext>
            </a:extLst>
          </p:cNvPr>
          <p:cNvSpPr/>
          <p:nvPr/>
        </p:nvSpPr>
        <p:spPr>
          <a:xfrm>
            <a:off x="720436" y="337343"/>
            <a:ext cx="113220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u="sng" dirty="0"/>
              <a:t>Department of Information Technology </a:t>
            </a:r>
          </a:p>
          <a:p>
            <a:pPr algn="ctr"/>
            <a:r>
              <a:rPr lang="en-US" sz="4000" b="1" u="sng" dirty="0"/>
              <a:t>TE IT Seminar</a:t>
            </a:r>
            <a:r>
              <a:rPr lang="en-US" sz="4000" u="sng" dirty="0"/>
              <a:t> </a:t>
            </a:r>
            <a:r>
              <a:rPr lang="en-US" sz="4000" b="1" u="sng" dirty="0"/>
              <a:t>Review I</a:t>
            </a:r>
            <a:endParaRPr lang="en-IN" sz="4000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BEB4859-A624-45BD-316A-2BCF1EFF8957}"/>
              </a:ext>
            </a:extLst>
          </p:cNvPr>
          <p:cNvSpPr txBox="1">
            <a:spLocks/>
          </p:cNvSpPr>
          <p:nvPr/>
        </p:nvSpPr>
        <p:spPr>
          <a:xfrm>
            <a:off x="2100943" y="3542112"/>
            <a:ext cx="9144000" cy="33158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/>
              <a:t>                                        Group No 4</a:t>
            </a:r>
          </a:p>
          <a:p>
            <a:r>
              <a:rPr lang="en-IN" sz="2000" b="1" dirty="0"/>
              <a:t>Group Members :</a:t>
            </a:r>
          </a:p>
          <a:p>
            <a:pPr algn="just"/>
            <a:r>
              <a:rPr lang="en-IN" sz="2000" b="1" dirty="0"/>
              <a:t>			  4302	   Akshit Kotnala	</a:t>
            </a:r>
          </a:p>
          <a:p>
            <a:pPr algn="just"/>
            <a:r>
              <a:rPr lang="en-IN" sz="2000" b="1" dirty="0"/>
              <a:t>                                      4304      Amit</a:t>
            </a:r>
          </a:p>
          <a:p>
            <a:pPr algn="just"/>
            <a:r>
              <a:rPr lang="en-IN" sz="2000" b="1" dirty="0"/>
              <a:t>                                      4314      Ashish Sable</a:t>
            </a:r>
          </a:p>
          <a:p>
            <a:pPr algn="just"/>
            <a:r>
              <a:rPr lang="en-IN" sz="2000" b="1" dirty="0"/>
              <a:t>					Guide : Prof Sandeep </a:t>
            </a:r>
            <a:r>
              <a:rPr lang="en-IN" sz="2000" b="1" dirty="0" err="1"/>
              <a:t>Samleti</a:t>
            </a:r>
            <a:r>
              <a:rPr lang="en-IN" sz="2000" b="1" dirty="0"/>
              <a:t>  </a:t>
            </a:r>
          </a:p>
        </p:txBody>
      </p:sp>
      <p:pic>
        <p:nvPicPr>
          <p:cNvPr id="24" name="Picture 23" descr="Image result for AIT logo">
            <a:extLst>
              <a:ext uri="{FF2B5EF4-FFF2-40B4-BE49-F238E27FC236}">
                <a16:creationId xmlns:a16="http://schemas.microsoft.com/office/drawing/2014/main" id="{5FBDFBF5-1956-9CBE-D6EF-2FBD3BFD5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007" y="1806604"/>
            <a:ext cx="1889766" cy="1622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8263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6C292D0-983C-B8D6-0CEC-15D04A68C1DE}"/>
              </a:ext>
            </a:extLst>
          </p:cNvPr>
          <p:cNvSpPr txBox="1"/>
          <p:nvPr/>
        </p:nvSpPr>
        <p:spPr>
          <a:xfrm>
            <a:off x="783771" y="901397"/>
            <a:ext cx="801188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u="sng" dirty="0"/>
              <a:t>Contents</a:t>
            </a:r>
          </a:p>
          <a:p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Seminar Topic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Literature Survey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Block Diagram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Methodologies used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Objective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70369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345CA277-B99F-CE98-5FB1-25F479C43D69}"/>
              </a:ext>
            </a:extLst>
          </p:cNvPr>
          <p:cNvSpPr txBox="1"/>
          <p:nvPr/>
        </p:nvSpPr>
        <p:spPr>
          <a:xfrm>
            <a:off x="-419100" y="650243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/>
              <a:t>Seminar Topic</a:t>
            </a:r>
          </a:p>
          <a:p>
            <a:endParaRPr lang="en-IN" sz="2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1CF5AF-D8E2-00BE-3546-68337BFE0EA8}"/>
              </a:ext>
            </a:extLst>
          </p:cNvPr>
          <p:cNvSpPr txBox="1"/>
          <p:nvPr/>
        </p:nvSpPr>
        <p:spPr>
          <a:xfrm>
            <a:off x="623798" y="1662415"/>
            <a:ext cx="6413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b="1" i="1" u="sng" dirty="0">
                <a:solidFill>
                  <a:srgbClr val="1F1F1F"/>
                </a:solidFill>
                <a:effectLst/>
                <a:latin typeface="Google Sans"/>
              </a:rPr>
              <a:t>Use of AI in best Weapon Selection and Autonomous Engagements</a:t>
            </a:r>
            <a:br>
              <a:rPr lang="en-US" sz="2400" b="1" i="1" u="sng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400" b="1" i="1" u="sng" dirty="0">
              <a:solidFill>
                <a:srgbClr val="1F1F1F"/>
              </a:solidFill>
              <a:effectLst/>
              <a:latin typeface="Google Sans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7ECF15F-1A6B-0311-DDE5-0C5DA9B00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50243"/>
            <a:ext cx="4499209" cy="283328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87220DD-A503-663A-D450-C8867C39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02" b="10674"/>
          <a:stretch/>
        </p:blipFill>
        <p:spPr>
          <a:xfrm>
            <a:off x="6386506" y="3985035"/>
            <a:ext cx="3617466" cy="195856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E83015E-9D28-C6EC-A48D-6ED9C7C2BC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79" b="11692"/>
          <a:stretch/>
        </p:blipFill>
        <p:spPr>
          <a:xfrm>
            <a:off x="1122502" y="3302873"/>
            <a:ext cx="4069984" cy="283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185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8B0DD0AA-CF16-6E2D-F99F-FAEE3207E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095184"/>
              </p:ext>
            </p:extLst>
          </p:nvPr>
        </p:nvGraphicFramePr>
        <p:xfrm>
          <a:off x="0" y="475084"/>
          <a:ext cx="12159342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343">
                  <a:extLst>
                    <a:ext uri="{9D8B030D-6E8A-4147-A177-3AD203B41FA5}">
                      <a16:colId xmlns:a16="http://schemas.microsoft.com/office/drawing/2014/main" val="1604472956"/>
                    </a:ext>
                  </a:extLst>
                </a:gridCol>
                <a:gridCol w="1796143">
                  <a:extLst>
                    <a:ext uri="{9D8B030D-6E8A-4147-A177-3AD203B41FA5}">
                      <a16:colId xmlns:a16="http://schemas.microsoft.com/office/drawing/2014/main" val="379935522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3330681966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414082673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381115417"/>
                    </a:ext>
                  </a:extLst>
                </a:gridCol>
                <a:gridCol w="3733799">
                  <a:extLst>
                    <a:ext uri="{9D8B030D-6E8A-4147-A177-3AD203B41FA5}">
                      <a16:colId xmlns:a16="http://schemas.microsoft.com/office/drawing/2014/main" val="667653781"/>
                    </a:ext>
                  </a:extLst>
                </a:gridCol>
              </a:tblGrid>
              <a:tr h="1012371">
                <a:tc>
                  <a:txBody>
                    <a:bodyPr/>
                    <a:lstStyle/>
                    <a:p>
                      <a:r>
                        <a:rPr lang="en-US" dirty="0"/>
                        <a:t>Sr.No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 Name/title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  <a:r>
                        <a:rPr lang="en-US" baseline="0" dirty="0"/>
                        <a:t> of paper/Year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Scope/shortcomings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421812"/>
                  </a:ext>
                </a:extLst>
              </a:tr>
              <a:tr h="1492013">
                <a:tc>
                  <a:txBody>
                    <a:bodyPr/>
                    <a:lstStyle/>
                    <a:p>
                      <a:r>
                        <a:rPr lang="en-US" sz="18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Design of Weapon Detection System</a:t>
                      </a:r>
                      <a:endParaRPr lang="en-US" sz="18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IEEE Xplore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/>
                        <a:t>Speeded Up Robust Features (</a:t>
                      </a:r>
                      <a:r>
                        <a:rPr lang="en-US" sz="1800" b="1" dirty="0"/>
                        <a:t>SURF</a:t>
                      </a:r>
                      <a:r>
                        <a:rPr lang="en-US" sz="1800" dirty="0"/>
                        <a:t>) algorithm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b="1" dirty="0"/>
                        <a:t>Hardware:</a:t>
                      </a:r>
                      <a:r>
                        <a:rPr lang="en-IN" sz="1800" dirty="0"/>
                        <a:t> ARM LPC2148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b="1" dirty="0"/>
                        <a:t>Software:</a:t>
                      </a:r>
                      <a:r>
                        <a:rPr lang="en-IN" sz="1800" dirty="0"/>
                        <a:t> MATLAB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b="1" dirty="0"/>
                        <a:t>https://ieeexplore.ieee.org/document/9885601</a:t>
                      </a:r>
                    </a:p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Improvements Needed for Asymmetrical Objects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u="sng" dirty="0"/>
                        <a:t>More Accurate Matching</a:t>
                      </a:r>
                      <a:r>
                        <a:rPr lang="en-US" sz="1800" b="1" dirty="0"/>
                        <a:t>:</a:t>
                      </a:r>
                      <a:r>
                        <a:rPr lang="en-US" sz="1800" dirty="0"/>
                        <a:t> Feature matching</a:t>
                      </a:r>
                      <a:endParaRPr lang="en-US" sz="18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u="sng" dirty="0"/>
                        <a:t>Effective Detection</a:t>
                      </a:r>
                      <a:r>
                        <a:rPr lang="en-US" sz="1800" b="1" dirty="0"/>
                        <a:t>:</a:t>
                      </a:r>
                      <a:r>
                        <a:rPr lang="en-US" sz="1800" dirty="0"/>
                        <a:t> The system can detect symmetrical objects like razor blades and guns efficiently.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u="sng" dirty="0"/>
                        <a:t>Challenges with Asymmetrical Objects:</a:t>
                      </a:r>
                      <a:r>
                        <a:rPr lang="en-US" sz="1800" u="sng" dirty="0"/>
                        <a:t> </a:t>
                      </a:r>
                      <a:r>
                        <a:rPr lang="en-US" sz="1800" dirty="0"/>
                        <a:t>Detecting asymmetrical objects (like pistols) proved less effective due to fragmented feature recognition.</a:t>
                      </a:r>
                      <a:endParaRPr 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88320"/>
                  </a:ext>
                </a:extLst>
              </a:tr>
              <a:tr h="703384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Weapon Recognition in CCTV Videos: Deep Learning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IEEE Xplore 2024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Combination of VGG-16 or </a:t>
                      </a:r>
                      <a:r>
                        <a:rPr lang="en-US" sz="1800" b="1" dirty="0" err="1"/>
                        <a:t>NASNetMobile</a:t>
                      </a:r>
                      <a:r>
                        <a:rPr lang="en-US" sz="1800" dirty="0"/>
                        <a:t> for feature extraction and </a:t>
                      </a:r>
                      <a:r>
                        <a:rPr lang="en-US" sz="1800" b="1" dirty="0" err="1"/>
                        <a:t>ConvLSTM</a:t>
                      </a:r>
                      <a:r>
                        <a:rPr lang="en-US" sz="1800" dirty="0"/>
                        <a:t>(Convolutional Long Short-Term Memory) for processing temporal data in video frames.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/>
                        <a:t>https://ieeexplore.ieee.org/document/10493569</a:t>
                      </a:r>
                      <a:endParaRPr lang="en-US" sz="18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u="sng" dirty="0"/>
                        <a:t>Need for High-Performance Hardware</a:t>
                      </a:r>
                      <a:r>
                        <a:rPr lang="en-US" sz="1800" b="1" dirty="0"/>
                        <a:t>:</a:t>
                      </a:r>
                      <a:r>
                        <a:rPr lang="en-US" sz="1800" dirty="0"/>
                        <a:t> The system requires a powerful GPU for real-time processing.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u="sng" dirty="0"/>
                        <a:t>High Accuracy</a:t>
                      </a:r>
                      <a:r>
                        <a:rPr lang="en-US" sz="1800" b="1" dirty="0"/>
                        <a:t>:</a:t>
                      </a:r>
                      <a:r>
                        <a:rPr lang="en-US" sz="1800" dirty="0"/>
                        <a:t> The proposed method achieved 96.69% accuracy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u="sng" dirty="0"/>
                        <a:t>Best Model</a:t>
                      </a:r>
                      <a:r>
                        <a:rPr lang="en-US" sz="1800" b="1" dirty="0"/>
                        <a:t>:</a:t>
                      </a:r>
                      <a:r>
                        <a:rPr lang="en-US" sz="1800" dirty="0"/>
                        <a:t> YOLOv4 performed the best with 91.73% </a:t>
                      </a:r>
                      <a:r>
                        <a:rPr lang="en-US" sz="1800" dirty="0" err="1"/>
                        <a:t>mAP</a:t>
                      </a:r>
                      <a:r>
                        <a:rPr lang="en-US" sz="1800" dirty="0"/>
                        <a:t>, being both fast and accurate.</a:t>
                      </a:r>
                      <a:endParaRPr 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314794"/>
                  </a:ext>
                </a:extLst>
              </a:tr>
            </a:tbl>
          </a:graphicData>
        </a:graphic>
      </p:graphicFrame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4488D2B-1786-CDED-5B3F-3ED9F78A31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64241" y="3470832"/>
            <a:ext cx="2840083" cy="7913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23312F1-1E0B-7FD9-7F18-6D8A5EB7C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389922" y="4831547"/>
            <a:ext cx="1188720" cy="791308"/>
          </a:xfrm>
        </p:spPr>
        <p:txBody>
          <a:bodyPr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46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FE2628-54D8-215F-5E68-35525D915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78259"/>
              </p:ext>
            </p:extLst>
          </p:nvPr>
        </p:nvGraphicFramePr>
        <p:xfrm>
          <a:off x="78922" y="1013552"/>
          <a:ext cx="12023272" cy="64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273">
                  <a:extLst>
                    <a:ext uri="{9D8B030D-6E8A-4147-A177-3AD203B41FA5}">
                      <a16:colId xmlns:a16="http://schemas.microsoft.com/office/drawing/2014/main" val="665078130"/>
                    </a:ext>
                  </a:extLst>
                </a:gridCol>
                <a:gridCol w="1970314">
                  <a:extLst>
                    <a:ext uri="{9D8B030D-6E8A-4147-A177-3AD203B41FA5}">
                      <a16:colId xmlns:a16="http://schemas.microsoft.com/office/drawing/2014/main" val="387078477"/>
                    </a:ext>
                  </a:extLst>
                </a:gridCol>
                <a:gridCol w="783772">
                  <a:extLst>
                    <a:ext uri="{9D8B030D-6E8A-4147-A177-3AD203B41FA5}">
                      <a16:colId xmlns:a16="http://schemas.microsoft.com/office/drawing/2014/main" val="534730575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234160427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913166014"/>
                    </a:ext>
                  </a:extLst>
                </a:gridCol>
                <a:gridCol w="3733799">
                  <a:extLst>
                    <a:ext uri="{9D8B030D-6E8A-4147-A177-3AD203B41FA5}">
                      <a16:colId xmlns:a16="http://schemas.microsoft.com/office/drawing/2014/main" val="995756413"/>
                    </a:ext>
                  </a:extLst>
                </a:gridCol>
              </a:tblGrid>
              <a:tr h="233373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Weapon Detection using Artificial Intelligence and Deep Learning for Security Applications 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IEEE Xplore 2020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SSD (Single Shot Detector):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Detects objects quickly without region proposal steps, making it faster.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Faster R-CNN: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Uses region proposals, making it slower but more accurate.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https://ieeexplore.ieee.org/document/9155832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Hardware Dependency: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Requires high-end GPUs and specialized hardware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like DSP and FPGA kits for larger datasets.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Speed vs.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</a:rPr>
                        <a:t>Accuracy:SSD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Faster (0.736 s/frame), but less accurate (73.8% accuracy).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Faster R-CNN: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Slower (1.606 s/frame), but more accurate (84.6% accuracy).</a:t>
                      </a:r>
                    </a:p>
                    <a:p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441004"/>
                  </a:ext>
                </a:extLst>
              </a:tr>
              <a:tr h="2611557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AI in </a:t>
                      </a:r>
                      <a:r>
                        <a:rPr lang="en-US" sz="1800" b="1" dirty="0" err="1"/>
                        <a:t>Defence</a:t>
                      </a:r>
                      <a:r>
                        <a:rPr lang="en-US" sz="1800" b="1" dirty="0"/>
                        <a:t> and Ethical Concerns</a:t>
                      </a:r>
                      <a:endParaRPr lang="en-US" sz="1800" b="1" dirty="0"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IEEE Xplore 2024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/>
                        <a:t>Literature Review</a:t>
                      </a:r>
                      <a:r>
                        <a:rPr lang="en-US" sz="1800" dirty="0"/>
                        <a:t>: Examined existing AI applications in defense and ethical concerns globally.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/>
                        <a:t>Comparative Analysis</a:t>
                      </a:r>
                      <a:r>
                        <a:rPr lang="en-US" sz="1800" dirty="0"/>
                        <a:t>: Compared AI applications in Indian defense with those in other countries (e.g., U.S.).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/>
                        <a:t>https://ieeexplore.ieee.org/document/10493592</a:t>
                      </a:r>
                      <a:endParaRPr lang="en-US" sz="1800" b="1" dirty="0"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Development of a </a:t>
                      </a:r>
                      <a:r>
                        <a:rPr lang="en-US" sz="1800" b="1" dirty="0"/>
                        <a:t>national AI strategy</a:t>
                      </a:r>
                      <a:r>
                        <a:rPr lang="en-US" sz="1800" dirty="0"/>
                        <a:t> for </a:t>
                      </a:r>
                      <a:r>
                        <a:rPr lang="en-US" sz="1800" dirty="0" err="1"/>
                        <a:t>defense.Collaboration</a:t>
                      </a:r>
                      <a:r>
                        <a:rPr lang="en-US" sz="1800" dirty="0"/>
                        <a:t> with </a:t>
                      </a:r>
                      <a:r>
                        <a:rPr lang="en-US" sz="1800" b="1" dirty="0"/>
                        <a:t>international AI ethics standards</a:t>
                      </a:r>
                      <a:r>
                        <a:rPr lang="en-US" sz="1800" dirty="0"/>
                        <a:t>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/>
                        <a:t>AI Benefits</a:t>
                      </a:r>
                      <a:r>
                        <a:rPr lang="en-US" sz="1800" dirty="0"/>
                        <a:t>: AI can enhance defense with precision targeting,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/>
                        <a:t>Autonomous Weapons Systems (AWS)</a:t>
                      </a:r>
                      <a:r>
                        <a:rPr lang="en-US" sz="1800" dirty="0"/>
                        <a:t> can make lethal decisions without human intervention.</a:t>
                      </a:r>
                      <a:endParaRPr lang="en-US" sz="1800" b="1" dirty="0">
                        <a:latin typeface="+mn-lt"/>
                      </a:endParaRPr>
                    </a:p>
                    <a:p>
                      <a:endParaRPr lang="en-US" sz="1800" dirty="0"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6031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EA7F20-CB35-BB49-CA3B-B5262E71F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907647"/>
              </p:ext>
            </p:extLst>
          </p:nvPr>
        </p:nvGraphicFramePr>
        <p:xfrm>
          <a:off x="-46264" y="-175168"/>
          <a:ext cx="1215934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343">
                  <a:extLst>
                    <a:ext uri="{9D8B030D-6E8A-4147-A177-3AD203B41FA5}">
                      <a16:colId xmlns:a16="http://schemas.microsoft.com/office/drawing/2014/main" val="1345599381"/>
                    </a:ext>
                  </a:extLst>
                </a:gridCol>
                <a:gridCol w="1970314">
                  <a:extLst>
                    <a:ext uri="{9D8B030D-6E8A-4147-A177-3AD203B41FA5}">
                      <a16:colId xmlns:a16="http://schemas.microsoft.com/office/drawing/2014/main" val="1645731428"/>
                    </a:ext>
                  </a:extLst>
                </a:gridCol>
                <a:gridCol w="783772">
                  <a:extLst>
                    <a:ext uri="{9D8B030D-6E8A-4147-A177-3AD203B41FA5}">
                      <a16:colId xmlns:a16="http://schemas.microsoft.com/office/drawing/2014/main" val="4221775409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3332313089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2522379896"/>
                    </a:ext>
                  </a:extLst>
                </a:gridCol>
                <a:gridCol w="3733799">
                  <a:extLst>
                    <a:ext uri="{9D8B030D-6E8A-4147-A177-3AD203B41FA5}">
                      <a16:colId xmlns:a16="http://schemas.microsoft.com/office/drawing/2014/main" val="444076912"/>
                    </a:ext>
                  </a:extLst>
                </a:gridCol>
              </a:tblGrid>
              <a:tr h="1012371">
                <a:tc>
                  <a:txBody>
                    <a:bodyPr/>
                    <a:lstStyle/>
                    <a:p>
                      <a:r>
                        <a:rPr lang="en-US" dirty="0"/>
                        <a:t>Sr.No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 Name/title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  <a:r>
                        <a:rPr lang="en-US" baseline="0" dirty="0"/>
                        <a:t> of paper/Year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Scope/shortcomings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578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15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BFF844-AE17-D053-B94D-8728D0802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724646"/>
              </p:ext>
            </p:extLst>
          </p:nvPr>
        </p:nvGraphicFramePr>
        <p:xfrm>
          <a:off x="35559" y="62149"/>
          <a:ext cx="12120882" cy="6577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698">
                  <a:extLst>
                    <a:ext uri="{9D8B030D-6E8A-4147-A177-3AD203B41FA5}">
                      <a16:colId xmlns:a16="http://schemas.microsoft.com/office/drawing/2014/main" val="3110793693"/>
                    </a:ext>
                  </a:extLst>
                </a:gridCol>
                <a:gridCol w="2144486">
                  <a:extLst>
                    <a:ext uri="{9D8B030D-6E8A-4147-A177-3AD203B41FA5}">
                      <a16:colId xmlns:a16="http://schemas.microsoft.com/office/drawing/2014/main" val="3464907181"/>
                    </a:ext>
                  </a:extLst>
                </a:gridCol>
                <a:gridCol w="1545771">
                  <a:extLst>
                    <a:ext uri="{9D8B030D-6E8A-4147-A177-3AD203B41FA5}">
                      <a16:colId xmlns:a16="http://schemas.microsoft.com/office/drawing/2014/main" val="2380477187"/>
                    </a:ext>
                  </a:extLst>
                </a:gridCol>
                <a:gridCol w="2449286">
                  <a:extLst>
                    <a:ext uri="{9D8B030D-6E8A-4147-A177-3AD203B41FA5}">
                      <a16:colId xmlns:a16="http://schemas.microsoft.com/office/drawing/2014/main" val="9288053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437447650"/>
                    </a:ext>
                  </a:extLst>
                </a:gridCol>
                <a:gridCol w="2402841">
                  <a:extLst>
                    <a:ext uri="{9D8B030D-6E8A-4147-A177-3AD203B41FA5}">
                      <a16:colId xmlns:a16="http://schemas.microsoft.com/office/drawing/2014/main" val="3015568723"/>
                    </a:ext>
                  </a:extLst>
                </a:gridCol>
              </a:tblGrid>
              <a:tr h="758479">
                <a:tc>
                  <a:txBody>
                    <a:bodyPr/>
                    <a:lstStyle/>
                    <a:p>
                      <a:r>
                        <a:rPr lang="en-IN" dirty="0"/>
                        <a:t>Sr.NO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 of paper/Year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Future scope/Shortcoming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999207"/>
                  </a:ext>
                </a:extLst>
              </a:tr>
              <a:tr h="2909651">
                <a:tc>
                  <a:txBody>
                    <a:bodyPr/>
                    <a:lstStyle/>
                    <a:p>
                      <a:r>
                        <a:rPr lang="en-IN" sz="40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Weapon_Detection_System_for_the_Prevention_of_any_Potential_Crime_Using_Artificial_Intelligence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IEEE EXPLORE</a:t>
                      </a:r>
                    </a:p>
                    <a:p>
                      <a:endParaRPr lang="en-IN" b="1" dirty="0"/>
                    </a:p>
                    <a:p>
                      <a:r>
                        <a:rPr lang="en-IN" b="1" dirty="0"/>
                        <a:t>Year of publication-2023</a:t>
                      </a:r>
                    </a:p>
                    <a:p>
                      <a:endParaRPr lang="en-IN" b="1" dirty="0"/>
                    </a:p>
                    <a:p>
                      <a:r>
                        <a:rPr lang="en-IN" b="1" dirty="0"/>
                        <a:t>https://ieeexplore.ieee.org/document/10541543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system uses the </a:t>
                      </a:r>
                      <a:r>
                        <a:rPr lang="en-US" b="1" dirty="0"/>
                        <a:t>YOLO V3 algorithm</a:t>
                      </a:r>
                      <a:r>
                        <a:rPr lang="en-US" dirty="0"/>
                        <a:t> integrated with </a:t>
                      </a:r>
                      <a:r>
                        <a:rPr lang="en-US" b="1" dirty="0"/>
                        <a:t>TensorFlow</a:t>
                      </a:r>
                      <a:r>
                        <a:rPr lang="en-US" dirty="0"/>
                        <a:t> to detect weapons in real-time surveillance footage.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Implementing the system in real-world environments like airports, schools, and shopping malls to prevent crimes.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The system’s performance is highly dependent on the quality and variety of training data.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The system achieved high accuracy in detecting common handheld weapons in controlled environments</a:t>
                      </a:r>
                      <a:r>
                        <a:rPr lang="en-US" dirty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/>
                        <a:t>It demonstrated real-time performance, allowing immediate notification to authorities when a weapon is detected, thus enhancing public safety.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130676"/>
                  </a:ext>
                </a:extLst>
              </a:tr>
              <a:tr h="2909651">
                <a:tc>
                  <a:txBody>
                    <a:bodyPr/>
                    <a:lstStyle/>
                    <a:p>
                      <a:r>
                        <a:rPr lang="en-IN" sz="40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Weapon_Detection_For_Security_Using_The_Yolo_Algorithm_With_Email_Alert_Notification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IEEE EXPLORE</a:t>
                      </a:r>
                    </a:p>
                    <a:p>
                      <a:endParaRPr lang="en-IN" b="1" dirty="0"/>
                    </a:p>
                    <a:p>
                      <a:r>
                        <a:rPr lang="en-IN" b="1" dirty="0"/>
                        <a:t>Year of publication-2024</a:t>
                      </a:r>
                    </a:p>
                    <a:p>
                      <a:endParaRPr lang="en-IN" b="1" dirty="0"/>
                    </a:p>
                    <a:p>
                      <a:r>
                        <a:rPr lang="en-IN" b="1" dirty="0"/>
                        <a:t>https://ieeexplore.ieee.org/document/10616365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weapon detection system employs </a:t>
                      </a:r>
                      <a:r>
                        <a:rPr lang="en-US" b="1" dirty="0"/>
                        <a:t>YOLOv8</a:t>
                      </a:r>
                      <a:r>
                        <a:rPr lang="en-US" dirty="0"/>
                        <a:t> to process images, video files, and live streams.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NMS</a:t>
                      </a:r>
                      <a:r>
                        <a:rPr lang="en-US" b="0" dirty="0"/>
                        <a:t>(Non Maximum </a:t>
                      </a:r>
                      <a:r>
                        <a:rPr lang="en-US" b="0" dirty="0" err="1"/>
                        <a:t>Supression</a:t>
                      </a:r>
                      <a:r>
                        <a:rPr lang="en-US" b="0" dirty="0"/>
                        <a:t>)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The algorithm could also be improved to detect more varied weapons in complex environments, such as crowded public areas</a:t>
                      </a:r>
                      <a:r>
                        <a:rPr lang="en-US" dirty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The reliance on email notifications for alerts introduces a delay in response times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system achieved </a:t>
                      </a:r>
                      <a:r>
                        <a:rPr lang="en-US" b="1" dirty="0"/>
                        <a:t>94% accuracy</a:t>
                      </a:r>
                      <a:r>
                        <a:rPr lang="en-US" dirty="0"/>
                        <a:t> in identifying weapons, making it reliable for use in high-security environments.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199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024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6A8E94-B6B7-BBF2-4D9F-E0BAC0FE8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184924"/>
              </p:ext>
            </p:extLst>
          </p:nvPr>
        </p:nvGraphicFramePr>
        <p:xfrm>
          <a:off x="152400" y="77173"/>
          <a:ext cx="12120882" cy="6780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147">
                  <a:extLst>
                    <a:ext uri="{9D8B030D-6E8A-4147-A177-3AD203B41FA5}">
                      <a16:colId xmlns:a16="http://schemas.microsoft.com/office/drawing/2014/main" val="3231841437"/>
                    </a:ext>
                  </a:extLst>
                </a:gridCol>
                <a:gridCol w="2020147">
                  <a:extLst>
                    <a:ext uri="{9D8B030D-6E8A-4147-A177-3AD203B41FA5}">
                      <a16:colId xmlns:a16="http://schemas.microsoft.com/office/drawing/2014/main" val="1059125443"/>
                    </a:ext>
                  </a:extLst>
                </a:gridCol>
                <a:gridCol w="2020147">
                  <a:extLst>
                    <a:ext uri="{9D8B030D-6E8A-4147-A177-3AD203B41FA5}">
                      <a16:colId xmlns:a16="http://schemas.microsoft.com/office/drawing/2014/main" val="82168165"/>
                    </a:ext>
                  </a:extLst>
                </a:gridCol>
                <a:gridCol w="2020147">
                  <a:extLst>
                    <a:ext uri="{9D8B030D-6E8A-4147-A177-3AD203B41FA5}">
                      <a16:colId xmlns:a16="http://schemas.microsoft.com/office/drawing/2014/main" val="3198404652"/>
                    </a:ext>
                  </a:extLst>
                </a:gridCol>
                <a:gridCol w="2020147">
                  <a:extLst>
                    <a:ext uri="{9D8B030D-6E8A-4147-A177-3AD203B41FA5}">
                      <a16:colId xmlns:a16="http://schemas.microsoft.com/office/drawing/2014/main" val="1710818078"/>
                    </a:ext>
                  </a:extLst>
                </a:gridCol>
                <a:gridCol w="2020147">
                  <a:extLst>
                    <a:ext uri="{9D8B030D-6E8A-4147-A177-3AD203B41FA5}">
                      <a16:colId xmlns:a16="http://schemas.microsoft.com/office/drawing/2014/main" val="3706431042"/>
                    </a:ext>
                  </a:extLst>
                </a:gridCol>
              </a:tblGrid>
              <a:tr h="938024">
                <a:tc>
                  <a:txBody>
                    <a:bodyPr/>
                    <a:lstStyle/>
                    <a:p>
                      <a:r>
                        <a:rPr lang="en-IN" dirty="0"/>
                        <a:t>Sr.NO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 of paper/Year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Future scope/Shortcoming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676603"/>
                  </a:ext>
                </a:extLst>
              </a:tr>
              <a:tr h="2855763">
                <a:tc>
                  <a:txBody>
                    <a:bodyPr/>
                    <a:lstStyle/>
                    <a:p>
                      <a:r>
                        <a:rPr lang="en-IN" sz="40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Integrating Artificial Intelligence into Weapon Systems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ARXIV</a:t>
                      </a:r>
                    </a:p>
                    <a:p>
                      <a:endParaRPr lang="en-IN" b="1" dirty="0"/>
                    </a:p>
                    <a:p>
                      <a:r>
                        <a:rPr lang="en-IN" b="1" dirty="0"/>
                        <a:t>Year of publication-2019</a:t>
                      </a:r>
                    </a:p>
                    <a:p>
                      <a:endParaRPr lang="en-IN" b="1" dirty="0"/>
                    </a:p>
                    <a:p>
                      <a:r>
                        <a:rPr lang="en-IN" b="1" dirty="0"/>
                        <a:t>https://arxiv.org/abs/1905.03899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paper examines how AI can be integrated into military weapon systems, focusing on </a:t>
                      </a:r>
                      <a:r>
                        <a:rPr lang="en-US" b="1" dirty="0"/>
                        <a:t>AI-enhanced decision-making</a:t>
                      </a:r>
                      <a:r>
                        <a:rPr lang="en-US" dirty="0"/>
                        <a:t> in the battlefield.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Developing AI systems that can make </a:t>
                      </a:r>
                      <a:r>
                        <a:rPr lang="en-US" sz="1400" b="1" dirty="0"/>
                        <a:t>ethically aligned decisions</a:t>
                      </a:r>
                      <a:r>
                        <a:rPr lang="en-US" sz="1400" dirty="0"/>
                        <a:t> under complex battlefield conditions.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Fully autonomous systems present both opportunities and risks. While AI can enhance decision-making speed and accuracy, it introduces new </a:t>
                      </a:r>
                      <a:r>
                        <a:rPr lang="en-US" sz="1400" b="1" dirty="0"/>
                        <a:t>cybersecurity vulnerabilities</a:t>
                      </a:r>
                      <a:r>
                        <a:rPr lang="en-US" sz="1400" dirty="0"/>
                        <a:t> and ethical dilemmas.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02706"/>
                  </a:ext>
                </a:extLst>
              </a:tr>
              <a:tr h="2962613">
                <a:tc>
                  <a:txBody>
                    <a:bodyPr/>
                    <a:lstStyle/>
                    <a:p>
                      <a:r>
                        <a:rPr lang="en-IN" sz="40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 Comparison of Six Convolutional Neural Networks for Weapon Categorization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IEEE EXPLORE</a:t>
                      </a:r>
                    </a:p>
                    <a:p>
                      <a:endParaRPr lang="en-IN" b="1" dirty="0"/>
                    </a:p>
                    <a:p>
                      <a:r>
                        <a:rPr lang="en-IN" b="1" dirty="0"/>
                        <a:t>Year of publication-2022</a:t>
                      </a:r>
                    </a:p>
                    <a:p>
                      <a:endParaRPr lang="en-IN" b="1" dirty="0"/>
                    </a:p>
                    <a:p>
                      <a:r>
                        <a:rPr lang="en-IN" b="1" dirty="0"/>
                        <a:t>https://ieeexplore.ieee.org/document/9932092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Six CNN architectures (</a:t>
                      </a:r>
                      <a:r>
                        <a:rPr lang="en-US" sz="1400" b="1" dirty="0"/>
                        <a:t>InceptionV3, ResNet50, ResNet101, VGG-16, Inception-ResNet-V2, </a:t>
                      </a:r>
                      <a:r>
                        <a:rPr lang="en-US" sz="1400" b="1" dirty="0" err="1"/>
                        <a:t>SqueezeNet</a:t>
                      </a:r>
                      <a:r>
                        <a:rPr lang="en-US" sz="1400" dirty="0"/>
                        <a:t>) were trained and tested on weapon classification tasks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Exploring the performance of newer and more complex CNN models such as </a:t>
                      </a:r>
                      <a:r>
                        <a:rPr lang="en-US" sz="1400" b="1" dirty="0" err="1"/>
                        <a:t>EfficientNet</a:t>
                      </a:r>
                      <a:r>
                        <a:rPr lang="en-US" sz="1400" dirty="0"/>
                        <a:t> or </a:t>
                      </a:r>
                      <a:r>
                        <a:rPr lang="en-US" sz="1400" b="1" dirty="0"/>
                        <a:t>Transformers</a:t>
                      </a:r>
                      <a:r>
                        <a:rPr lang="en-US" sz="1400" dirty="0"/>
                        <a:t>.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  <a:p>
                      <a:r>
                        <a:rPr lang="en-US" sz="1400" dirty="0"/>
                        <a:t>In real-world applications, the imbalanced nature of data and unexpected scenarios may lead to lower accuracy.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InceptionV3 and Inception-ResNet-V2 performed the best, achieving a </a:t>
                      </a:r>
                      <a:r>
                        <a:rPr lang="en-US" sz="1400" b="1" dirty="0"/>
                        <a:t>99% accuracy</a:t>
                      </a:r>
                      <a:r>
                        <a:rPr lang="en-US" sz="1400" dirty="0"/>
                        <a:t> in weapon categorization.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Transfer learning significantly reduced training time and improved overall accuracy.</a:t>
                      </a:r>
                    </a:p>
                    <a:p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427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242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5EBE58-A0EF-AF55-C27A-F2448B842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013716"/>
              </p:ext>
            </p:extLst>
          </p:nvPr>
        </p:nvGraphicFramePr>
        <p:xfrm>
          <a:off x="1" y="595540"/>
          <a:ext cx="12191999" cy="6135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077">
                  <a:extLst>
                    <a:ext uri="{9D8B030D-6E8A-4147-A177-3AD203B41FA5}">
                      <a16:colId xmlns:a16="http://schemas.microsoft.com/office/drawing/2014/main" val="1619746182"/>
                    </a:ext>
                  </a:extLst>
                </a:gridCol>
                <a:gridCol w="2408904">
                  <a:extLst>
                    <a:ext uri="{9D8B030D-6E8A-4147-A177-3AD203B41FA5}">
                      <a16:colId xmlns:a16="http://schemas.microsoft.com/office/drawing/2014/main" val="2642548583"/>
                    </a:ext>
                  </a:extLst>
                </a:gridCol>
                <a:gridCol w="1386348">
                  <a:extLst>
                    <a:ext uri="{9D8B030D-6E8A-4147-A177-3AD203B41FA5}">
                      <a16:colId xmlns:a16="http://schemas.microsoft.com/office/drawing/2014/main" val="2144079935"/>
                    </a:ext>
                  </a:extLst>
                </a:gridCol>
                <a:gridCol w="2600676">
                  <a:extLst>
                    <a:ext uri="{9D8B030D-6E8A-4147-A177-3AD203B41FA5}">
                      <a16:colId xmlns:a16="http://schemas.microsoft.com/office/drawing/2014/main" val="549478509"/>
                    </a:ext>
                  </a:extLst>
                </a:gridCol>
                <a:gridCol w="2083408">
                  <a:extLst>
                    <a:ext uri="{9D8B030D-6E8A-4147-A177-3AD203B41FA5}">
                      <a16:colId xmlns:a16="http://schemas.microsoft.com/office/drawing/2014/main" val="1350758537"/>
                    </a:ext>
                  </a:extLst>
                </a:gridCol>
                <a:gridCol w="2896586">
                  <a:extLst>
                    <a:ext uri="{9D8B030D-6E8A-4147-A177-3AD203B41FA5}">
                      <a16:colId xmlns:a16="http://schemas.microsoft.com/office/drawing/2014/main" val="1654596371"/>
                    </a:ext>
                  </a:extLst>
                </a:gridCol>
              </a:tblGrid>
              <a:tr h="801417">
                <a:tc>
                  <a:txBody>
                    <a:bodyPr/>
                    <a:lstStyle/>
                    <a:p>
                      <a:r>
                        <a:rPr lang="en-US" sz="1300" dirty="0"/>
                        <a:t>Sr.No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Paper Name/title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Source</a:t>
                      </a:r>
                      <a:r>
                        <a:rPr lang="en-US" sz="1300" baseline="0" dirty="0"/>
                        <a:t> of paper/Year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Future Scope/shortcomings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636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A method for ethical AI in </a:t>
                      </a:r>
                      <a:r>
                        <a:rPr lang="en-US" sz="1300" dirty="0" err="1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defence</a:t>
                      </a:r>
                      <a:endParaRPr lang="en-US" sz="1300" b="1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ELSEVIER 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They involved embedding ethics-by-design principles, responsible research, and innovation-aligned approaches during development, ensuring stakeholder collaboration and high translation readiness levels.</a:t>
                      </a:r>
                      <a:endParaRPr lang="en-US" sz="1300" b="1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For future work it </a:t>
                      </a:r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includes enhancing transparency, accountability, ethical considerations, and adaptability. Shortcomings may involve bias, security, and ethical dilemmas.</a:t>
                      </a:r>
                      <a:endParaRPr lang="en-US" sz="1300" b="1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The findings highlight the importance of ethics-by-design and responsible research in developing trusted autonomous systems like Athena AI. Key themes include collaboration, transparency, accountability, and ensuring ethical principles at high technology readiness levels.</a:t>
                      </a:r>
                    </a:p>
                    <a:p>
                      <a:endParaRPr lang="en-US" sz="1300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Keywords: responsible research, ethics-by-design, trusted autonomous systems, Athena AI, collaboration, transparency, accountability, </a:t>
                      </a:r>
                      <a:r>
                        <a:rPr lang="en-US" sz="1300" dirty="0" err="1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Defence</a:t>
                      </a:r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technology.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090539"/>
                  </a:ext>
                </a:extLst>
              </a:tr>
              <a:tr h="1871162">
                <a:tc>
                  <a:txBody>
                    <a:bodyPr/>
                    <a:lstStyle/>
                    <a:p>
                      <a:r>
                        <a:rPr lang="en-US" sz="13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THE USE OF ARTIFICIAL INTELLIGENCE AND AUTONOMOUS WEAPON SYSTEMS IN MILITARY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SCIENDO</a:t>
                      </a:r>
                    </a:p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This includes leveraging artificial intelligence to process vast data rapidly for decision-making, target identification, adversary prediction, and minimizing human involvement in high-risk operations while ensuring efficiency.</a:t>
                      </a:r>
                      <a:endParaRPr lang="en-US" sz="1300" b="1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They improving AI reliability, enhancing human oversight, and refining ethical frameworks. Shortcomings involve potential loss of control, misuse risks, and challenges in ensuring accountability and civilian protection.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AI and autonomous weapon systems enhance military efficiency and decision-making, but raise ethical concerns regarding control and misuse. Key aspects include efficiency, autonomy, ethical challenges, and strategic benefits.</a:t>
                      </a:r>
                    </a:p>
                    <a:p>
                      <a:r>
                        <a:rPr lang="en-US" sz="1300" b="1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Keywords:</a:t>
                      </a:r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 AI, autonomous weapon systems, military efficiency, decision-making, ethical challenges, control, misuse, strategic benefits.</a:t>
                      </a:r>
                    </a:p>
                    <a:p>
                      <a:endParaRPr lang="en-US" sz="1300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568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906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F12181-C74C-914E-BB91-C5286AC54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543228"/>
              </p:ext>
            </p:extLst>
          </p:nvPr>
        </p:nvGraphicFramePr>
        <p:xfrm>
          <a:off x="1" y="747939"/>
          <a:ext cx="12191999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077">
                  <a:extLst>
                    <a:ext uri="{9D8B030D-6E8A-4147-A177-3AD203B41FA5}">
                      <a16:colId xmlns:a16="http://schemas.microsoft.com/office/drawing/2014/main" val="620856301"/>
                    </a:ext>
                  </a:extLst>
                </a:gridCol>
                <a:gridCol w="2408904">
                  <a:extLst>
                    <a:ext uri="{9D8B030D-6E8A-4147-A177-3AD203B41FA5}">
                      <a16:colId xmlns:a16="http://schemas.microsoft.com/office/drawing/2014/main" val="1387892649"/>
                    </a:ext>
                  </a:extLst>
                </a:gridCol>
                <a:gridCol w="1386348">
                  <a:extLst>
                    <a:ext uri="{9D8B030D-6E8A-4147-A177-3AD203B41FA5}">
                      <a16:colId xmlns:a16="http://schemas.microsoft.com/office/drawing/2014/main" val="3618352251"/>
                    </a:ext>
                  </a:extLst>
                </a:gridCol>
                <a:gridCol w="2600676">
                  <a:extLst>
                    <a:ext uri="{9D8B030D-6E8A-4147-A177-3AD203B41FA5}">
                      <a16:colId xmlns:a16="http://schemas.microsoft.com/office/drawing/2014/main" val="2356583290"/>
                    </a:ext>
                  </a:extLst>
                </a:gridCol>
                <a:gridCol w="2083408">
                  <a:extLst>
                    <a:ext uri="{9D8B030D-6E8A-4147-A177-3AD203B41FA5}">
                      <a16:colId xmlns:a16="http://schemas.microsoft.com/office/drawing/2014/main" val="859885024"/>
                    </a:ext>
                  </a:extLst>
                </a:gridCol>
                <a:gridCol w="2896586">
                  <a:extLst>
                    <a:ext uri="{9D8B030D-6E8A-4147-A177-3AD203B41FA5}">
                      <a16:colId xmlns:a16="http://schemas.microsoft.com/office/drawing/2014/main" val="2493489407"/>
                    </a:ext>
                  </a:extLst>
                </a:gridCol>
              </a:tblGrid>
              <a:tr h="124791">
                <a:tc>
                  <a:txBody>
                    <a:bodyPr/>
                    <a:lstStyle/>
                    <a:p>
                      <a:r>
                        <a:rPr lang="en-US" sz="1300" dirty="0"/>
                        <a:t>Sr.No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Paper Name/title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Source</a:t>
                      </a:r>
                      <a:r>
                        <a:rPr lang="en-US" sz="1300" baseline="0" dirty="0"/>
                        <a:t> of paper/Year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Future Scope/shortcomings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437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Artificial Intelligence, Weapons Systems and Human Control</a:t>
                      </a:r>
                      <a:endParaRPr lang="en-US" sz="1300" b="1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E-international Relation</a:t>
                      </a:r>
                    </a:p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study employs qualitative analysis of existing research, case studies of current AWS, and evaluation of ethical and legal implications regarding human-machine interaction in warfare.</a:t>
                      </a:r>
                      <a:endParaRPr lang="en-US" sz="1300" b="1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Further research should explore the evolving role of AI in AWS, focusing on regulatory frameworks and maintaining meaningful human control in increasingly autonomous systems.</a:t>
                      </a:r>
                      <a:endParaRPr lang="en-US" sz="1300" b="1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AI-driven autonomous weapons systems impact human control and remote warfare, challenging ethical and legal norms. Key aspects include autonomy, remote warfare, human-machine interaction, and regulatory issues.</a:t>
                      </a:r>
                    </a:p>
                    <a:p>
                      <a:r>
                        <a:rPr lang="en-US" sz="1400" b="1" dirty="0"/>
                        <a:t>Keywords:</a:t>
                      </a:r>
                      <a:r>
                        <a:rPr lang="en-US" sz="1400" dirty="0"/>
                        <a:t> AI, autonomous weapons systems, remote warfare, human control, ethical implications, legal issues, human-machine interaction, technology in warfare.</a:t>
                      </a:r>
                      <a:endParaRPr lang="en-US" sz="1300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753080"/>
                  </a:ext>
                </a:extLst>
              </a:tr>
              <a:tr h="1871162">
                <a:tc>
                  <a:txBody>
                    <a:bodyPr/>
                    <a:lstStyle/>
                    <a:p>
                      <a:r>
                        <a:rPr lang="en-US" sz="13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AI-based small arms firing skill evaluation system in the military domain</a:t>
                      </a:r>
                      <a:endParaRPr lang="en-US" sz="1300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 err="1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KeAi</a:t>
                      </a:r>
                      <a:endParaRPr lang="en-US" sz="1300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  <a:p>
                      <a:r>
                        <a:rPr lang="en-US" sz="13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study designs and develops an AI-based small arms firing evaluation system using image processing, machine learning, fuzzy systems, and linear regression to automate target evaluation and performance prediction.</a:t>
                      </a:r>
                      <a:endParaRPr lang="en-US" sz="1300" b="1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Explore integration with real-time feedback systems and enhancement of accuracy through advanced AI algorithms, incorporating broader military training scenarios for comprehensive evaluation.</a:t>
                      </a:r>
                      <a:endParaRPr lang="en-US" sz="1300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AI-based evaluation improves accuracy in small arms firing by automating target scoring and performance prediction. Key aspects include image processing, machine learning, fuzzy systems, and linear regression.</a:t>
                      </a:r>
                    </a:p>
                    <a:p>
                      <a:r>
                        <a:rPr lang="en-US" sz="1400" b="1" dirty="0"/>
                        <a:t>Keywords:</a:t>
                      </a:r>
                      <a:r>
                        <a:rPr lang="en-US" sz="1400" dirty="0"/>
                        <a:t> AI, small arms firing, image processing, machine learning, fuzzy systems, linear regression, target evaluation, military training, performance prediction, automation.</a:t>
                      </a:r>
                      <a:endParaRPr lang="en-US" sz="1300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228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688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EA6841-7290-37EE-C599-DA992EE2C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316362"/>
              </p:ext>
            </p:extLst>
          </p:nvPr>
        </p:nvGraphicFramePr>
        <p:xfrm>
          <a:off x="1" y="1324897"/>
          <a:ext cx="12191999" cy="4208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077">
                  <a:extLst>
                    <a:ext uri="{9D8B030D-6E8A-4147-A177-3AD203B41FA5}">
                      <a16:colId xmlns:a16="http://schemas.microsoft.com/office/drawing/2014/main" val="2033143749"/>
                    </a:ext>
                  </a:extLst>
                </a:gridCol>
                <a:gridCol w="2408904">
                  <a:extLst>
                    <a:ext uri="{9D8B030D-6E8A-4147-A177-3AD203B41FA5}">
                      <a16:colId xmlns:a16="http://schemas.microsoft.com/office/drawing/2014/main" val="3054208876"/>
                    </a:ext>
                  </a:extLst>
                </a:gridCol>
                <a:gridCol w="1386348">
                  <a:extLst>
                    <a:ext uri="{9D8B030D-6E8A-4147-A177-3AD203B41FA5}">
                      <a16:colId xmlns:a16="http://schemas.microsoft.com/office/drawing/2014/main" val="838292100"/>
                    </a:ext>
                  </a:extLst>
                </a:gridCol>
                <a:gridCol w="2600676">
                  <a:extLst>
                    <a:ext uri="{9D8B030D-6E8A-4147-A177-3AD203B41FA5}">
                      <a16:colId xmlns:a16="http://schemas.microsoft.com/office/drawing/2014/main" val="325721662"/>
                    </a:ext>
                  </a:extLst>
                </a:gridCol>
                <a:gridCol w="2083408">
                  <a:extLst>
                    <a:ext uri="{9D8B030D-6E8A-4147-A177-3AD203B41FA5}">
                      <a16:colId xmlns:a16="http://schemas.microsoft.com/office/drawing/2014/main" val="908157556"/>
                    </a:ext>
                  </a:extLst>
                </a:gridCol>
                <a:gridCol w="2896586">
                  <a:extLst>
                    <a:ext uri="{9D8B030D-6E8A-4147-A177-3AD203B41FA5}">
                      <a16:colId xmlns:a16="http://schemas.microsoft.com/office/drawing/2014/main" val="2983023291"/>
                    </a:ext>
                  </a:extLst>
                </a:gridCol>
              </a:tblGrid>
              <a:tr h="1324442">
                <a:tc>
                  <a:txBody>
                    <a:bodyPr/>
                    <a:lstStyle/>
                    <a:p>
                      <a:r>
                        <a:rPr lang="en-US" sz="1300" dirty="0" err="1"/>
                        <a:t>Sr.No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Paper Name/title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Source</a:t>
                      </a:r>
                      <a:r>
                        <a:rPr lang="en-US" sz="1300" baseline="0"/>
                        <a:t> of paper/Year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Methodology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Future Scope/shortcomings</a:t>
                      </a:r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Findings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214756"/>
                  </a:ext>
                </a:extLst>
              </a:tr>
              <a:tr h="2883764">
                <a:tc>
                  <a:txBody>
                    <a:bodyPr/>
                    <a:lstStyle/>
                    <a:p>
                      <a:r>
                        <a:rPr lang="en-US" sz="13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Autonomous Weapons Systems, Artificial Intelligence, and the Problem of Meaningful Human Control </a:t>
                      </a:r>
                      <a:endParaRPr lang="en-US" sz="1400" b="1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PJCV</a:t>
                      </a:r>
                    </a:p>
                    <a:p>
                      <a:r>
                        <a:rPr lang="en-US" sz="1400" dirty="0">
                          <a:latin typeface="+mn-lt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article employs theoretical analysis to assess human control in AI-supported lethal autonomous weapon systems (LAWS), examining technological limitations and moral agency implications through existing literature and Wiener’s warnings.</a:t>
                      </a:r>
                      <a:endParaRPr lang="en-US" sz="1400" b="1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Further research should investigate solutions for maintaining human moral agency in LAWS and explore regulatory frameworks to address the ethical challenges posed by advanced AI technologies.</a:t>
                      </a:r>
                      <a:endParaRPr lang="en-US" sz="1400" b="1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Human control in AI-supported LAWS is increasingly compromised by technological features, limiting moral agency. Key aspects include AI, control, moral responsibility, weapon systems, and ethical challenges.</a:t>
                      </a:r>
                    </a:p>
                    <a:p>
                      <a:r>
                        <a:rPr lang="en-US" sz="1400" b="1" dirty="0"/>
                        <a:t>Keywords:</a:t>
                      </a:r>
                      <a:r>
                        <a:rPr lang="en-US" sz="1400" dirty="0"/>
                        <a:t> AI, autonomous weapons systems, human control, moral responsibility, ethical implications, technological limitations, lethal autonomous weapon systems, regulation.</a:t>
                      </a:r>
                      <a:endParaRPr lang="en-US" sz="1400" dirty="0">
                        <a:latin typeface="+mn-lt"/>
                        <a:ea typeface="ADLaM Display" panose="020F0502020204030204" pitchFamily="2" charset="0"/>
                        <a:cs typeface="ADLaM Display" panose="020F05020202040302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2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511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CD58F0-0BE1-8069-60F7-73079E692FCB}"/>
              </a:ext>
            </a:extLst>
          </p:cNvPr>
          <p:cNvSpPr txBox="1"/>
          <p:nvPr/>
        </p:nvSpPr>
        <p:spPr>
          <a:xfrm>
            <a:off x="1654629" y="391887"/>
            <a:ext cx="32993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i="1" u="sng" dirty="0"/>
              <a:t>Block Diagram</a:t>
            </a:r>
          </a:p>
          <a:p>
            <a:endParaRPr lang="en-IN" sz="4000" b="1" i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2E488B-4654-F3A2-E8AF-3A8459236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43" y="1978413"/>
            <a:ext cx="4513066" cy="41611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19BCE1-A3B1-280D-3D19-3A9D0EA3A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371" y="394745"/>
            <a:ext cx="5488286" cy="57230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A6C002-2219-2A25-92B1-857BDC687A2B}"/>
              </a:ext>
            </a:extLst>
          </p:cNvPr>
          <p:cNvSpPr txBox="1"/>
          <p:nvPr/>
        </p:nvSpPr>
        <p:spPr>
          <a:xfrm>
            <a:off x="979715" y="61177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https://ieeexplore.ieee.org/document/9885601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C5941-AFE7-F5F2-5E5A-4BE06F6E4EA1}"/>
              </a:ext>
            </a:extLst>
          </p:cNvPr>
          <p:cNvSpPr txBox="1"/>
          <p:nvPr/>
        </p:nvSpPr>
        <p:spPr>
          <a:xfrm>
            <a:off x="6216686" y="61177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https://ieeexplore.ieee.org/document/10493569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105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aphic 5">
            <a:extLst>
              <a:ext uri="{FF2B5EF4-FFF2-40B4-BE49-F238E27FC236}">
                <a16:creationId xmlns:a16="http://schemas.microsoft.com/office/drawing/2014/main" id="{7A6EFB22-D800-44FF-48B1-B8A93976AC0B}"/>
              </a:ext>
            </a:extLst>
          </p:cNvPr>
          <p:cNvGrpSpPr/>
          <p:nvPr/>
        </p:nvGrpSpPr>
        <p:grpSpPr>
          <a:xfrm>
            <a:off x="6720007" y="1939968"/>
            <a:ext cx="1127598" cy="1245632"/>
            <a:chOff x="6720007" y="1939968"/>
            <a:chExt cx="1127598" cy="1245632"/>
          </a:xfrm>
          <a:noFill/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776C5C8-88A8-94BF-3450-FEF43EB91D3F}"/>
                </a:ext>
              </a:extLst>
            </p:cNvPr>
            <p:cNvSpPr/>
            <p:nvPr/>
          </p:nvSpPr>
          <p:spPr>
            <a:xfrm>
              <a:off x="6965126" y="2532726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7"/>
                    <a:pt x="210717" y="271492"/>
                    <a:pt x="135746" y="271492"/>
                  </a:cubicBezTo>
                  <a:cubicBezTo>
                    <a:pt x="60776" y="271492"/>
                    <a:pt x="0" y="210717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7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1442C38-93BE-1789-39B8-6BFE932BC6A2}"/>
                </a:ext>
              </a:extLst>
            </p:cNvPr>
            <p:cNvSpPr/>
            <p:nvPr/>
          </p:nvSpPr>
          <p:spPr>
            <a:xfrm>
              <a:off x="6894667" y="1939968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7"/>
                    <a:pt x="210716" y="271492"/>
                    <a:pt x="135746" y="271492"/>
                  </a:cubicBezTo>
                  <a:cubicBezTo>
                    <a:pt x="60776" y="271492"/>
                    <a:pt x="0" y="210717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6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2D87943-E891-3E87-4898-62219603A28B}"/>
                </a:ext>
              </a:extLst>
            </p:cNvPr>
            <p:cNvSpPr/>
            <p:nvPr/>
          </p:nvSpPr>
          <p:spPr>
            <a:xfrm>
              <a:off x="7576113" y="2179011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7"/>
                    <a:pt x="210716" y="271492"/>
                    <a:pt x="135746" y="271492"/>
                  </a:cubicBezTo>
                  <a:cubicBezTo>
                    <a:pt x="60776" y="271492"/>
                    <a:pt x="0" y="210717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6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0ED9F5-BFE6-93D2-4825-C59047C57B51}"/>
                </a:ext>
              </a:extLst>
            </p:cNvPr>
            <p:cNvSpPr/>
            <p:nvPr/>
          </p:nvSpPr>
          <p:spPr>
            <a:xfrm>
              <a:off x="6720007" y="2774225"/>
              <a:ext cx="313250" cy="411375"/>
            </a:xfrm>
            <a:custGeom>
              <a:avLst/>
              <a:gdLst>
                <a:gd name="connsiteX0" fmla="*/ 0 w 313250"/>
                <a:gd name="connsiteY0" fmla="*/ 411375 h 411375"/>
                <a:gd name="connsiteX1" fmla="*/ 313250 w 313250"/>
                <a:gd name="connsiteY1" fmla="*/ 0 h 41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3250" h="411375">
                  <a:moveTo>
                    <a:pt x="0" y="411375"/>
                  </a:moveTo>
                  <a:lnTo>
                    <a:pt x="313250" y="0"/>
                  </a:lnTo>
                </a:path>
              </a:pathLst>
            </a:custGeom>
            <a:ln w="387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D4848DB-C147-AEC9-8383-CCF42841F982}"/>
                </a:ext>
              </a:extLst>
            </p:cNvPr>
            <p:cNvSpPr/>
            <p:nvPr/>
          </p:nvSpPr>
          <p:spPr>
            <a:xfrm>
              <a:off x="7044376" y="2205772"/>
              <a:ext cx="45377" cy="323980"/>
            </a:xfrm>
            <a:custGeom>
              <a:avLst/>
              <a:gdLst>
                <a:gd name="connsiteX0" fmla="*/ 45378 w 45377"/>
                <a:gd name="connsiteY0" fmla="*/ 323981 h 323980"/>
                <a:gd name="connsiteX1" fmla="*/ 0 w 45377"/>
                <a:gd name="connsiteY1" fmla="*/ 0 h 32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377" h="323980">
                  <a:moveTo>
                    <a:pt x="45378" y="323981"/>
                  </a:moveTo>
                  <a:lnTo>
                    <a:pt x="0" y="0"/>
                  </a:lnTo>
                </a:path>
              </a:pathLst>
            </a:custGeom>
            <a:ln w="387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390F01D-CAC9-3AD7-E917-FE7A4790E182}"/>
                </a:ext>
              </a:extLst>
            </p:cNvPr>
            <p:cNvSpPr/>
            <p:nvPr/>
          </p:nvSpPr>
          <p:spPr>
            <a:xfrm>
              <a:off x="7216709" y="2380949"/>
              <a:ext cx="376469" cy="230122"/>
            </a:xfrm>
            <a:custGeom>
              <a:avLst/>
              <a:gdLst>
                <a:gd name="connsiteX0" fmla="*/ 376469 w 376469"/>
                <a:gd name="connsiteY0" fmla="*/ 0 h 230122"/>
                <a:gd name="connsiteX1" fmla="*/ 0 w 376469"/>
                <a:gd name="connsiteY1" fmla="*/ 230122 h 230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6469" h="230122">
                  <a:moveTo>
                    <a:pt x="376469" y="0"/>
                  </a:moveTo>
                  <a:lnTo>
                    <a:pt x="0" y="230122"/>
                  </a:lnTo>
                </a:path>
              </a:pathLst>
            </a:custGeom>
            <a:ln w="38729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7" name="Graphic 5">
            <a:extLst>
              <a:ext uri="{FF2B5EF4-FFF2-40B4-BE49-F238E27FC236}">
                <a16:creationId xmlns:a16="http://schemas.microsoft.com/office/drawing/2014/main" id="{1DF5CE46-AF74-79CA-CF06-8181A5EDA412}"/>
              </a:ext>
            </a:extLst>
          </p:cNvPr>
          <p:cNvGrpSpPr/>
          <p:nvPr/>
        </p:nvGrpSpPr>
        <p:grpSpPr>
          <a:xfrm>
            <a:off x="7075533" y="4190898"/>
            <a:ext cx="1287261" cy="993532"/>
            <a:chOff x="7075533" y="4190898"/>
            <a:chExt cx="1287261" cy="993532"/>
          </a:xfrm>
          <a:noFill/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2E0B432-1A7C-8A7A-56FC-8E37ADE850A8}"/>
                </a:ext>
              </a:extLst>
            </p:cNvPr>
            <p:cNvSpPr/>
            <p:nvPr/>
          </p:nvSpPr>
          <p:spPr>
            <a:xfrm>
              <a:off x="7548964" y="4440541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6"/>
                    <a:pt x="210717" y="271492"/>
                    <a:pt x="135746" y="271492"/>
                  </a:cubicBezTo>
                  <a:cubicBezTo>
                    <a:pt x="60776" y="271492"/>
                    <a:pt x="0" y="210716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7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3A9616-29C4-3E6F-FA1B-0600BCE378B6}"/>
                </a:ext>
              </a:extLst>
            </p:cNvPr>
            <p:cNvSpPr/>
            <p:nvPr/>
          </p:nvSpPr>
          <p:spPr>
            <a:xfrm>
              <a:off x="8091302" y="4190898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6"/>
                    <a:pt x="210716" y="271492"/>
                    <a:pt x="135746" y="271492"/>
                  </a:cubicBezTo>
                  <a:cubicBezTo>
                    <a:pt x="60776" y="271492"/>
                    <a:pt x="0" y="210716"/>
                    <a:pt x="0" y="135746"/>
                  </a:cubicBezTo>
                  <a:cubicBezTo>
                    <a:pt x="0" y="60775"/>
                    <a:pt x="60776" y="0"/>
                    <a:pt x="135746" y="0"/>
                  </a:cubicBezTo>
                  <a:cubicBezTo>
                    <a:pt x="210716" y="0"/>
                    <a:pt x="271492" y="60775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7427A11-8D78-91A8-C389-4945D884E0B4}"/>
                </a:ext>
              </a:extLst>
            </p:cNvPr>
            <p:cNvSpPr/>
            <p:nvPr/>
          </p:nvSpPr>
          <p:spPr>
            <a:xfrm>
              <a:off x="8073720" y="4912938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7"/>
                    <a:pt x="210717" y="271492"/>
                    <a:pt x="135746" y="271492"/>
                  </a:cubicBezTo>
                  <a:cubicBezTo>
                    <a:pt x="60776" y="271492"/>
                    <a:pt x="0" y="210717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7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75F60C3-5E8E-6221-77AE-9AD372F89602}"/>
                </a:ext>
              </a:extLst>
            </p:cNvPr>
            <p:cNvSpPr/>
            <p:nvPr/>
          </p:nvSpPr>
          <p:spPr>
            <a:xfrm>
              <a:off x="7075533" y="4373056"/>
              <a:ext cx="487910" cy="171427"/>
            </a:xfrm>
            <a:custGeom>
              <a:avLst/>
              <a:gdLst>
                <a:gd name="connsiteX0" fmla="*/ 0 w 487910"/>
                <a:gd name="connsiteY0" fmla="*/ 0 h 171427"/>
                <a:gd name="connsiteX1" fmla="*/ 487911 w 487910"/>
                <a:gd name="connsiteY1" fmla="*/ 171428 h 17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7910" h="171427">
                  <a:moveTo>
                    <a:pt x="0" y="0"/>
                  </a:moveTo>
                  <a:lnTo>
                    <a:pt x="487911" y="171428"/>
                  </a:lnTo>
                </a:path>
              </a:pathLst>
            </a:custGeom>
            <a:ln w="38729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989813-E8DF-C7C3-C001-5EDD64BE6EC9}"/>
                </a:ext>
              </a:extLst>
            </p:cNvPr>
            <p:cNvSpPr/>
            <p:nvPr/>
          </p:nvSpPr>
          <p:spPr>
            <a:xfrm>
              <a:off x="7813346" y="4380037"/>
              <a:ext cx="294245" cy="142856"/>
            </a:xfrm>
            <a:custGeom>
              <a:avLst/>
              <a:gdLst>
                <a:gd name="connsiteX0" fmla="*/ 0 w 294245"/>
                <a:gd name="connsiteY0" fmla="*/ 142856 h 142856"/>
                <a:gd name="connsiteX1" fmla="*/ 294246 w 294245"/>
                <a:gd name="connsiteY1" fmla="*/ 0 h 142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4245" h="142856">
                  <a:moveTo>
                    <a:pt x="0" y="142856"/>
                  </a:moveTo>
                  <a:lnTo>
                    <a:pt x="294246" y="0"/>
                  </a:lnTo>
                </a:path>
              </a:pathLst>
            </a:custGeom>
            <a:ln w="38729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603D118-B9CC-C5C6-2C12-9591A127DB96}"/>
                </a:ext>
              </a:extLst>
            </p:cNvPr>
            <p:cNvSpPr/>
            <p:nvPr/>
          </p:nvSpPr>
          <p:spPr>
            <a:xfrm>
              <a:off x="7775078" y="4668724"/>
              <a:ext cx="334840" cy="287393"/>
            </a:xfrm>
            <a:custGeom>
              <a:avLst/>
              <a:gdLst>
                <a:gd name="connsiteX0" fmla="*/ 334840 w 334840"/>
                <a:gd name="connsiteY0" fmla="*/ 287394 h 287393"/>
                <a:gd name="connsiteX1" fmla="*/ 0 w 334840"/>
                <a:gd name="connsiteY1" fmla="*/ 0 h 287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4840" h="287393">
                  <a:moveTo>
                    <a:pt x="334840" y="287394"/>
                  </a:moveTo>
                  <a:lnTo>
                    <a:pt x="0" y="0"/>
                  </a:lnTo>
                </a:path>
              </a:pathLst>
            </a:custGeom>
            <a:ln w="38729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4" name="Graphic 5">
            <a:extLst>
              <a:ext uri="{FF2B5EF4-FFF2-40B4-BE49-F238E27FC236}">
                <a16:creationId xmlns:a16="http://schemas.microsoft.com/office/drawing/2014/main" id="{A2EB8334-89E9-0887-4E3C-3148A00162D3}"/>
              </a:ext>
            </a:extLst>
          </p:cNvPr>
          <p:cNvGrpSpPr/>
          <p:nvPr/>
        </p:nvGrpSpPr>
        <p:grpSpPr>
          <a:xfrm>
            <a:off x="5625893" y="5076997"/>
            <a:ext cx="963926" cy="1422619"/>
            <a:chOff x="5625893" y="5076997"/>
            <a:chExt cx="963926" cy="1422619"/>
          </a:xfrm>
          <a:noFill/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FAB2D0F-E09E-AF1D-95F8-AC5B6760E1FC}"/>
                </a:ext>
              </a:extLst>
            </p:cNvPr>
            <p:cNvSpPr/>
            <p:nvPr/>
          </p:nvSpPr>
          <p:spPr>
            <a:xfrm>
              <a:off x="5913804" y="5583524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6"/>
                    <a:pt x="210717" y="271492"/>
                    <a:pt x="135746" y="271492"/>
                  </a:cubicBezTo>
                  <a:cubicBezTo>
                    <a:pt x="60776" y="271492"/>
                    <a:pt x="0" y="210716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7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C52D406-0F07-E127-3C27-818ADB84C31C}"/>
                </a:ext>
              </a:extLst>
            </p:cNvPr>
            <p:cNvSpPr/>
            <p:nvPr/>
          </p:nvSpPr>
          <p:spPr>
            <a:xfrm>
              <a:off x="6318328" y="6022566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6"/>
                    <a:pt x="210717" y="271492"/>
                    <a:pt x="135746" y="271492"/>
                  </a:cubicBezTo>
                  <a:cubicBezTo>
                    <a:pt x="60776" y="271492"/>
                    <a:pt x="0" y="210716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7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7195757-4206-FC21-14A9-CF43FA075741}"/>
                </a:ext>
              </a:extLst>
            </p:cNvPr>
            <p:cNvSpPr/>
            <p:nvPr/>
          </p:nvSpPr>
          <p:spPr>
            <a:xfrm>
              <a:off x="5625893" y="6228124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7"/>
                    <a:pt x="210717" y="271492"/>
                    <a:pt x="135746" y="271492"/>
                  </a:cubicBezTo>
                  <a:cubicBezTo>
                    <a:pt x="60775" y="271492"/>
                    <a:pt x="0" y="210717"/>
                    <a:pt x="0" y="135746"/>
                  </a:cubicBezTo>
                  <a:cubicBezTo>
                    <a:pt x="0" y="60776"/>
                    <a:pt x="60775" y="0"/>
                    <a:pt x="135746" y="0"/>
                  </a:cubicBezTo>
                  <a:cubicBezTo>
                    <a:pt x="210717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A486F1C-9FBA-3E03-1E16-ADA4C33BF76C}"/>
                </a:ext>
              </a:extLst>
            </p:cNvPr>
            <p:cNvSpPr/>
            <p:nvPr/>
          </p:nvSpPr>
          <p:spPr>
            <a:xfrm>
              <a:off x="6042311" y="5076997"/>
              <a:ext cx="12928" cy="516998"/>
            </a:xfrm>
            <a:custGeom>
              <a:avLst/>
              <a:gdLst>
                <a:gd name="connsiteX0" fmla="*/ 12928 w 12928"/>
                <a:gd name="connsiteY0" fmla="*/ 0 h 516998"/>
                <a:gd name="connsiteX1" fmla="*/ 0 w 12928"/>
                <a:gd name="connsiteY1" fmla="*/ 516999 h 516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928" h="516998">
                  <a:moveTo>
                    <a:pt x="12928" y="0"/>
                  </a:moveTo>
                  <a:lnTo>
                    <a:pt x="0" y="516999"/>
                  </a:lnTo>
                </a:path>
              </a:pathLst>
            </a:custGeom>
            <a:ln w="38729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729E50D-BC4D-BECE-BACB-F1B1A496FC90}"/>
                </a:ext>
              </a:extLst>
            </p:cNvPr>
            <p:cNvSpPr/>
            <p:nvPr/>
          </p:nvSpPr>
          <p:spPr>
            <a:xfrm>
              <a:off x="6139919" y="5825152"/>
              <a:ext cx="226502" cy="235939"/>
            </a:xfrm>
            <a:custGeom>
              <a:avLst/>
              <a:gdLst>
                <a:gd name="connsiteX0" fmla="*/ 0 w 226502"/>
                <a:gd name="connsiteY0" fmla="*/ 0 h 235939"/>
                <a:gd name="connsiteX1" fmla="*/ 226502 w 226502"/>
                <a:gd name="connsiteY1" fmla="*/ 235940 h 23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502" h="235939">
                  <a:moveTo>
                    <a:pt x="0" y="0"/>
                  </a:moveTo>
                  <a:lnTo>
                    <a:pt x="226502" y="235940"/>
                  </a:lnTo>
                </a:path>
              </a:pathLst>
            </a:custGeom>
            <a:ln w="38729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2061E01-0AA8-A735-DA44-A69D6E15296D}"/>
                </a:ext>
              </a:extLst>
            </p:cNvPr>
            <p:cNvSpPr/>
            <p:nvPr/>
          </p:nvSpPr>
          <p:spPr>
            <a:xfrm>
              <a:off x="5819041" y="5833685"/>
              <a:ext cx="170264" cy="407109"/>
            </a:xfrm>
            <a:custGeom>
              <a:avLst/>
              <a:gdLst>
                <a:gd name="connsiteX0" fmla="*/ 0 w 170264"/>
                <a:gd name="connsiteY0" fmla="*/ 407109 h 407109"/>
                <a:gd name="connsiteX1" fmla="*/ 170264 w 170264"/>
                <a:gd name="connsiteY1" fmla="*/ 0 h 40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264" h="407109">
                  <a:moveTo>
                    <a:pt x="0" y="407109"/>
                  </a:moveTo>
                  <a:lnTo>
                    <a:pt x="170264" y="0"/>
                  </a:lnTo>
                </a:path>
              </a:pathLst>
            </a:custGeom>
            <a:ln w="38729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" name="Graphic 5">
            <a:extLst>
              <a:ext uri="{FF2B5EF4-FFF2-40B4-BE49-F238E27FC236}">
                <a16:creationId xmlns:a16="http://schemas.microsoft.com/office/drawing/2014/main" id="{711E1DB1-1445-C65E-6125-224FFE76181C}"/>
              </a:ext>
            </a:extLst>
          </p:cNvPr>
          <p:cNvGrpSpPr/>
          <p:nvPr/>
        </p:nvGrpSpPr>
        <p:grpSpPr>
          <a:xfrm>
            <a:off x="3620729" y="4304278"/>
            <a:ext cx="1450544" cy="866965"/>
            <a:chOff x="3620729" y="4304278"/>
            <a:chExt cx="1450544" cy="866965"/>
          </a:xfrm>
          <a:noFill/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D602758-6FDA-0A1D-7767-E2B66D55438D}"/>
                </a:ext>
              </a:extLst>
            </p:cNvPr>
            <p:cNvSpPr/>
            <p:nvPr/>
          </p:nvSpPr>
          <p:spPr>
            <a:xfrm>
              <a:off x="4322730" y="4379650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7"/>
                    <a:pt x="210717" y="271492"/>
                    <a:pt x="135746" y="271492"/>
                  </a:cubicBezTo>
                  <a:cubicBezTo>
                    <a:pt x="60776" y="271492"/>
                    <a:pt x="0" y="210717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7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49F10C2-39B3-6377-956E-3DA8A2A8142E}"/>
                </a:ext>
              </a:extLst>
            </p:cNvPr>
            <p:cNvSpPr/>
            <p:nvPr/>
          </p:nvSpPr>
          <p:spPr>
            <a:xfrm>
              <a:off x="4029648" y="4899751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7"/>
                    <a:pt x="210717" y="271492"/>
                    <a:pt x="135746" y="271492"/>
                  </a:cubicBezTo>
                  <a:cubicBezTo>
                    <a:pt x="60776" y="271492"/>
                    <a:pt x="0" y="210717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7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A3DF403-2922-CE61-99B9-3A8C67BCEFCA}"/>
                </a:ext>
              </a:extLst>
            </p:cNvPr>
            <p:cNvSpPr/>
            <p:nvPr/>
          </p:nvSpPr>
          <p:spPr>
            <a:xfrm>
              <a:off x="3620729" y="4304278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7"/>
                    <a:pt x="210717" y="271492"/>
                    <a:pt x="135746" y="271492"/>
                  </a:cubicBezTo>
                  <a:cubicBezTo>
                    <a:pt x="60776" y="271492"/>
                    <a:pt x="0" y="210717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7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BC93524-86DD-5C53-3524-7182102D5001}"/>
                </a:ext>
              </a:extLst>
            </p:cNvPr>
            <p:cNvSpPr/>
            <p:nvPr/>
          </p:nvSpPr>
          <p:spPr>
            <a:xfrm>
              <a:off x="4575477" y="4323153"/>
              <a:ext cx="495796" cy="146864"/>
            </a:xfrm>
            <a:custGeom>
              <a:avLst/>
              <a:gdLst>
                <a:gd name="connsiteX0" fmla="*/ 495797 w 495796"/>
                <a:gd name="connsiteY0" fmla="*/ 0 h 146864"/>
                <a:gd name="connsiteX1" fmla="*/ 0 w 495796"/>
                <a:gd name="connsiteY1" fmla="*/ 146864 h 14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796" h="146864">
                  <a:moveTo>
                    <a:pt x="495797" y="0"/>
                  </a:moveTo>
                  <a:lnTo>
                    <a:pt x="0" y="146864"/>
                  </a:lnTo>
                </a:path>
              </a:pathLst>
            </a:custGeom>
            <a:ln w="38729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572FB6B-13C2-03AC-FED5-3F1026873F78}"/>
                </a:ext>
              </a:extLst>
            </p:cNvPr>
            <p:cNvSpPr/>
            <p:nvPr/>
          </p:nvSpPr>
          <p:spPr>
            <a:xfrm>
              <a:off x="4230811" y="4634077"/>
              <a:ext cx="154750" cy="288040"/>
            </a:xfrm>
            <a:custGeom>
              <a:avLst/>
              <a:gdLst>
                <a:gd name="connsiteX0" fmla="*/ 154751 w 154750"/>
                <a:gd name="connsiteY0" fmla="*/ 0 h 288040"/>
                <a:gd name="connsiteX1" fmla="*/ 0 w 154750"/>
                <a:gd name="connsiteY1" fmla="*/ 288040 h 288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4750" h="288040">
                  <a:moveTo>
                    <a:pt x="154751" y="0"/>
                  </a:moveTo>
                  <a:lnTo>
                    <a:pt x="0" y="288040"/>
                  </a:lnTo>
                </a:path>
              </a:pathLst>
            </a:custGeom>
            <a:ln w="38729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F53FE26-552A-37A2-BA2F-F6D4E336AB5C}"/>
                </a:ext>
              </a:extLst>
            </p:cNvPr>
            <p:cNvSpPr/>
            <p:nvPr/>
          </p:nvSpPr>
          <p:spPr>
            <a:xfrm>
              <a:off x="3891445" y="4456831"/>
              <a:ext cx="439688" cy="36586"/>
            </a:xfrm>
            <a:custGeom>
              <a:avLst/>
              <a:gdLst>
                <a:gd name="connsiteX0" fmla="*/ 0 w 439688"/>
                <a:gd name="connsiteY0" fmla="*/ 0 h 36586"/>
                <a:gd name="connsiteX1" fmla="*/ 439688 w 439688"/>
                <a:gd name="connsiteY1" fmla="*/ 36587 h 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9688" h="36586">
                  <a:moveTo>
                    <a:pt x="0" y="0"/>
                  </a:moveTo>
                  <a:lnTo>
                    <a:pt x="439688" y="36587"/>
                  </a:lnTo>
                </a:path>
              </a:pathLst>
            </a:custGeom>
            <a:ln w="38729" cap="flat">
              <a:solidFill>
                <a:schemeClr val="accent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8" name="Graphic 5">
            <a:extLst>
              <a:ext uri="{FF2B5EF4-FFF2-40B4-BE49-F238E27FC236}">
                <a16:creationId xmlns:a16="http://schemas.microsoft.com/office/drawing/2014/main" id="{35B39102-F249-B561-A4DB-B9C9D2D587B4}"/>
              </a:ext>
            </a:extLst>
          </p:cNvPr>
          <p:cNvGrpSpPr/>
          <p:nvPr/>
        </p:nvGrpSpPr>
        <p:grpSpPr>
          <a:xfrm>
            <a:off x="4393060" y="1804222"/>
            <a:ext cx="1092562" cy="1350609"/>
            <a:chOff x="4393060" y="1804222"/>
            <a:chExt cx="1092562" cy="1350609"/>
          </a:xfrm>
          <a:noFill/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02112D0-42A1-3964-CDEF-7D12B170AC4D}"/>
                </a:ext>
              </a:extLst>
            </p:cNvPr>
            <p:cNvSpPr/>
            <p:nvPr/>
          </p:nvSpPr>
          <p:spPr>
            <a:xfrm>
              <a:off x="4978190" y="2495364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7"/>
                    <a:pt x="210717" y="271492"/>
                    <a:pt x="135746" y="271492"/>
                  </a:cubicBezTo>
                  <a:cubicBezTo>
                    <a:pt x="60776" y="271492"/>
                    <a:pt x="0" y="210717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7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09704E7-D65C-C30E-2DE3-8E964773BEE6}"/>
                </a:ext>
              </a:extLst>
            </p:cNvPr>
            <p:cNvSpPr/>
            <p:nvPr/>
          </p:nvSpPr>
          <p:spPr>
            <a:xfrm>
              <a:off x="4393060" y="2376554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7"/>
                    <a:pt x="210717" y="271492"/>
                    <a:pt x="135746" y="271492"/>
                  </a:cubicBezTo>
                  <a:cubicBezTo>
                    <a:pt x="60776" y="271492"/>
                    <a:pt x="0" y="210717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7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0B55E68-8B04-366F-DAAB-5C55CD68DD34}"/>
                </a:ext>
              </a:extLst>
            </p:cNvPr>
            <p:cNvSpPr/>
            <p:nvPr/>
          </p:nvSpPr>
          <p:spPr>
            <a:xfrm>
              <a:off x="4833653" y="1804222"/>
              <a:ext cx="271492" cy="271492"/>
            </a:xfrm>
            <a:custGeom>
              <a:avLst/>
              <a:gdLst>
                <a:gd name="connsiteX0" fmla="*/ 271492 w 271492"/>
                <a:gd name="connsiteY0" fmla="*/ 135746 h 271492"/>
                <a:gd name="connsiteX1" fmla="*/ 135746 w 271492"/>
                <a:gd name="connsiteY1" fmla="*/ 271492 h 271492"/>
                <a:gd name="connsiteX2" fmla="*/ 0 w 271492"/>
                <a:gd name="connsiteY2" fmla="*/ 135746 h 271492"/>
                <a:gd name="connsiteX3" fmla="*/ 135746 w 271492"/>
                <a:gd name="connsiteY3" fmla="*/ 0 h 271492"/>
                <a:gd name="connsiteX4" fmla="*/ 271492 w 271492"/>
                <a:gd name="connsiteY4" fmla="*/ 135746 h 27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492" h="271492">
                  <a:moveTo>
                    <a:pt x="271492" y="135746"/>
                  </a:moveTo>
                  <a:cubicBezTo>
                    <a:pt x="271492" y="210717"/>
                    <a:pt x="210717" y="271492"/>
                    <a:pt x="135746" y="271492"/>
                  </a:cubicBezTo>
                  <a:cubicBezTo>
                    <a:pt x="60776" y="271492"/>
                    <a:pt x="0" y="210717"/>
                    <a:pt x="0" y="135746"/>
                  </a:cubicBezTo>
                  <a:cubicBezTo>
                    <a:pt x="0" y="60776"/>
                    <a:pt x="60776" y="0"/>
                    <a:pt x="135746" y="0"/>
                  </a:cubicBezTo>
                  <a:cubicBezTo>
                    <a:pt x="210717" y="0"/>
                    <a:pt x="271492" y="60776"/>
                    <a:pt x="271492" y="135746"/>
                  </a:cubicBezTo>
                  <a:close/>
                </a:path>
              </a:pathLst>
            </a:custGeom>
            <a:noFill/>
            <a:ln w="38729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90E9E14-E305-75A3-5CCC-EEAA7837C1AC}"/>
                </a:ext>
              </a:extLst>
            </p:cNvPr>
            <p:cNvSpPr/>
            <p:nvPr/>
          </p:nvSpPr>
          <p:spPr>
            <a:xfrm>
              <a:off x="5193057" y="2728330"/>
              <a:ext cx="292565" cy="426501"/>
            </a:xfrm>
            <a:custGeom>
              <a:avLst/>
              <a:gdLst>
                <a:gd name="connsiteX0" fmla="*/ 292565 w 292565"/>
                <a:gd name="connsiteY0" fmla="*/ 426501 h 426501"/>
                <a:gd name="connsiteX1" fmla="*/ 0 w 292565"/>
                <a:gd name="connsiteY1" fmla="*/ 0 h 42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2565" h="426501">
                  <a:moveTo>
                    <a:pt x="292565" y="426501"/>
                  </a:moveTo>
                  <a:lnTo>
                    <a:pt x="0" y="0"/>
                  </a:lnTo>
                </a:path>
              </a:pathLst>
            </a:custGeom>
            <a:ln w="38729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A441CA5-5DDF-EE8A-9E40-4AF7448F4D0B}"/>
                </a:ext>
              </a:extLst>
            </p:cNvPr>
            <p:cNvSpPr/>
            <p:nvPr/>
          </p:nvSpPr>
          <p:spPr>
            <a:xfrm>
              <a:off x="4656795" y="2539708"/>
              <a:ext cx="321783" cy="58435"/>
            </a:xfrm>
            <a:custGeom>
              <a:avLst/>
              <a:gdLst>
                <a:gd name="connsiteX0" fmla="*/ 321783 w 321783"/>
                <a:gd name="connsiteY0" fmla="*/ 58436 h 58435"/>
                <a:gd name="connsiteX1" fmla="*/ 0 w 321783"/>
                <a:gd name="connsiteY1" fmla="*/ 0 h 58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1783" h="58435">
                  <a:moveTo>
                    <a:pt x="321783" y="58436"/>
                  </a:moveTo>
                  <a:lnTo>
                    <a:pt x="0" y="0"/>
                  </a:lnTo>
                </a:path>
              </a:pathLst>
            </a:custGeom>
            <a:ln w="38729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40A9FD7-7B08-0388-721F-EACF31AD7191}"/>
                </a:ext>
              </a:extLst>
            </p:cNvPr>
            <p:cNvSpPr/>
            <p:nvPr/>
          </p:nvSpPr>
          <p:spPr>
            <a:xfrm>
              <a:off x="4994997" y="2073387"/>
              <a:ext cx="100581" cy="429733"/>
            </a:xfrm>
            <a:custGeom>
              <a:avLst/>
              <a:gdLst>
                <a:gd name="connsiteX0" fmla="*/ 0 w 100581"/>
                <a:gd name="connsiteY0" fmla="*/ 0 h 429733"/>
                <a:gd name="connsiteX1" fmla="*/ 100582 w 100581"/>
                <a:gd name="connsiteY1" fmla="*/ 429733 h 429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581" h="429733">
                  <a:moveTo>
                    <a:pt x="0" y="0"/>
                  </a:moveTo>
                  <a:lnTo>
                    <a:pt x="100582" y="429733"/>
                  </a:lnTo>
                </a:path>
              </a:pathLst>
            </a:custGeom>
            <a:ln w="38729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Title 3">
            <a:extLst>
              <a:ext uri="{FF2B5EF4-FFF2-40B4-BE49-F238E27FC236}">
                <a16:creationId xmlns:a16="http://schemas.microsoft.com/office/drawing/2014/main" id="{550CFCEA-628B-F022-14F1-FFD48BDA8444}"/>
              </a:ext>
            </a:extLst>
          </p:cNvPr>
          <p:cNvSpPr txBox="1">
            <a:spLocks/>
          </p:cNvSpPr>
          <p:nvPr/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CA39CCE-7717-9AE9-0CC4-15755D043EC3}"/>
              </a:ext>
            </a:extLst>
          </p:cNvPr>
          <p:cNvSpPr/>
          <p:nvPr/>
        </p:nvSpPr>
        <p:spPr>
          <a:xfrm>
            <a:off x="5654853" y="1153675"/>
            <a:ext cx="879117" cy="879117"/>
          </a:xfrm>
          <a:custGeom>
            <a:avLst/>
            <a:gdLst>
              <a:gd name="connsiteX0" fmla="*/ 879118 w 879117"/>
              <a:gd name="connsiteY0" fmla="*/ 439559 h 879117"/>
              <a:gd name="connsiteX1" fmla="*/ 439559 w 879117"/>
              <a:gd name="connsiteY1" fmla="*/ 879118 h 879117"/>
              <a:gd name="connsiteX2" fmla="*/ 0 w 879117"/>
              <a:gd name="connsiteY2" fmla="*/ 439559 h 879117"/>
              <a:gd name="connsiteX3" fmla="*/ 439559 w 879117"/>
              <a:gd name="connsiteY3" fmla="*/ 0 h 879117"/>
              <a:gd name="connsiteX4" fmla="*/ 879118 w 879117"/>
              <a:gd name="connsiteY4" fmla="*/ 439559 h 879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117" h="879117">
                <a:moveTo>
                  <a:pt x="879118" y="439559"/>
                </a:moveTo>
                <a:cubicBezTo>
                  <a:pt x="879118" y="682321"/>
                  <a:pt x="682321" y="879118"/>
                  <a:pt x="439559" y="879118"/>
                </a:cubicBezTo>
                <a:cubicBezTo>
                  <a:pt x="196797" y="879118"/>
                  <a:pt x="0" y="682321"/>
                  <a:pt x="0" y="439559"/>
                </a:cubicBezTo>
                <a:cubicBezTo>
                  <a:pt x="0" y="196797"/>
                  <a:pt x="196797" y="0"/>
                  <a:pt x="439559" y="0"/>
                </a:cubicBezTo>
                <a:cubicBezTo>
                  <a:pt x="682321" y="0"/>
                  <a:pt x="879118" y="196797"/>
                  <a:pt x="879118" y="439559"/>
                </a:cubicBezTo>
                <a:close/>
              </a:path>
            </a:pathLst>
          </a:custGeom>
          <a:noFill/>
          <a:ln w="16782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8F92A888-D6B5-F9F7-AEE7-8C1DE57D6D31}"/>
              </a:ext>
            </a:extLst>
          </p:cNvPr>
          <p:cNvSpPr/>
          <p:nvPr/>
        </p:nvSpPr>
        <p:spPr>
          <a:xfrm>
            <a:off x="7969001" y="2808485"/>
            <a:ext cx="879117" cy="879117"/>
          </a:xfrm>
          <a:custGeom>
            <a:avLst/>
            <a:gdLst>
              <a:gd name="connsiteX0" fmla="*/ 879118 w 879117"/>
              <a:gd name="connsiteY0" fmla="*/ 439559 h 879117"/>
              <a:gd name="connsiteX1" fmla="*/ 439559 w 879117"/>
              <a:gd name="connsiteY1" fmla="*/ 879118 h 879117"/>
              <a:gd name="connsiteX2" fmla="*/ 0 w 879117"/>
              <a:gd name="connsiteY2" fmla="*/ 439559 h 879117"/>
              <a:gd name="connsiteX3" fmla="*/ 439559 w 879117"/>
              <a:gd name="connsiteY3" fmla="*/ 0 h 879117"/>
              <a:gd name="connsiteX4" fmla="*/ 879118 w 879117"/>
              <a:gd name="connsiteY4" fmla="*/ 439559 h 879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117" h="879117">
                <a:moveTo>
                  <a:pt x="879118" y="439559"/>
                </a:moveTo>
                <a:cubicBezTo>
                  <a:pt x="879118" y="682321"/>
                  <a:pt x="682321" y="879118"/>
                  <a:pt x="439559" y="879118"/>
                </a:cubicBezTo>
                <a:cubicBezTo>
                  <a:pt x="196797" y="879118"/>
                  <a:pt x="0" y="682321"/>
                  <a:pt x="0" y="439559"/>
                </a:cubicBezTo>
                <a:cubicBezTo>
                  <a:pt x="0" y="196797"/>
                  <a:pt x="196797" y="0"/>
                  <a:pt x="439559" y="0"/>
                </a:cubicBezTo>
                <a:cubicBezTo>
                  <a:pt x="682321" y="0"/>
                  <a:pt x="879118" y="196797"/>
                  <a:pt x="879118" y="439559"/>
                </a:cubicBezTo>
                <a:close/>
              </a:path>
            </a:pathLst>
          </a:custGeom>
          <a:noFill/>
          <a:ln w="167827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3378909-EE1B-0625-F7DE-F544F0A2CCD3}"/>
              </a:ext>
            </a:extLst>
          </p:cNvPr>
          <p:cNvSpPr/>
          <p:nvPr/>
        </p:nvSpPr>
        <p:spPr>
          <a:xfrm>
            <a:off x="3340704" y="2808485"/>
            <a:ext cx="879117" cy="879117"/>
          </a:xfrm>
          <a:custGeom>
            <a:avLst/>
            <a:gdLst>
              <a:gd name="connsiteX0" fmla="*/ 879118 w 879117"/>
              <a:gd name="connsiteY0" fmla="*/ 439559 h 879117"/>
              <a:gd name="connsiteX1" fmla="*/ 439559 w 879117"/>
              <a:gd name="connsiteY1" fmla="*/ 879118 h 879117"/>
              <a:gd name="connsiteX2" fmla="*/ 0 w 879117"/>
              <a:gd name="connsiteY2" fmla="*/ 439559 h 879117"/>
              <a:gd name="connsiteX3" fmla="*/ 439559 w 879117"/>
              <a:gd name="connsiteY3" fmla="*/ 0 h 879117"/>
              <a:gd name="connsiteX4" fmla="*/ 879118 w 879117"/>
              <a:gd name="connsiteY4" fmla="*/ 439559 h 879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117" h="879117">
                <a:moveTo>
                  <a:pt x="879118" y="439559"/>
                </a:moveTo>
                <a:cubicBezTo>
                  <a:pt x="879118" y="682321"/>
                  <a:pt x="682321" y="879118"/>
                  <a:pt x="439559" y="879118"/>
                </a:cubicBezTo>
                <a:cubicBezTo>
                  <a:pt x="196797" y="879118"/>
                  <a:pt x="0" y="682321"/>
                  <a:pt x="0" y="439559"/>
                </a:cubicBezTo>
                <a:cubicBezTo>
                  <a:pt x="0" y="196797"/>
                  <a:pt x="196797" y="0"/>
                  <a:pt x="439559" y="0"/>
                </a:cubicBezTo>
                <a:cubicBezTo>
                  <a:pt x="682321" y="0"/>
                  <a:pt x="879118" y="196797"/>
                  <a:pt x="879118" y="439559"/>
                </a:cubicBezTo>
                <a:close/>
              </a:path>
            </a:pathLst>
          </a:custGeom>
          <a:noFill/>
          <a:ln w="167827" cap="flat">
            <a:solidFill>
              <a:schemeClr val="accent6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215E0D6-A2C1-57CB-122D-FF65B406805F}"/>
              </a:ext>
            </a:extLst>
          </p:cNvPr>
          <p:cNvSpPr/>
          <p:nvPr/>
        </p:nvSpPr>
        <p:spPr>
          <a:xfrm>
            <a:off x="7076955" y="5562192"/>
            <a:ext cx="879117" cy="879117"/>
          </a:xfrm>
          <a:custGeom>
            <a:avLst/>
            <a:gdLst>
              <a:gd name="connsiteX0" fmla="*/ 879118 w 879117"/>
              <a:gd name="connsiteY0" fmla="*/ 439559 h 879117"/>
              <a:gd name="connsiteX1" fmla="*/ 439559 w 879117"/>
              <a:gd name="connsiteY1" fmla="*/ 879118 h 879117"/>
              <a:gd name="connsiteX2" fmla="*/ 0 w 879117"/>
              <a:gd name="connsiteY2" fmla="*/ 439559 h 879117"/>
              <a:gd name="connsiteX3" fmla="*/ 439559 w 879117"/>
              <a:gd name="connsiteY3" fmla="*/ 0 h 879117"/>
              <a:gd name="connsiteX4" fmla="*/ 879118 w 879117"/>
              <a:gd name="connsiteY4" fmla="*/ 439559 h 879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117" h="879117">
                <a:moveTo>
                  <a:pt x="879118" y="439559"/>
                </a:moveTo>
                <a:cubicBezTo>
                  <a:pt x="879118" y="682321"/>
                  <a:pt x="682321" y="879118"/>
                  <a:pt x="439559" y="879118"/>
                </a:cubicBezTo>
                <a:cubicBezTo>
                  <a:pt x="196797" y="879118"/>
                  <a:pt x="0" y="682321"/>
                  <a:pt x="0" y="439559"/>
                </a:cubicBezTo>
                <a:cubicBezTo>
                  <a:pt x="0" y="196797"/>
                  <a:pt x="196797" y="0"/>
                  <a:pt x="439559" y="0"/>
                </a:cubicBezTo>
                <a:cubicBezTo>
                  <a:pt x="682321" y="0"/>
                  <a:pt x="879118" y="196797"/>
                  <a:pt x="879118" y="439559"/>
                </a:cubicBezTo>
                <a:close/>
              </a:path>
            </a:pathLst>
          </a:custGeom>
          <a:noFill/>
          <a:ln w="167827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77D0D03-9295-3F62-1948-396EDFDA391F}"/>
              </a:ext>
            </a:extLst>
          </p:cNvPr>
          <p:cNvSpPr/>
          <p:nvPr/>
        </p:nvSpPr>
        <p:spPr>
          <a:xfrm>
            <a:off x="4232750" y="5562192"/>
            <a:ext cx="879117" cy="879117"/>
          </a:xfrm>
          <a:custGeom>
            <a:avLst/>
            <a:gdLst>
              <a:gd name="connsiteX0" fmla="*/ 879118 w 879117"/>
              <a:gd name="connsiteY0" fmla="*/ 439559 h 879117"/>
              <a:gd name="connsiteX1" fmla="*/ 439559 w 879117"/>
              <a:gd name="connsiteY1" fmla="*/ 879118 h 879117"/>
              <a:gd name="connsiteX2" fmla="*/ 0 w 879117"/>
              <a:gd name="connsiteY2" fmla="*/ 439559 h 879117"/>
              <a:gd name="connsiteX3" fmla="*/ 439559 w 879117"/>
              <a:gd name="connsiteY3" fmla="*/ 0 h 879117"/>
              <a:gd name="connsiteX4" fmla="*/ 879118 w 879117"/>
              <a:gd name="connsiteY4" fmla="*/ 439559 h 879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9117" h="879117">
                <a:moveTo>
                  <a:pt x="879118" y="439559"/>
                </a:moveTo>
                <a:cubicBezTo>
                  <a:pt x="879118" y="682321"/>
                  <a:pt x="682321" y="879118"/>
                  <a:pt x="439559" y="879118"/>
                </a:cubicBezTo>
                <a:cubicBezTo>
                  <a:pt x="196797" y="879118"/>
                  <a:pt x="0" y="682321"/>
                  <a:pt x="0" y="439559"/>
                </a:cubicBezTo>
                <a:cubicBezTo>
                  <a:pt x="0" y="196797"/>
                  <a:pt x="196797" y="0"/>
                  <a:pt x="439559" y="0"/>
                </a:cubicBezTo>
                <a:cubicBezTo>
                  <a:pt x="682321" y="0"/>
                  <a:pt x="879118" y="196797"/>
                  <a:pt x="879118" y="439559"/>
                </a:cubicBezTo>
                <a:close/>
              </a:path>
            </a:pathLst>
          </a:custGeom>
          <a:noFill/>
          <a:ln w="167827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13C6077-0DC9-7FCC-C828-A9F8138913C4}"/>
              </a:ext>
            </a:extLst>
          </p:cNvPr>
          <p:cNvSpPr/>
          <p:nvPr/>
        </p:nvSpPr>
        <p:spPr>
          <a:xfrm>
            <a:off x="5123245" y="2026329"/>
            <a:ext cx="964702" cy="1557202"/>
          </a:xfrm>
          <a:custGeom>
            <a:avLst/>
            <a:gdLst>
              <a:gd name="connsiteX0" fmla="*/ 964703 w 964702"/>
              <a:gd name="connsiteY0" fmla="*/ 0 h 1557202"/>
              <a:gd name="connsiteX1" fmla="*/ 964703 w 964702"/>
              <a:gd name="connsiteY1" fmla="*/ 930831 h 1557202"/>
              <a:gd name="connsiteX2" fmla="*/ 964703 w 964702"/>
              <a:gd name="connsiteY2" fmla="*/ 937295 h 1557202"/>
              <a:gd name="connsiteX3" fmla="*/ 0 w 964702"/>
              <a:gd name="connsiteY3" fmla="*/ 1557202 h 1557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4702" h="1557202">
                <a:moveTo>
                  <a:pt x="964703" y="0"/>
                </a:moveTo>
                <a:lnTo>
                  <a:pt x="964703" y="930831"/>
                </a:lnTo>
                <a:lnTo>
                  <a:pt x="964703" y="937295"/>
                </a:lnTo>
                <a:cubicBezTo>
                  <a:pt x="536262" y="937295"/>
                  <a:pt x="167162" y="1191463"/>
                  <a:pt x="0" y="1557202"/>
                </a:cubicBezTo>
              </a:path>
            </a:pathLst>
          </a:custGeom>
          <a:noFill/>
          <a:ln w="16782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72B279F9-6F13-3C19-D38F-38237B7A6ABD}"/>
              </a:ext>
            </a:extLst>
          </p:cNvPr>
          <p:cNvSpPr/>
          <p:nvPr/>
        </p:nvSpPr>
        <p:spPr>
          <a:xfrm>
            <a:off x="6214902" y="2971122"/>
            <a:ext cx="1776723" cy="721523"/>
          </a:xfrm>
          <a:custGeom>
            <a:avLst/>
            <a:gdLst>
              <a:gd name="connsiteX0" fmla="*/ 1776723 w 1776723"/>
              <a:gd name="connsiteY0" fmla="*/ 427794 h 721523"/>
              <a:gd name="connsiteX1" fmla="*/ 880540 w 1776723"/>
              <a:gd name="connsiteY1" fmla="*/ 721523 h 721523"/>
              <a:gd name="connsiteX2" fmla="*/ 0 w 1776723"/>
              <a:gd name="connsiteY2" fmla="*/ 0 h 721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6723" h="721523">
                <a:moveTo>
                  <a:pt x="1776723" y="427794"/>
                </a:moveTo>
                <a:lnTo>
                  <a:pt x="880540" y="721523"/>
                </a:lnTo>
                <a:cubicBezTo>
                  <a:pt x="754231" y="336909"/>
                  <a:pt x="413703" y="49386"/>
                  <a:pt x="0" y="0"/>
                </a:cubicBezTo>
              </a:path>
            </a:pathLst>
          </a:custGeom>
          <a:noFill/>
          <a:ln w="167827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DDDD70E-E2B4-59BA-21F9-023171F0456A}"/>
              </a:ext>
            </a:extLst>
          </p:cNvPr>
          <p:cNvSpPr/>
          <p:nvPr/>
        </p:nvSpPr>
        <p:spPr>
          <a:xfrm>
            <a:off x="6722205" y="3809645"/>
            <a:ext cx="553973" cy="1824428"/>
          </a:xfrm>
          <a:custGeom>
            <a:avLst/>
            <a:gdLst>
              <a:gd name="connsiteX0" fmla="*/ 553974 w 553973"/>
              <a:gd name="connsiteY0" fmla="*/ 1824428 h 1824428"/>
              <a:gd name="connsiteX1" fmla="*/ 0 w 553973"/>
              <a:gd name="connsiteY1" fmla="*/ 1063603 h 1824428"/>
              <a:gd name="connsiteX2" fmla="*/ 425855 w 553973"/>
              <a:gd name="connsiteY2" fmla="*/ 214091 h 1824428"/>
              <a:gd name="connsiteX3" fmla="*/ 404265 w 553973"/>
              <a:gd name="connsiteY3" fmla="*/ 0 h 1824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3973" h="1824428">
                <a:moveTo>
                  <a:pt x="553974" y="1824428"/>
                </a:moveTo>
                <a:lnTo>
                  <a:pt x="0" y="1063603"/>
                </a:lnTo>
                <a:cubicBezTo>
                  <a:pt x="258564" y="870327"/>
                  <a:pt x="425855" y="561730"/>
                  <a:pt x="425855" y="214091"/>
                </a:cubicBezTo>
                <a:cubicBezTo>
                  <a:pt x="425855" y="140788"/>
                  <a:pt x="418357" y="69166"/>
                  <a:pt x="404265" y="0"/>
                </a:cubicBezTo>
              </a:path>
            </a:pathLst>
          </a:custGeom>
          <a:noFill/>
          <a:ln w="167827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B5FFBFB-ED33-DD68-16F2-CBDB192C3AF2}"/>
              </a:ext>
            </a:extLst>
          </p:cNvPr>
          <p:cNvSpPr/>
          <p:nvPr/>
        </p:nvSpPr>
        <p:spPr>
          <a:xfrm>
            <a:off x="4929322" y="4889796"/>
            <a:ext cx="1689069" cy="756429"/>
          </a:xfrm>
          <a:custGeom>
            <a:avLst/>
            <a:gdLst>
              <a:gd name="connsiteX0" fmla="*/ 0 w 1689069"/>
              <a:gd name="connsiteY0" fmla="*/ 756429 h 756429"/>
              <a:gd name="connsiteX1" fmla="*/ 547122 w 1689069"/>
              <a:gd name="connsiteY1" fmla="*/ 0 h 756429"/>
              <a:gd name="connsiteX2" fmla="*/ 1158626 w 1689069"/>
              <a:gd name="connsiteY2" fmla="*/ 194052 h 756429"/>
              <a:gd name="connsiteX3" fmla="*/ 1689070 w 1689069"/>
              <a:gd name="connsiteY3" fmla="*/ 51972 h 75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9069" h="756429">
                <a:moveTo>
                  <a:pt x="0" y="756429"/>
                </a:moveTo>
                <a:lnTo>
                  <a:pt x="547122" y="0"/>
                </a:lnTo>
                <a:cubicBezTo>
                  <a:pt x="719972" y="122172"/>
                  <a:pt x="930831" y="194052"/>
                  <a:pt x="1158626" y="194052"/>
                </a:cubicBezTo>
                <a:cubicBezTo>
                  <a:pt x="1351902" y="194052"/>
                  <a:pt x="1533027" y="142340"/>
                  <a:pt x="1689070" y="51972"/>
                </a:cubicBezTo>
              </a:path>
            </a:pathLst>
          </a:custGeom>
          <a:noFill/>
          <a:ln w="167827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CABBFF40-04F8-C962-EFF8-911F2A0C02C3}"/>
              </a:ext>
            </a:extLst>
          </p:cNvPr>
          <p:cNvSpPr/>
          <p:nvPr/>
        </p:nvSpPr>
        <p:spPr>
          <a:xfrm>
            <a:off x="4190863" y="3418567"/>
            <a:ext cx="1189912" cy="1395211"/>
          </a:xfrm>
          <a:custGeom>
            <a:avLst/>
            <a:gdLst>
              <a:gd name="connsiteX0" fmla="*/ 0 w 1189912"/>
              <a:gd name="connsiteY0" fmla="*/ 0 h 1395211"/>
              <a:gd name="connsiteX1" fmla="*/ 886099 w 1189912"/>
              <a:gd name="connsiteY1" fmla="*/ 285067 h 1395211"/>
              <a:gd name="connsiteX2" fmla="*/ 836843 w 1189912"/>
              <a:gd name="connsiteY2" fmla="*/ 605298 h 1395211"/>
              <a:gd name="connsiteX3" fmla="*/ 1189912 w 1189912"/>
              <a:gd name="connsiteY3" fmla="*/ 1395212 h 139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9912" h="1395211">
                <a:moveTo>
                  <a:pt x="0" y="0"/>
                </a:moveTo>
                <a:lnTo>
                  <a:pt x="886099" y="285067"/>
                </a:lnTo>
                <a:cubicBezTo>
                  <a:pt x="854167" y="386036"/>
                  <a:pt x="836843" y="493599"/>
                  <a:pt x="836843" y="605298"/>
                </a:cubicBezTo>
                <a:cubicBezTo>
                  <a:pt x="836843" y="919066"/>
                  <a:pt x="973235" y="1201030"/>
                  <a:pt x="1189912" y="1395212"/>
                </a:cubicBezTo>
              </a:path>
            </a:pathLst>
          </a:custGeom>
          <a:noFill/>
          <a:ln w="167827" cap="flat">
            <a:solidFill>
              <a:schemeClr val="accent6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454A2D5-5F12-C025-6A3F-95979407E140}"/>
              </a:ext>
            </a:extLst>
          </p:cNvPr>
          <p:cNvSpPr txBox="1"/>
          <p:nvPr/>
        </p:nvSpPr>
        <p:spPr>
          <a:xfrm>
            <a:off x="593450" y="237175"/>
            <a:ext cx="3982027" cy="12311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METHODOLOGIES  USED :-</a:t>
            </a:r>
          </a:p>
          <a:p>
            <a:endParaRPr lang="en-IN" sz="18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88E9753-872C-3A2E-4FD1-44D1315461A5}"/>
              </a:ext>
            </a:extLst>
          </p:cNvPr>
          <p:cNvGrpSpPr/>
          <p:nvPr/>
        </p:nvGrpSpPr>
        <p:grpSpPr>
          <a:xfrm>
            <a:off x="7282401" y="1089374"/>
            <a:ext cx="2264721" cy="816126"/>
            <a:chOff x="2074574" y="1483819"/>
            <a:chExt cx="4595901" cy="81612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BDEFF96-3DA9-FD2B-D8B7-9E0E03D5DC1F}"/>
                </a:ext>
              </a:extLst>
            </p:cNvPr>
            <p:cNvSpPr txBox="1"/>
            <p:nvPr/>
          </p:nvSpPr>
          <p:spPr>
            <a:xfrm>
              <a:off x="2074574" y="1795394"/>
              <a:ext cx="4595901" cy="5045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2000" b="1" dirty="0"/>
                <a:t>Hardware:</a:t>
              </a:r>
              <a:r>
                <a:rPr lang="en-IN" sz="2000" dirty="0"/>
                <a:t> ARM LPC2148</a:t>
              </a:r>
              <a:endPara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4EB6788-697F-14B0-79CA-F19014C22750}"/>
                </a:ext>
              </a:extLst>
            </p:cNvPr>
            <p:cNvSpPr txBox="1"/>
            <p:nvPr/>
          </p:nvSpPr>
          <p:spPr>
            <a:xfrm>
              <a:off x="2074574" y="1483819"/>
              <a:ext cx="4595901" cy="3314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b="1" dirty="0"/>
                <a:t>Speeded Up Robust Features (SURF) algorithm</a:t>
              </a:r>
              <a:endPara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cs typeface="Segoe UI Light" panose="020B0502040204020203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532546A-9C2C-122D-1A68-AE8AE7173F86}"/>
              </a:ext>
            </a:extLst>
          </p:cNvPr>
          <p:cNvGrpSpPr/>
          <p:nvPr/>
        </p:nvGrpSpPr>
        <p:grpSpPr>
          <a:xfrm>
            <a:off x="9314663" y="2704556"/>
            <a:ext cx="2264721" cy="960919"/>
            <a:chOff x="2074574" y="1339026"/>
            <a:chExt cx="4595901" cy="960919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5369E79-2514-21B7-727B-1A2FF416F6C1}"/>
                </a:ext>
              </a:extLst>
            </p:cNvPr>
            <p:cNvSpPr txBox="1"/>
            <p:nvPr/>
          </p:nvSpPr>
          <p:spPr>
            <a:xfrm>
              <a:off x="2074574" y="1795394"/>
              <a:ext cx="4595901" cy="5045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600" dirty="0" err="1"/>
                <a:t>ConvLSTM</a:t>
              </a:r>
              <a:r>
                <a:rPr lang="en-US" sz="1600" dirty="0"/>
                <a:t> (Convolutional Long Short-Term Memory) for processing temporal data</a:t>
              </a: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Segoe UI Light" panose="020B0502040204020203" pitchFamily="34" charset="0"/>
                </a:rPr>
                <a:t>.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2F23285-33D5-64CD-CC31-3B71CACFDB27}"/>
                </a:ext>
              </a:extLst>
            </p:cNvPr>
            <p:cNvSpPr txBox="1"/>
            <p:nvPr/>
          </p:nvSpPr>
          <p:spPr>
            <a:xfrm>
              <a:off x="2074574" y="1339026"/>
              <a:ext cx="4595901" cy="3314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600" b="1" dirty="0"/>
                <a:t>VGG-16 or </a:t>
              </a:r>
              <a:r>
                <a:rPr lang="en-US" sz="1600" b="1" dirty="0" err="1"/>
                <a:t>NASNetMobile</a:t>
              </a:r>
              <a:r>
                <a:rPr lang="en-US" sz="1600" b="1" dirty="0"/>
                <a:t> for feature extraction </a:t>
              </a:r>
              <a:endPara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Segoe UI Light" panose="020B0502040204020203" pitchFamily="34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E27E9E8-AED4-F890-BF62-BCFC67156EEC}"/>
              </a:ext>
            </a:extLst>
          </p:cNvPr>
          <p:cNvGrpSpPr/>
          <p:nvPr/>
        </p:nvGrpSpPr>
        <p:grpSpPr>
          <a:xfrm>
            <a:off x="8665734" y="5329769"/>
            <a:ext cx="2264721" cy="960919"/>
            <a:chOff x="2074574" y="1339026"/>
            <a:chExt cx="4595901" cy="960919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6291171-D1BF-D899-5E2F-870AC881EEE4}"/>
                </a:ext>
              </a:extLst>
            </p:cNvPr>
            <p:cNvSpPr txBox="1"/>
            <p:nvPr/>
          </p:nvSpPr>
          <p:spPr>
            <a:xfrm>
              <a:off x="2074574" y="1795394"/>
              <a:ext cx="4595901" cy="5045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IN" sz="1600" b="1" dirty="0"/>
                <a:t>Faster R-CNN:</a:t>
              </a:r>
              <a:r>
                <a:rPr lang="en-IN" sz="1600" dirty="0"/>
                <a:t> Uses region proposals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51808CB-F0BA-B1BF-71B7-3B8DD7C5C35F}"/>
                </a:ext>
              </a:extLst>
            </p:cNvPr>
            <p:cNvSpPr txBox="1"/>
            <p:nvPr/>
          </p:nvSpPr>
          <p:spPr>
            <a:xfrm>
              <a:off x="2074574" y="1339026"/>
              <a:ext cx="4595901" cy="3314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b="1" dirty="0"/>
                <a:t>SSD (Single Shot Detector):</a:t>
              </a:r>
              <a:r>
                <a:rPr lang="en-US" dirty="0"/>
                <a:t> Detects objects quickly</a:t>
              </a:r>
              <a:endPara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cs typeface="Segoe UI Light" panose="020B0502040204020203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3F2B287-1075-BF37-190A-E7F163BBF2AA}"/>
              </a:ext>
            </a:extLst>
          </p:cNvPr>
          <p:cNvGrpSpPr/>
          <p:nvPr/>
        </p:nvGrpSpPr>
        <p:grpSpPr>
          <a:xfrm>
            <a:off x="1291541" y="5329769"/>
            <a:ext cx="2264721" cy="960919"/>
            <a:chOff x="2074574" y="1339026"/>
            <a:chExt cx="4595901" cy="960919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7D8D88D-9A10-DC1A-A7F8-902AEA492FF1}"/>
                </a:ext>
              </a:extLst>
            </p:cNvPr>
            <p:cNvSpPr txBox="1"/>
            <p:nvPr/>
          </p:nvSpPr>
          <p:spPr>
            <a:xfrm>
              <a:off x="2074574" y="1795394"/>
              <a:ext cx="4595901" cy="5045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sz="1600" b="1" dirty="0"/>
                <a:t>Literature Review</a:t>
              </a:r>
              <a:r>
                <a:rPr lang="en-US" sz="1600" dirty="0"/>
                <a:t>: Examined existing AI applications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DBD9AC0-35AD-081C-8383-95ACFD1D91FA}"/>
                </a:ext>
              </a:extLst>
            </p:cNvPr>
            <p:cNvSpPr txBox="1"/>
            <p:nvPr/>
          </p:nvSpPr>
          <p:spPr>
            <a:xfrm>
              <a:off x="2074574" y="1339026"/>
              <a:ext cx="4595901" cy="3314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IN" b="1" dirty="0"/>
                <a:t>Comparative Analysis</a:t>
              </a:r>
              <a:r>
                <a:rPr lang="en-IN" dirty="0"/>
                <a:t>: Compared AI applications </a:t>
              </a:r>
              <a:endPara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cs typeface="Segoe UI Light" panose="020B0502040204020203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69408A2-C87D-869B-2DB5-A80F737004B1}"/>
              </a:ext>
            </a:extLst>
          </p:cNvPr>
          <p:cNvGrpSpPr/>
          <p:nvPr/>
        </p:nvGrpSpPr>
        <p:grpSpPr>
          <a:xfrm>
            <a:off x="-2900864" y="3622483"/>
            <a:ext cx="5837368" cy="504551"/>
            <a:chOff x="-5016596" y="2256953"/>
            <a:chExt cx="11846036" cy="504551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984BF93-52A4-5B7E-C458-9A7DD4DA424C}"/>
                </a:ext>
              </a:extLst>
            </p:cNvPr>
            <p:cNvSpPr txBox="1"/>
            <p:nvPr/>
          </p:nvSpPr>
          <p:spPr>
            <a:xfrm>
              <a:off x="-5016596" y="2256953"/>
              <a:ext cx="4595901" cy="5045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10000"/>
                </a:lnSpc>
              </a:pPr>
              <a:endPara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99DD1DD-FCA6-E14C-27AE-8DD1CD321A68}"/>
                </a:ext>
              </a:extLst>
            </p:cNvPr>
            <p:cNvSpPr txBox="1"/>
            <p:nvPr/>
          </p:nvSpPr>
          <p:spPr>
            <a:xfrm>
              <a:off x="2233539" y="2419155"/>
              <a:ext cx="4595901" cy="33148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IN" sz="1600" b="1" dirty="0"/>
                <a:t>Implementation Tools:</a:t>
              </a:r>
              <a:r>
                <a:rPr lang="en-IN" sz="1600" dirty="0"/>
                <a:t> OpenCV, Python, TensorFlow, NVIDIA GeForce GPU, COCO dataset, and self-created image dataset.</a:t>
              </a:r>
              <a:endPara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Segoe UI Light" panose="020B0502040204020203" pitchFamily="34" charset="0"/>
              </a:endParaRPr>
            </a:p>
          </p:txBody>
        </p:sp>
      </p:grpSp>
      <p:pic>
        <p:nvPicPr>
          <p:cNvPr id="72" name="Graphic 71" descr="Daily calendar with solid fill">
            <a:extLst>
              <a:ext uri="{FF2B5EF4-FFF2-40B4-BE49-F238E27FC236}">
                <a16:creationId xmlns:a16="http://schemas.microsoft.com/office/drawing/2014/main" id="{0842BA32-F4CA-D281-44BE-A6D148CBE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5769" y="5761006"/>
            <a:ext cx="481488" cy="481488"/>
          </a:xfrm>
          <a:prstGeom prst="rect">
            <a:avLst/>
          </a:prstGeom>
        </p:spPr>
      </p:pic>
      <p:pic>
        <p:nvPicPr>
          <p:cNvPr id="73" name="Graphic 72" descr="Hierarchy with solid fill">
            <a:extLst>
              <a:ext uri="{FF2B5EF4-FFF2-40B4-BE49-F238E27FC236}">
                <a16:creationId xmlns:a16="http://schemas.microsoft.com/office/drawing/2014/main" id="{1CB738E4-1B2F-4E4E-20C4-68CC61B32E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9518" y="3007299"/>
            <a:ext cx="481488" cy="481488"/>
          </a:xfrm>
          <a:prstGeom prst="rect">
            <a:avLst/>
          </a:prstGeom>
        </p:spPr>
      </p:pic>
      <p:pic>
        <p:nvPicPr>
          <p:cNvPr id="74" name="Graphic 73" descr="Network with solid fill">
            <a:extLst>
              <a:ext uri="{FF2B5EF4-FFF2-40B4-BE49-F238E27FC236}">
                <a16:creationId xmlns:a16="http://schemas.microsoft.com/office/drawing/2014/main" id="{12B26228-82EB-5A2F-B94C-F8E21B6743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7815" y="3007299"/>
            <a:ext cx="481488" cy="481488"/>
          </a:xfrm>
          <a:prstGeom prst="rect">
            <a:avLst/>
          </a:prstGeom>
        </p:spPr>
      </p:pic>
      <p:pic>
        <p:nvPicPr>
          <p:cNvPr id="75" name="Graphic 74" descr="Work from home desk with solid fill">
            <a:extLst>
              <a:ext uri="{FF2B5EF4-FFF2-40B4-BE49-F238E27FC236}">
                <a16:creationId xmlns:a16="http://schemas.microsoft.com/office/drawing/2014/main" id="{4B580B96-A1B4-0CA4-296C-28F1B36747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31564" y="5761006"/>
            <a:ext cx="481488" cy="481488"/>
          </a:xfrm>
          <a:prstGeom prst="rect">
            <a:avLst/>
          </a:prstGeom>
        </p:spPr>
      </p:pic>
      <p:pic>
        <p:nvPicPr>
          <p:cNvPr id="76" name="Graphic 75" descr="Users with solid fill">
            <a:extLst>
              <a:ext uri="{FF2B5EF4-FFF2-40B4-BE49-F238E27FC236}">
                <a16:creationId xmlns:a16="http://schemas.microsoft.com/office/drawing/2014/main" id="{F924507D-2303-F195-C602-0B27D4EAFD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53667" y="1352489"/>
            <a:ext cx="481488" cy="481488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3FFB3C93-3AF3-4A69-319F-9641A085F8AF}"/>
              </a:ext>
            </a:extLst>
          </p:cNvPr>
          <p:cNvSpPr txBox="1"/>
          <p:nvPr/>
        </p:nvSpPr>
        <p:spPr>
          <a:xfrm>
            <a:off x="5358409" y="3622483"/>
            <a:ext cx="1731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Ai in Weapon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97743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9AEB-B3FD-6688-BAFA-706A9B5FADA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i="1" u="sng" dirty="0"/>
              <a:t>METHODOLOGIES USED:-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B3E01-832D-C8A6-FDC0-2BA6A0AB0A3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b="1" dirty="0"/>
              <a:t>YOLO V3 algorithm</a:t>
            </a:r>
            <a:r>
              <a:rPr lang="en-US" dirty="0"/>
              <a:t> integrated with </a:t>
            </a:r>
            <a:r>
              <a:rPr lang="en-US" b="1" dirty="0"/>
              <a:t>TensorFlow and CNN</a:t>
            </a:r>
          </a:p>
          <a:p>
            <a:endParaRPr lang="en-US" b="1" dirty="0"/>
          </a:p>
          <a:p>
            <a:r>
              <a:rPr lang="en-US" dirty="0"/>
              <a:t>Six CNN architectures (</a:t>
            </a:r>
            <a:r>
              <a:rPr lang="en-US" b="1" dirty="0"/>
              <a:t>InceptionV3, ResNet50, ResNet101, VGG-16, Inception-ResNet-V2, </a:t>
            </a:r>
            <a:r>
              <a:rPr lang="en-US" b="1" dirty="0" err="1"/>
              <a:t>SqueezeNet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YOLO V8 algorithm and NMS.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8993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C22750CD-DB77-D9E3-668C-7FA682C3D66D}"/>
              </a:ext>
            </a:extLst>
          </p:cNvPr>
          <p:cNvSpPr/>
          <p:nvPr/>
        </p:nvSpPr>
        <p:spPr>
          <a:xfrm flipV="1">
            <a:off x="230813" y="5618943"/>
            <a:ext cx="8956676" cy="773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en-US" sz="1800" kern="0" dirty="0">
              <a:solidFill>
                <a:sysClr val="window" lastClr="FFFFFF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BCA7A4-DBB1-1842-C0F4-3C72531C3EA5}"/>
              </a:ext>
            </a:extLst>
          </p:cNvPr>
          <p:cNvSpPr/>
          <p:nvPr/>
        </p:nvSpPr>
        <p:spPr>
          <a:xfrm flipV="1">
            <a:off x="6856512" y="5867212"/>
            <a:ext cx="1522029" cy="381375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en-US" sz="1800" kern="0" dirty="0">
              <a:solidFill>
                <a:sysClr val="window" lastClr="FFFFFF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C5637DA-403E-EABA-D0EB-17A6804EC54A}"/>
              </a:ext>
            </a:extLst>
          </p:cNvPr>
          <p:cNvSpPr/>
          <p:nvPr/>
        </p:nvSpPr>
        <p:spPr>
          <a:xfrm flipV="1">
            <a:off x="1322110" y="5388814"/>
            <a:ext cx="6729284" cy="1131879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alpha val="80000"/>
                </a:scheme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en-US" sz="1800" kern="0" dirty="0">
              <a:solidFill>
                <a:sysClr val="window" lastClr="FFFFFF"/>
              </a:solidFill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C32E0D8-85CC-5701-0722-36AE821BD269}"/>
              </a:ext>
            </a:extLst>
          </p:cNvPr>
          <p:cNvSpPr txBox="1">
            <a:spLocks/>
          </p:cNvSpPr>
          <p:nvPr/>
        </p:nvSpPr>
        <p:spPr>
          <a:xfrm>
            <a:off x="609600" y="274641"/>
            <a:ext cx="10972801" cy="7159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A93BF7D-E6AF-E9EC-E856-C92BBF542400}"/>
              </a:ext>
            </a:extLst>
          </p:cNvPr>
          <p:cNvGrpSpPr/>
          <p:nvPr/>
        </p:nvGrpSpPr>
        <p:grpSpPr>
          <a:xfrm>
            <a:off x="1108775" y="1143000"/>
            <a:ext cx="6848476" cy="5076826"/>
            <a:chOff x="3074988" y="1068388"/>
            <a:chExt cx="6848476" cy="5151438"/>
          </a:xfrm>
        </p:grpSpPr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16261934-D65C-29EB-84EB-D49547000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8" y="1381125"/>
              <a:ext cx="4198938" cy="9779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" name="Rectangle 7">
              <a:extLst>
                <a:ext uri="{FF2B5EF4-FFF2-40B4-BE49-F238E27FC236}">
                  <a16:creationId xmlns:a16="http://schemas.microsoft.com/office/drawing/2014/main" id="{17EFCD45-DA1D-4F60-590F-8291C16ED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8" y="2433638"/>
              <a:ext cx="4198938" cy="700088"/>
            </a:xfrm>
            <a:prstGeom prst="rect">
              <a:avLst/>
            </a:prstGeom>
            <a:solidFill>
              <a:schemeClr val="accent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" name="Rectangle 8">
              <a:extLst>
                <a:ext uri="{FF2B5EF4-FFF2-40B4-BE49-F238E27FC236}">
                  <a16:creationId xmlns:a16="http://schemas.microsoft.com/office/drawing/2014/main" id="{96B5AF60-2218-963F-CFBD-57FF709F9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8" y="3192463"/>
              <a:ext cx="4198938" cy="911225"/>
            </a:xfrm>
            <a:prstGeom prst="rect">
              <a:avLst/>
            </a:prstGeom>
            <a:solidFill>
              <a:schemeClr val="accent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Rectangle 9">
              <a:extLst>
                <a:ext uri="{FF2B5EF4-FFF2-40B4-BE49-F238E27FC236}">
                  <a16:creationId xmlns:a16="http://schemas.microsoft.com/office/drawing/2014/main" id="{371E0ADE-5B8F-9415-1B67-A2E46F42B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8" y="4184650"/>
              <a:ext cx="4198938" cy="825500"/>
            </a:xfrm>
            <a:prstGeom prst="rect">
              <a:avLst/>
            </a:prstGeom>
            <a:solidFill>
              <a:schemeClr val="accent5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Rectangle 10">
              <a:extLst>
                <a:ext uri="{FF2B5EF4-FFF2-40B4-BE49-F238E27FC236}">
                  <a16:creationId xmlns:a16="http://schemas.microsoft.com/office/drawing/2014/main" id="{3BBB0D15-6B81-27E8-7A06-AEC529CEE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88" y="5091113"/>
              <a:ext cx="4198938" cy="904875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3B65C036-337B-398E-AE7E-80427C6D9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5351" y="5091113"/>
              <a:ext cx="758825" cy="1128713"/>
            </a:xfrm>
            <a:custGeom>
              <a:avLst/>
              <a:gdLst>
                <a:gd name="T0" fmla="*/ 0 w 478"/>
                <a:gd name="T1" fmla="*/ 0 h 711"/>
                <a:gd name="T2" fmla="*/ 478 w 478"/>
                <a:gd name="T3" fmla="*/ 77 h 711"/>
                <a:gd name="T4" fmla="*/ 478 w 478"/>
                <a:gd name="T5" fmla="*/ 711 h 711"/>
                <a:gd name="T6" fmla="*/ 0 w 478"/>
                <a:gd name="T7" fmla="*/ 574 h 711"/>
                <a:gd name="T8" fmla="*/ 0 w 478"/>
                <a:gd name="T9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711">
                  <a:moveTo>
                    <a:pt x="0" y="0"/>
                  </a:moveTo>
                  <a:lnTo>
                    <a:pt x="478" y="77"/>
                  </a:lnTo>
                  <a:lnTo>
                    <a:pt x="478" y="711"/>
                  </a:lnTo>
                  <a:lnTo>
                    <a:pt x="0" y="5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569DB386-5B3E-75E4-6C58-35488B26D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4176" y="4859338"/>
              <a:ext cx="1676400" cy="1360488"/>
            </a:xfrm>
            <a:custGeom>
              <a:avLst/>
              <a:gdLst>
                <a:gd name="T0" fmla="*/ 1056 w 1056"/>
                <a:gd name="T1" fmla="*/ 0 h 857"/>
                <a:gd name="T2" fmla="*/ 1056 w 1056"/>
                <a:gd name="T3" fmla="*/ 429 h 857"/>
                <a:gd name="T4" fmla="*/ 0 w 1056"/>
                <a:gd name="T5" fmla="*/ 857 h 857"/>
                <a:gd name="T6" fmla="*/ 0 w 1056"/>
                <a:gd name="T7" fmla="*/ 223 h 857"/>
                <a:gd name="T8" fmla="*/ 1056 w 1056"/>
                <a:gd name="T9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857">
                  <a:moveTo>
                    <a:pt x="1056" y="0"/>
                  </a:moveTo>
                  <a:lnTo>
                    <a:pt x="1056" y="429"/>
                  </a:lnTo>
                  <a:lnTo>
                    <a:pt x="0" y="857"/>
                  </a:lnTo>
                  <a:lnTo>
                    <a:pt x="0" y="223"/>
                  </a:lnTo>
                  <a:lnTo>
                    <a:pt x="105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B3E30C30-7D86-FE5B-D6E4-E2F1CD101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5351" y="4806950"/>
              <a:ext cx="2435225" cy="406400"/>
            </a:xfrm>
            <a:custGeom>
              <a:avLst/>
              <a:gdLst>
                <a:gd name="T0" fmla="*/ 1007 w 1534"/>
                <a:gd name="T1" fmla="*/ 0 h 256"/>
                <a:gd name="T2" fmla="*/ 1534 w 1534"/>
                <a:gd name="T3" fmla="*/ 33 h 256"/>
                <a:gd name="T4" fmla="*/ 478 w 1534"/>
                <a:gd name="T5" fmla="*/ 256 h 256"/>
                <a:gd name="T6" fmla="*/ 0 w 1534"/>
                <a:gd name="T7" fmla="*/ 179 h 256"/>
                <a:gd name="T8" fmla="*/ 1007 w 1534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4" h="256">
                  <a:moveTo>
                    <a:pt x="1007" y="0"/>
                  </a:moveTo>
                  <a:lnTo>
                    <a:pt x="1534" y="33"/>
                  </a:lnTo>
                  <a:lnTo>
                    <a:pt x="478" y="256"/>
                  </a:lnTo>
                  <a:lnTo>
                    <a:pt x="0" y="179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04F446-7E13-2F72-0EA4-EEF90A0C7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5351" y="4184650"/>
              <a:ext cx="758825" cy="920750"/>
            </a:xfrm>
            <a:custGeom>
              <a:avLst/>
              <a:gdLst>
                <a:gd name="T0" fmla="*/ 0 w 478"/>
                <a:gd name="T1" fmla="*/ 0 h 580"/>
                <a:gd name="T2" fmla="*/ 478 w 478"/>
                <a:gd name="T3" fmla="*/ 0 h 580"/>
                <a:gd name="T4" fmla="*/ 478 w 478"/>
                <a:gd name="T5" fmla="*/ 580 h 580"/>
                <a:gd name="T6" fmla="*/ 0 w 478"/>
                <a:gd name="T7" fmla="*/ 516 h 580"/>
                <a:gd name="T8" fmla="*/ 0 w 478"/>
                <a:gd name="T9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580">
                  <a:moveTo>
                    <a:pt x="0" y="0"/>
                  </a:moveTo>
                  <a:lnTo>
                    <a:pt x="478" y="0"/>
                  </a:lnTo>
                  <a:lnTo>
                    <a:pt x="478" y="580"/>
                  </a:lnTo>
                  <a:lnTo>
                    <a:pt x="0" y="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2" name="Freeform 15">
              <a:extLst>
                <a:ext uri="{FF2B5EF4-FFF2-40B4-BE49-F238E27FC236}">
                  <a16:creationId xmlns:a16="http://schemas.microsoft.com/office/drawing/2014/main" id="{9D258872-6A3F-5F86-313A-26C333FF7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4176" y="4184650"/>
              <a:ext cx="1676400" cy="920750"/>
            </a:xfrm>
            <a:custGeom>
              <a:avLst/>
              <a:gdLst>
                <a:gd name="T0" fmla="*/ 0 w 1056"/>
                <a:gd name="T1" fmla="*/ 0 h 580"/>
                <a:gd name="T2" fmla="*/ 1056 w 1056"/>
                <a:gd name="T3" fmla="*/ 0 h 580"/>
                <a:gd name="T4" fmla="*/ 1056 w 1056"/>
                <a:gd name="T5" fmla="*/ 389 h 580"/>
                <a:gd name="T6" fmla="*/ 0 w 1056"/>
                <a:gd name="T7" fmla="*/ 580 h 580"/>
                <a:gd name="T8" fmla="*/ 0 w 1056"/>
                <a:gd name="T9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580">
                  <a:moveTo>
                    <a:pt x="0" y="0"/>
                  </a:moveTo>
                  <a:lnTo>
                    <a:pt x="1056" y="0"/>
                  </a:lnTo>
                  <a:lnTo>
                    <a:pt x="1056" y="389"/>
                  </a:lnTo>
                  <a:lnTo>
                    <a:pt x="0" y="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9F714D28-D546-EC00-59F0-25E6F0D9E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5351" y="1068388"/>
              <a:ext cx="758825" cy="1290638"/>
            </a:xfrm>
            <a:custGeom>
              <a:avLst/>
              <a:gdLst>
                <a:gd name="T0" fmla="*/ 478 w 478"/>
                <a:gd name="T1" fmla="*/ 0 h 813"/>
                <a:gd name="T2" fmla="*/ 478 w 478"/>
                <a:gd name="T3" fmla="*/ 667 h 813"/>
                <a:gd name="T4" fmla="*/ 0 w 478"/>
                <a:gd name="T5" fmla="*/ 813 h 813"/>
                <a:gd name="T6" fmla="*/ 0 w 478"/>
                <a:gd name="T7" fmla="*/ 197 h 813"/>
                <a:gd name="T8" fmla="*/ 478 w 478"/>
                <a:gd name="T9" fmla="*/ 0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813">
                  <a:moveTo>
                    <a:pt x="478" y="0"/>
                  </a:moveTo>
                  <a:lnTo>
                    <a:pt x="478" y="667"/>
                  </a:lnTo>
                  <a:lnTo>
                    <a:pt x="0" y="813"/>
                  </a:lnTo>
                  <a:lnTo>
                    <a:pt x="0" y="197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235A6763-917D-9EF4-5E53-13E0170DD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4176" y="1068388"/>
              <a:ext cx="1676400" cy="1774825"/>
            </a:xfrm>
            <a:custGeom>
              <a:avLst/>
              <a:gdLst>
                <a:gd name="T0" fmla="*/ 0 w 1056"/>
                <a:gd name="T1" fmla="*/ 0 h 1118"/>
                <a:gd name="T2" fmla="*/ 1056 w 1056"/>
                <a:gd name="T3" fmla="*/ 682 h 1118"/>
                <a:gd name="T4" fmla="*/ 1056 w 1056"/>
                <a:gd name="T5" fmla="*/ 1118 h 1118"/>
                <a:gd name="T6" fmla="*/ 0 w 1056"/>
                <a:gd name="T7" fmla="*/ 667 h 1118"/>
                <a:gd name="T8" fmla="*/ 0 w 1056"/>
                <a:gd name="T9" fmla="*/ 0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1118">
                  <a:moveTo>
                    <a:pt x="0" y="0"/>
                  </a:moveTo>
                  <a:lnTo>
                    <a:pt x="1056" y="682"/>
                  </a:lnTo>
                  <a:lnTo>
                    <a:pt x="1056" y="1118"/>
                  </a:lnTo>
                  <a:lnTo>
                    <a:pt x="0" y="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5" name="Freeform 18">
              <a:extLst>
                <a:ext uri="{FF2B5EF4-FFF2-40B4-BE49-F238E27FC236}">
                  <a16:creationId xmlns:a16="http://schemas.microsoft.com/office/drawing/2014/main" id="{9F157655-CEF8-D901-8B7D-1EBC23FE9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5351" y="2127250"/>
              <a:ext cx="2435225" cy="715963"/>
            </a:xfrm>
            <a:custGeom>
              <a:avLst/>
              <a:gdLst>
                <a:gd name="T0" fmla="*/ 478 w 1534"/>
                <a:gd name="T1" fmla="*/ 0 h 451"/>
                <a:gd name="T2" fmla="*/ 1534 w 1534"/>
                <a:gd name="T3" fmla="*/ 451 h 451"/>
                <a:gd name="T4" fmla="*/ 1048 w 1534"/>
                <a:gd name="T5" fmla="*/ 451 h 451"/>
                <a:gd name="T6" fmla="*/ 0 w 1534"/>
                <a:gd name="T7" fmla="*/ 146 h 451"/>
                <a:gd name="T8" fmla="*/ 478 w 1534"/>
                <a:gd name="T9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4" h="451">
                  <a:moveTo>
                    <a:pt x="478" y="0"/>
                  </a:moveTo>
                  <a:lnTo>
                    <a:pt x="1534" y="451"/>
                  </a:lnTo>
                  <a:lnTo>
                    <a:pt x="1048" y="451"/>
                  </a:lnTo>
                  <a:lnTo>
                    <a:pt x="0" y="146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C206FD79-F188-49EE-6741-ED789E344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5351" y="2974975"/>
              <a:ext cx="2435225" cy="434975"/>
            </a:xfrm>
            <a:custGeom>
              <a:avLst/>
              <a:gdLst>
                <a:gd name="T0" fmla="*/ 478 w 1534"/>
                <a:gd name="T1" fmla="*/ 0 h 274"/>
                <a:gd name="T2" fmla="*/ 1534 w 1534"/>
                <a:gd name="T3" fmla="*/ 269 h 274"/>
                <a:gd name="T4" fmla="*/ 1065 w 1534"/>
                <a:gd name="T5" fmla="*/ 274 h 274"/>
                <a:gd name="T6" fmla="*/ 0 w 1534"/>
                <a:gd name="T7" fmla="*/ 100 h 274"/>
                <a:gd name="T8" fmla="*/ 478 w 1534"/>
                <a:gd name="T9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4" h="274">
                  <a:moveTo>
                    <a:pt x="478" y="0"/>
                  </a:moveTo>
                  <a:lnTo>
                    <a:pt x="1534" y="269"/>
                  </a:lnTo>
                  <a:lnTo>
                    <a:pt x="1065" y="274"/>
                  </a:lnTo>
                  <a:lnTo>
                    <a:pt x="0" y="100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7" name="Freeform 20">
              <a:extLst>
                <a:ext uri="{FF2B5EF4-FFF2-40B4-BE49-F238E27FC236}">
                  <a16:creationId xmlns:a16="http://schemas.microsoft.com/office/drawing/2014/main" id="{C17A8FE8-83C6-7117-4BF5-5C016D9E0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5351" y="2228850"/>
              <a:ext cx="758825" cy="904875"/>
            </a:xfrm>
            <a:custGeom>
              <a:avLst/>
              <a:gdLst>
                <a:gd name="T0" fmla="*/ 478 w 478"/>
                <a:gd name="T1" fmla="*/ 0 h 570"/>
                <a:gd name="T2" fmla="*/ 478 w 478"/>
                <a:gd name="T3" fmla="*/ 470 h 570"/>
                <a:gd name="T4" fmla="*/ 0 w 478"/>
                <a:gd name="T5" fmla="*/ 570 h 570"/>
                <a:gd name="T6" fmla="*/ 0 w 478"/>
                <a:gd name="T7" fmla="*/ 129 h 570"/>
                <a:gd name="T8" fmla="*/ 478 w 478"/>
                <a:gd name="T9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570">
                  <a:moveTo>
                    <a:pt x="478" y="0"/>
                  </a:moveTo>
                  <a:lnTo>
                    <a:pt x="478" y="470"/>
                  </a:lnTo>
                  <a:lnTo>
                    <a:pt x="0" y="570"/>
                  </a:lnTo>
                  <a:lnTo>
                    <a:pt x="0" y="129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8" name="Freeform 21">
              <a:extLst>
                <a:ext uri="{FF2B5EF4-FFF2-40B4-BE49-F238E27FC236}">
                  <a16:creationId xmlns:a16="http://schemas.microsoft.com/office/drawing/2014/main" id="{E000730A-FFD0-D47C-DEAD-FF476D67F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4176" y="2228850"/>
              <a:ext cx="1676400" cy="1173163"/>
            </a:xfrm>
            <a:custGeom>
              <a:avLst/>
              <a:gdLst>
                <a:gd name="T0" fmla="*/ 0 w 1056"/>
                <a:gd name="T1" fmla="*/ 0 h 739"/>
                <a:gd name="T2" fmla="*/ 1056 w 1056"/>
                <a:gd name="T3" fmla="*/ 430 h 739"/>
                <a:gd name="T4" fmla="*/ 1056 w 1056"/>
                <a:gd name="T5" fmla="*/ 739 h 739"/>
                <a:gd name="T6" fmla="*/ 0 w 1056"/>
                <a:gd name="T7" fmla="*/ 470 h 739"/>
                <a:gd name="T8" fmla="*/ 0 w 1056"/>
                <a:gd name="T9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739">
                  <a:moveTo>
                    <a:pt x="0" y="0"/>
                  </a:moveTo>
                  <a:lnTo>
                    <a:pt x="1056" y="430"/>
                  </a:lnTo>
                  <a:lnTo>
                    <a:pt x="1056" y="739"/>
                  </a:lnTo>
                  <a:lnTo>
                    <a:pt x="0" y="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847FB922-EF1A-07E3-0F9B-A348813AE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5351" y="3081338"/>
              <a:ext cx="758825" cy="1022350"/>
            </a:xfrm>
            <a:custGeom>
              <a:avLst/>
              <a:gdLst>
                <a:gd name="T0" fmla="*/ 478 w 478"/>
                <a:gd name="T1" fmla="*/ 0 h 644"/>
                <a:gd name="T2" fmla="*/ 478 w 478"/>
                <a:gd name="T3" fmla="*/ 634 h 644"/>
                <a:gd name="T4" fmla="*/ 0 w 478"/>
                <a:gd name="T5" fmla="*/ 644 h 644"/>
                <a:gd name="T6" fmla="*/ 0 w 478"/>
                <a:gd name="T7" fmla="*/ 70 h 644"/>
                <a:gd name="T8" fmla="*/ 478 w 478"/>
                <a:gd name="T9" fmla="*/ 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644">
                  <a:moveTo>
                    <a:pt x="478" y="0"/>
                  </a:moveTo>
                  <a:lnTo>
                    <a:pt x="478" y="634"/>
                  </a:lnTo>
                  <a:lnTo>
                    <a:pt x="0" y="644"/>
                  </a:lnTo>
                  <a:lnTo>
                    <a:pt x="0" y="70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0" name="Freeform 23">
              <a:extLst>
                <a:ext uri="{FF2B5EF4-FFF2-40B4-BE49-F238E27FC236}">
                  <a16:creationId xmlns:a16="http://schemas.microsoft.com/office/drawing/2014/main" id="{D4D03F6A-6B2A-0242-8793-7E464E121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4176" y="3081338"/>
              <a:ext cx="1676400" cy="1071563"/>
            </a:xfrm>
            <a:custGeom>
              <a:avLst/>
              <a:gdLst>
                <a:gd name="T0" fmla="*/ 0 w 1056"/>
                <a:gd name="T1" fmla="*/ 0 h 675"/>
                <a:gd name="T2" fmla="*/ 1056 w 1056"/>
                <a:gd name="T3" fmla="*/ 235 h 675"/>
                <a:gd name="T4" fmla="*/ 1056 w 1056"/>
                <a:gd name="T5" fmla="*/ 675 h 675"/>
                <a:gd name="T6" fmla="*/ 0 w 1056"/>
                <a:gd name="T7" fmla="*/ 634 h 675"/>
                <a:gd name="T8" fmla="*/ 0 w 1056"/>
                <a:gd name="T9" fmla="*/ 0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675">
                  <a:moveTo>
                    <a:pt x="0" y="0"/>
                  </a:moveTo>
                  <a:lnTo>
                    <a:pt x="1056" y="235"/>
                  </a:lnTo>
                  <a:lnTo>
                    <a:pt x="1056" y="675"/>
                  </a:lnTo>
                  <a:lnTo>
                    <a:pt x="0" y="6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" name="Freeform 24">
              <a:extLst>
                <a:ext uri="{FF2B5EF4-FFF2-40B4-BE49-F238E27FC236}">
                  <a16:creationId xmlns:a16="http://schemas.microsoft.com/office/drawing/2014/main" id="{0A1CB6A4-6658-7229-54FB-F5ECB877A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5351" y="4070350"/>
              <a:ext cx="2435225" cy="82550"/>
            </a:xfrm>
            <a:custGeom>
              <a:avLst/>
              <a:gdLst>
                <a:gd name="T0" fmla="*/ 478 w 1534"/>
                <a:gd name="T1" fmla="*/ 0 h 52"/>
                <a:gd name="T2" fmla="*/ 1534 w 1534"/>
                <a:gd name="T3" fmla="*/ 52 h 52"/>
                <a:gd name="T4" fmla="*/ 1228 w 1534"/>
                <a:gd name="T5" fmla="*/ 52 h 52"/>
                <a:gd name="T6" fmla="*/ 0 w 1534"/>
                <a:gd name="T7" fmla="*/ 21 h 52"/>
                <a:gd name="T8" fmla="*/ 478 w 1534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4" h="52">
                  <a:moveTo>
                    <a:pt x="478" y="0"/>
                  </a:moveTo>
                  <a:lnTo>
                    <a:pt x="1534" y="52"/>
                  </a:lnTo>
                  <a:lnTo>
                    <a:pt x="1228" y="52"/>
                  </a:lnTo>
                  <a:lnTo>
                    <a:pt x="0" y="21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481868D-DB78-DD9D-E2BF-860A28C13A0D}"/>
                </a:ext>
              </a:extLst>
            </p:cNvPr>
            <p:cNvGrpSpPr/>
            <p:nvPr/>
          </p:nvGrpSpPr>
          <p:grpSpPr>
            <a:xfrm>
              <a:off x="7389812" y="5405438"/>
              <a:ext cx="368300" cy="523875"/>
              <a:chOff x="2132013" y="5405438"/>
              <a:chExt cx="368300" cy="523875"/>
            </a:xfrm>
          </p:grpSpPr>
          <p:sp>
            <p:nvSpPr>
              <p:cNvPr id="64" name="Freeform 27">
                <a:extLst>
                  <a:ext uri="{FF2B5EF4-FFF2-40B4-BE49-F238E27FC236}">
                    <a16:creationId xmlns:a16="http://schemas.microsoft.com/office/drawing/2014/main" id="{9419C2AB-6005-21C7-FA10-53E8C088E4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32013" y="5405438"/>
                <a:ext cx="368300" cy="523875"/>
              </a:xfrm>
              <a:custGeom>
                <a:avLst/>
                <a:gdLst>
                  <a:gd name="T0" fmla="*/ 134 w 232"/>
                  <a:gd name="T1" fmla="*/ 22 h 330"/>
                  <a:gd name="T2" fmla="*/ 103 w 232"/>
                  <a:gd name="T3" fmla="*/ 47 h 330"/>
                  <a:gd name="T4" fmla="*/ 85 w 232"/>
                  <a:gd name="T5" fmla="*/ 92 h 330"/>
                  <a:gd name="T6" fmla="*/ 85 w 232"/>
                  <a:gd name="T7" fmla="*/ 141 h 330"/>
                  <a:gd name="T8" fmla="*/ 103 w 232"/>
                  <a:gd name="T9" fmla="*/ 184 h 330"/>
                  <a:gd name="T10" fmla="*/ 134 w 232"/>
                  <a:gd name="T11" fmla="*/ 210 h 330"/>
                  <a:gd name="T12" fmla="*/ 168 w 232"/>
                  <a:gd name="T13" fmla="*/ 210 h 330"/>
                  <a:gd name="T14" fmla="*/ 198 w 232"/>
                  <a:gd name="T15" fmla="*/ 184 h 330"/>
                  <a:gd name="T16" fmla="*/ 216 w 232"/>
                  <a:gd name="T17" fmla="*/ 141 h 330"/>
                  <a:gd name="T18" fmla="*/ 216 w 232"/>
                  <a:gd name="T19" fmla="*/ 92 h 330"/>
                  <a:gd name="T20" fmla="*/ 198 w 232"/>
                  <a:gd name="T21" fmla="*/ 47 h 330"/>
                  <a:gd name="T22" fmla="*/ 168 w 232"/>
                  <a:gd name="T23" fmla="*/ 22 h 330"/>
                  <a:gd name="T24" fmla="*/ 150 w 232"/>
                  <a:gd name="T25" fmla="*/ 0 h 330"/>
                  <a:gd name="T26" fmla="*/ 191 w 232"/>
                  <a:gd name="T27" fmla="*/ 15 h 330"/>
                  <a:gd name="T28" fmla="*/ 222 w 232"/>
                  <a:gd name="T29" fmla="*/ 58 h 330"/>
                  <a:gd name="T30" fmla="*/ 232 w 232"/>
                  <a:gd name="T31" fmla="*/ 116 h 330"/>
                  <a:gd name="T32" fmla="*/ 222 w 232"/>
                  <a:gd name="T33" fmla="*/ 174 h 330"/>
                  <a:gd name="T34" fmla="*/ 192 w 232"/>
                  <a:gd name="T35" fmla="*/ 215 h 330"/>
                  <a:gd name="T36" fmla="*/ 156 w 232"/>
                  <a:gd name="T37" fmla="*/ 232 h 330"/>
                  <a:gd name="T38" fmla="*/ 119 w 232"/>
                  <a:gd name="T39" fmla="*/ 223 h 330"/>
                  <a:gd name="T40" fmla="*/ 86 w 232"/>
                  <a:gd name="T41" fmla="*/ 232 h 330"/>
                  <a:gd name="T42" fmla="*/ 85 w 232"/>
                  <a:gd name="T43" fmla="*/ 244 h 330"/>
                  <a:gd name="T44" fmla="*/ 80 w 232"/>
                  <a:gd name="T45" fmla="*/ 254 h 330"/>
                  <a:gd name="T46" fmla="*/ 24 w 232"/>
                  <a:gd name="T47" fmla="*/ 330 h 330"/>
                  <a:gd name="T48" fmla="*/ 6 w 232"/>
                  <a:gd name="T49" fmla="*/ 323 h 330"/>
                  <a:gd name="T50" fmla="*/ 0 w 232"/>
                  <a:gd name="T51" fmla="*/ 297 h 330"/>
                  <a:gd name="T52" fmla="*/ 54 w 232"/>
                  <a:gd name="T53" fmla="*/ 215 h 330"/>
                  <a:gd name="T54" fmla="*/ 61 w 232"/>
                  <a:gd name="T55" fmla="*/ 210 h 330"/>
                  <a:gd name="T56" fmla="*/ 70 w 232"/>
                  <a:gd name="T57" fmla="*/ 208 h 330"/>
                  <a:gd name="T58" fmla="*/ 76 w 232"/>
                  <a:gd name="T59" fmla="*/ 162 h 330"/>
                  <a:gd name="T60" fmla="*/ 70 w 232"/>
                  <a:gd name="T61" fmla="*/ 108 h 330"/>
                  <a:gd name="T62" fmla="*/ 80 w 232"/>
                  <a:gd name="T63" fmla="*/ 56 h 330"/>
                  <a:gd name="T64" fmla="*/ 110 w 232"/>
                  <a:gd name="T65" fmla="*/ 15 h 330"/>
                  <a:gd name="T66" fmla="*/ 150 w 232"/>
                  <a:gd name="T67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32" h="330">
                    <a:moveTo>
                      <a:pt x="150" y="19"/>
                    </a:moveTo>
                    <a:lnTo>
                      <a:pt x="134" y="22"/>
                    </a:lnTo>
                    <a:lnTo>
                      <a:pt x="118" y="31"/>
                    </a:lnTo>
                    <a:lnTo>
                      <a:pt x="103" y="47"/>
                    </a:lnTo>
                    <a:lnTo>
                      <a:pt x="91" y="68"/>
                    </a:lnTo>
                    <a:lnTo>
                      <a:pt x="85" y="92"/>
                    </a:lnTo>
                    <a:lnTo>
                      <a:pt x="83" y="116"/>
                    </a:lnTo>
                    <a:lnTo>
                      <a:pt x="85" y="141"/>
                    </a:lnTo>
                    <a:lnTo>
                      <a:pt x="91" y="163"/>
                    </a:lnTo>
                    <a:lnTo>
                      <a:pt x="103" y="184"/>
                    </a:lnTo>
                    <a:lnTo>
                      <a:pt x="118" y="201"/>
                    </a:lnTo>
                    <a:lnTo>
                      <a:pt x="134" y="210"/>
                    </a:lnTo>
                    <a:lnTo>
                      <a:pt x="150" y="212"/>
                    </a:lnTo>
                    <a:lnTo>
                      <a:pt x="168" y="210"/>
                    </a:lnTo>
                    <a:lnTo>
                      <a:pt x="185" y="201"/>
                    </a:lnTo>
                    <a:lnTo>
                      <a:pt x="198" y="184"/>
                    </a:lnTo>
                    <a:lnTo>
                      <a:pt x="210" y="163"/>
                    </a:lnTo>
                    <a:lnTo>
                      <a:pt x="216" y="141"/>
                    </a:lnTo>
                    <a:lnTo>
                      <a:pt x="219" y="116"/>
                    </a:lnTo>
                    <a:lnTo>
                      <a:pt x="216" y="92"/>
                    </a:lnTo>
                    <a:lnTo>
                      <a:pt x="210" y="68"/>
                    </a:lnTo>
                    <a:lnTo>
                      <a:pt x="198" y="47"/>
                    </a:lnTo>
                    <a:lnTo>
                      <a:pt x="185" y="31"/>
                    </a:lnTo>
                    <a:lnTo>
                      <a:pt x="168" y="22"/>
                    </a:lnTo>
                    <a:lnTo>
                      <a:pt x="150" y="19"/>
                    </a:lnTo>
                    <a:close/>
                    <a:moveTo>
                      <a:pt x="150" y="0"/>
                    </a:moveTo>
                    <a:lnTo>
                      <a:pt x="171" y="3"/>
                    </a:lnTo>
                    <a:lnTo>
                      <a:pt x="191" y="15"/>
                    </a:lnTo>
                    <a:lnTo>
                      <a:pt x="208" y="34"/>
                    </a:lnTo>
                    <a:lnTo>
                      <a:pt x="222" y="58"/>
                    </a:lnTo>
                    <a:lnTo>
                      <a:pt x="229" y="86"/>
                    </a:lnTo>
                    <a:lnTo>
                      <a:pt x="232" y="116"/>
                    </a:lnTo>
                    <a:lnTo>
                      <a:pt x="229" y="146"/>
                    </a:lnTo>
                    <a:lnTo>
                      <a:pt x="222" y="174"/>
                    </a:lnTo>
                    <a:lnTo>
                      <a:pt x="208" y="198"/>
                    </a:lnTo>
                    <a:lnTo>
                      <a:pt x="192" y="215"/>
                    </a:lnTo>
                    <a:lnTo>
                      <a:pt x="174" y="227"/>
                    </a:lnTo>
                    <a:lnTo>
                      <a:pt x="156" y="232"/>
                    </a:lnTo>
                    <a:lnTo>
                      <a:pt x="137" y="230"/>
                    </a:lnTo>
                    <a:lnTo>
                      <a:pt x="119" y="223"/>
                    </a:lnTo>
                    <a:lnTo>
                      <a:pt x="101" y="210"/>
                    </a:lnTo>
                    <a:lnTo>
                      <a:pt x="86" y="232"/>
                    </a:lnTo>
                    <a:lnTo>
                      <a:pt x="86" y="238"/>
                    </a:lnTo>
                    <a:lnTo>
                      <a:pt x="85" y="244"/>
                    </a:lnTo>
                    <a:lnTo>
                      <a:pt x="83" y="250"/>
                    </a:lnTo>
                    <a:lnTo>
                      <a:pt x="80" y="254"/>
                    </a:lnTo>
                    <a:lnTo>
                      <a:pt x="33" y="323"/>
                    </a:lnTo>
                    <a:lnTo>
                      <a:pt x="24" y="330"/>
                    </a:lnTo>
                    <a:lnTo>
                      <a:pt x="15" y="330"/>
                    </a:lnTo>
                    <a:lnTo>
                      <a:pt x="6" y="323"/>
                    </a:lnTo>
                    <a:lnTo>
                      <a:pt x="0" y="311"/>
                    </a:lnTo>
                    <a:lnTo>
                      <a:pt x="0" y="297"/>
                    </a:lnTo>
                    <a:lnTo>
                      <a:pt x="6" y="284"/>
                    </a:lnTo>
                    <a:lnTo>
                      <a:pt x="54" y="215"/>
                    </a:lnTo>
                    <a:lnTo>
                      <a:pt x="57" y="211"/>
                    </a:lnTo>
                    <a:lnTo>
                      <a:pt x="61" y="210"/>
                    </a:lnTo>
                    <a:lnTo>
                      <a:pt x="66" y="208"/>
                    </a:lnTo>
                    <a:lnTo>
                      <a:pt x="70" y="208"/>
                    </a:lnTo>
                    <a:lnTo>
                      <a:pt x="85" y="186"/>
                    </a:lnTo>
                    <a:lnTo>
                      <a:pt x="76" y="162"/>
                    </a:lnTo>
                    <a:lnTo>
                      <a:pt x="70" y="135"/>
                    </a:lnTo>
                    <a:lnTo>
                      <a:pt x="70" y="108"/>
                    </a:lnTo>
                    <a:lnTo>
                      <a:pt x="73" y="82"/>
                    </a:lnTo>
                    <a:lnTo>
                      <a:pt x="80" y="56"/>
                    </a:lnTo>
                    <a:lnTo>
                      <a:pt x="92" y="34"/>
                    </a:lnTo>
                    <a:lnTo>
                      <a:pt x="110" y="15"/>
                    </a:lnTo>
                    <a:lnTo>
                      <a:pt x="130" y="3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Freeform 28">
                <a:extLst>
                  <a:ext uri="{FF2B5EF4-FFF2-40B4-BE49-F238E27FC236}">
                    <a16:creationId xmlns:a16="http://schemas.microsoft.com/office/drawing/2014/main" id="{2DF41166-BBF5-7034-CC99-D5122E82C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5701" y="5545138"/>
                <a:ext cx="31750" cy="131763"/>
              </a:xfrm>
              <a:custGeom>
                <a:avLst/>
                <a:gdLst>
                  <a:gd name="T0" fmla="*/ 15 w 20"/>
                  <a:gd name="T1" fmla="*/ 0 h 83"/>
                  <a:gd name="T2" fmla="*/ 16 w 20"/>
                  <a:gd name="T3" fmla="*/ 1 h 83"/>
                  <a:gd name="T4" fmla="*/ 18 w 20"/>
                  <a:gd name="T5" fmla="*/ 3 h 83"/>
                  <a:gd name="T6" fmla="*/ 19 w 20"/>
                  <a:gd name="T7" fmla="*/ 13 h 83"/>
                  <a:gd name="T8" fmla="*/ 20 w 20"/>
                  <a:gd name="T9" fmla="*/ 28 h 83"/>
                  <a:gd name="T10" fmla="*/ 20 w 20"/>
                  <a:gd name="T11" fmla="*/ 46 h 83"/>
                  <a:gd name="T12" fmla="*/ 16 w 20"/>
                  <a:gd name="T13" fmla="*/ 64 h 83"/>
                  <a:gd name="T14" fmla="*/ 9 w 20"/>
                  <a:gd name="T15" fmla="*/ 83 h 83"/>
                  <a:gd name="T16" fmla="*/ 7 w 20"/>
                  <a:gd name="T17" fmla="*/ 83 h 83"/>
                  <a:gd name="T18" fmla="*/ 6 w 20"/>
                  <a:gd name="T19" fmla="*/ 83 h 83"/>
                  <a:gd name="T20" fmla="*/ 4 w 20"/>
                  <a:gd name="T21" fmla="*/ 83 h 83"/>
                  <a:gd name="T22" fmla="*/ 1 w 20"/>
                  <a:gd name="T23" fmla="*/ 78 h 83"/>
                  <a:gd name="T24" fmla="*/ 0 w 20"/>
                  <a:gd name="T25" fmla="*/ 77 h 83"/>
                  <a:gd name="T26" fmla="*/ 0 w 20"/>
                  <a:gd name="T27" fmla="*/ 74 h 83"/>
                  <a:gd name="T28" fmla="*/ 1 w 20"/>
                  <a:gd name="T29" fmla="*/ 72 h 83"/>
                  <a:gd name="T30" fmla="*/ 9 w 20"/>
                  <a:gd name="T31" fmla="*/ 55 h 83"/>
                  <a:gd name="T32" fmla="*/ 10 w 20"/>
                  <a:gd name="T33" fmla="*/ 35 h 83"/>
                  <a:gd name="T34" fmla="*/ 10 w 20"/>
                  <a:gd name="T35" fmla="*/ 19 h 83"/>
                  <a:gd name="T36" fmla="*/ 7 w 20"/>
                  <a:gd name="T37" fmla="*/ 8 h 83"/>
                  <a:gd name="T38" fmla="*/ 7 w 20"/>
                  <a:gd name="T39" fmla="*/ 5 h 83"/>
                  <a:gd name="T40" fmla="*/ 9 w 20"/>
                  <a:gd name="T41" fmla="*/ 3 h 83"/>
                  <a:gd name="T42" fmla="*/ 10 w 20"/>
                  <a:gd name="T43" fmla="*/ 1 h 83"/>
                  <a:gd name="T44" fmla="*/ 13 w 20"/>
                  <a:gd name="T45" fmla="*/ 0 h 83"/>
                  <a:gd name="T46" fmla="*/ 15 w 20"/>
                  <a:gd name="T4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" h="83">
                    <a:moveTo>
                      <a:pt x="15" y="0"/>
                    </a:moveTo>
                    <a:lnTo>
                      <a:pt x="16" y="1"/>
                    </a:lnTo>
                    <a:lnTo>
                      <a:pt x="18" y="3"/>
                    </a:lnTo>
                    <a:lnTo>
                      <a:pt x="19" y="13"/>
                    </a:lnTo>
                    <a:lnTo>
                      <a:pt x="20" y="28"/>
                    </a:lnTo>
                    <a:lnTo>
                      <a:pt x="20" y="46"/>
                    </a:lnTo>
                    <a:lnTo>
                      <a:pt x="16" y="64"/>
                    </a:lnTo>
                    <a:lnTo>
                      <a:pt x="9" y="83"/>
                    </a:lnTo>
                    <a:lnTo>
                      <a:pt x="7" y="83"/>
                    </a:lnTo>
                    <a:lnTo>
                      <a:pt x="6" y="83"/>
                    </a:lnTo>
                    <a:lnTo>
                      <a:pt x="4" y="83"/>
                    </a:lnTo>
                    <a:lnTo>
                      <a:pt x="1" y="78"/>
                    </a:lnTo>
                    <a:lnTo>
                      <a:pt x="0" y="77"/>
                    </a:lnTo>
                    <a:lnTo>
                      <a:pt x="0" y="74"/>
                    </a:lnTo>
                    <a:lnTo>
                      <a:pt x="1" y="72"/>
                    </a:lnTo>
                    <a:lnTo>
                      <a:pt x="9" y="55"/>
                    </a:lnTo>
                    <a:lnTo>
                      <a:pt x="10" y="35"/>
                    </a:lnTo>
                    <a:lnTo>
                      <a:pt x="10" y="19"/>
                    </a:lnTo>
                    <a:lnTo>
                      <a:pt x="7" y="8"/>
                    </a:lnTo>
                    <a:lnTo>
                      <a:pt x="7" y="5"/>
                    </a:lnTo>
                    <a:lnTo>
                      <a:pt x="9" y="3"/>
                    </a:lnTo>
                    <a:lnTo>
                      <a:pt x="10" y="1"/>
                    </a:lnTo>
                    <a:lnTo>
                      <a:pt x="1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2EEA4B1-EC3A-3290-E1F7-6CB48770505F}"/>
                </a:ext>
              </a:extLst>
            </p:cNvPr>
            <p:cNvGrpSpPr/>
            <p:nvPr/>
          </p:nvGrpSpPr>
          <p:grpSpPr>
            <a:xfrm>
              <a:off x="7439025" y="4387850"/>
              <a:ext cx="323850" cy="496888"/>
              <a:chOff x="2181226" y="4387850"/>
              <a:chExt cx="323850" cy="496888"/>
            </a:xfrm>
          </p:grpSpPr>
          <p:sp>
            <p:nvSpPr>
              <p:cNvPr id="58" name="Freeform 29">
                <a:extLst>
                  <a:ext uri="{FF2B5EF4-FFF2-40B4-BE49-F238E27FC236}">
                    <a16:creationId xmlns:a16="http://schemas.microsoft.com/office/drawing/2014/main" id="{86C36993-EB6B-A591-53DA-F7F292BFA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1888" y="4462463"/>
                <a:ext cx="20638" cy="231775"/>
              </a:xfrm>
              <a:custGeom>
                <a:avLst/>
                <a:gdLst>
                  <a:gd name="T0" fmla="*/ 6 w 13"/>
                  <a:gd name="T1" fmla="*/ 0 h 146"/>
                  <a:gd name="T2" fmla="*/ 9 w 13"/>
                  <a:gd name="T3" fmla="*/ 0 h 146"/>
                  <a:gd name="T4" fmla="*/ 12 w 13"/>
                  <a:gd name="T5" fmla="*/ 3 h 146"/>
                  <a:gd name="T6" fmla="*/ 13 w 13"/>
                  <a:gd name="T7" fmla="*/ 6 h 146"/>
                  <a:gd name="T8" fmla="*/ 13 w 13"/>
                  <a:gd name="T9" fmla="*/ 11 h 146"/>
                  <a:gd name="T10" fmla="*/ 13 w 13"/>
                  <a:gd name="T11" fmla="*/ 136 h 146"/>
                  <a:gd name="T12" fmla="*/ 13 w 13"/>
                  <a:gd name="T13" fmla="*/ 140 h 146"/>
                  <a:gd name="T14" fmla="*/ 12 w 13"/>
                  <a:gd name="T15" fmla="*/ 143 h 146"/>
                  <a:gd name="T16" fmla="*/ 9 w 13"/>
                  <a:gd name="T17" fmla="*/ 146 h 146"/>
                  <a:gd name="T18" fmla="*/ 6 w 13"/>
                  <a:gd name="T19" fmla="*/ 146 h 146"/>
                  <a:gd name="T20" fmla="*/ 4 w 13"/>
                  <a:gd name="T21" fmla="*/ 146 h 146"/>
                  <a:gd name="T22" fmla="*/ 1 w 13"/>
                  <a:gd name="T23" fmla="*/ 143 h 146"/>
                  <a:gd name="T24" fmla="*/ 0 w 13"/>
                  <a:gd name="T25" fmla="*/ 140 h 146"/>
                  <a:gd name="T26" fmla="*/ 0 w 13"/>
                  <a:gd name="T27" fmla="*/ 136 h 146"/>
                  <a:gd name="T28" fmla="*/ 0 w 13"/>
                  <a:gd name="T29" fmla="*/ 11 h 146"/>
                  <a:gd name="T30" fmla="*/ 0 w 13"/>
                  <a:gd name="T31" fmla="*/ 6 h 146"/>
                  <a:gd name="T32" fmla="*/ 1 w 13"/>
                  <a:gd name="T33" fmla="*/ 3 h 146"/>
                  <a:gd name="T34" fmla="*/ 4 w 13"/>
                  <a:gd name="T35" fmla="*/ 0 h 146"/>
                  <a:gd name="T36" fmla="*/ 6 w 13"/>
                  <a:gd name="T37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" h="146">
                    <a:moveTo>
                      <a:pt x="6" y="0"/>
                    </a:moveTo>
                    <a:lnTo>
                      <a:pt x="9" y="0"/>
                    </a:lnTo>
                    <a:lnTo>
                      <a:pt x="12" y="3"/>
                    </a:lnTo>
                    <a:lnTo>
                      <a:pt x="13" y="6"/>
                    </a:lnTo>
                    <a:lnTo>
                      <a:pt x="13" y="11"/>
                    </a:lnTo>
                    <a:lnTo>
                      <a:pt x="13" y="136"/>
                    </a:lnTo>
                    <a:lnTo>
                      <a:pt x="13" y="140"/>
                    </a:lnTo>
                    <a:lnTo>
                      <a:pt x="12" y="143"/>
                    </a:lnTo>
                    <a:lnTo>
                      <a:pt x="9" y="146"/>
                    </a:lnTo>
                    <a:lnTo>
                      <a:pt x="6" y="146"/>
                    </a:lnTo>
                    <a:lnTo>
                      <a:pt x="4" y="146"/>
                    </a:lnTo>
                    <a:lnTo>
                      <a:pt x="1" y="143"/>
                    </a:lnTo>
                    <a:lnTo>
                      <a:pt x="0" y="140"/>
                    </a:lnTo>
                    <a:lnTo>
                      <a:pt x="0" y="136"/>
                    </a:lnTo>
                    <a:lnTo>
                      <a:pt x="0" y="11"/>
                    </a:lnTo>
                    <a:lnTo>
                      <a:pt x="0" y="6"/>
                    </a:lnTo>
                    <a:lnTo>
                      <a:pt x="1" y="3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Freeform 30">
                <a:extLst>
                  <a:ext uri="{FF2B5EF4-FFF2-40B4-BE49-F238E27FC236}">
                    <a16:creationId xmlns:a16="http://schemas.microsoft.com/office/drawing/2014/main" id="{F1D1163B-56AF-F6C6-DA50-00E485D54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9988" y="4514850"/>
                <a:ext cx="20638" cy="179388"/>
              </a:xfrm>
              <a:custGeom>
                <a:avLst/>
                <a:gdLst>
                  <a:gd name="T0" fmla="*/ 7 w 13"/>
                  <a:gd name="T1" fmla="*/ 0 h 113"/>
                  <a:gd name="T2" fmla="*/ 9 w 13"/>
                  <a:gd name="T3" fmla="*/ 0 h 113"/>
                  <a:gd name="T4" fmla="*/ 11 w 13"/>
                  <a:gd name="T5" fmla="*/ 3 h 113"/>
                  <a:gd name="T6" fmla="*/ 13 w 13"/>
                  <a:gd name="T7" fmla="*/ 6 h 113"/>
                  <a:gd name="T8" fmla="*/ 13 w 13"/>
                  <a:gd name="T9" fmla="*/ 10 h 113"/>
                  <a:gd name="T10" fmla="*/ 13 w 13"/>
                  <a:gd name="T11" fmla="*/ 103 h 113"/>
                  <a:gd name="T12" fmla="*/ 13 w 13"/>
                  <a:gd name="T13" fmla="*/ 107 h 113"/>
                  <a:gd name="T14" fmla="*/ 11 w 13"/>
                  <a:gd name="T15" fmla="*/ 110 h 113"/>
                  <a:gd name="T16" fmla="*/ 9 w 13"/>
                  <a:gd name="T17" fmla="*/ 113 h 113"/>
                  <a:gd name="T18" fmla="*/ 7 w 13"/>
                  <a:gd name="T19" fmla="*/ 113 h 113"/>
                  <a:gd name="T20" fmla="*/ 4 w 13"/>
                  <a:gd name="T21" fmla="*/ 113 h 113"/>
                  <a:gd name="T22" fmla="*/ 3 w 13"/>
                  <a:gd name="T23" fmla="*/ 110 h 113"/>
                  <a:gd name="T24" fmla="*/ 1 w 13"/>
                  <a:gd name="T25" fmla="*/ 107 h 113"/>
                  <a:gd name="T26" fmla="*/ 0 w 13"/>
                  <a:gd name="T27" fmla="*/ 103 h 113"/>
                  <a:gd name="T28" fmla="*/ 0 w 13"/>
                  <a:gd name="T29" fmla="*/ 10 h 113"/>
                  <a:gd name="T30" fmla="*/ 1 w 13"/>
                  <a:gd name="T31" fmla="*/ 6 h 113"/>
                  <a:gd name="T32" fmla="*/ 3 w 13"/>
                  <a:gd name="T33" fmla="*/ 3 h 113"/>
                  <a:gd name="T34" fmla="*/ 4 w 13"/>
                  <a:gd name="T35" fmla="*/ 0 h 113"/>
                  <a:gd name="T36" fmla="*/ 7 w 13"/>
                  <a:gd name="T37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" h="113">
                    <a:moveTo>
                      <a:pt x="7" y="0"/>
                    </a:moveTo>
                    <a:lnTo>
                      <a:pt x="9" y="0"/>
                    </a:lnTo>
                    <a:lnTo>
                      <a:pt x="11" y="3"/>
                    </a:lnTo>
                    <a:lnTo>
                      <a:pt x="13" y="6"/>
                    </a:lnTo>
                    <a:lnTo>
                      <a:pt x="13" y="10"/>
                    </a:lnTo>
                    <a:lnTo>
                      <a:pt x="13" y="103"/>
                    </a:lnTo>
                    <a:lnTo>
                      <a:pt x="13" y="107"/>
                    </a:lnTo>
                    <a:lnTo>
                      <a:pt x="11" y="110"/>
                    </a:lnTo>
                    <a:lnTo>
                      <a:pt x="9" y="113"/>
                    </a:lnTo>
                    <a:lnTo>
                      <a:pt x="7" y="113"/>
                    </a:lnTo>
                    <a:lnTo>
                      <a:pt x="4" y="113"/>
                    </a:lnTo>
                    <a:lnTo>
                      <a:pt x="3" y="110"/>
                    </a:lnTo>
                    <a:lnTo>
                      <a:pt x="1" y="107"/>
                    </a:lnTo>
                    <a:lnTo>
                      <a:pt x="0" y="103"/>
                    </a:lnTo>
                    <a:lnTo>
                      <a:pt x="0" y="10"/>
                    </a:lnTo>
                    <a:lnTo>
                      <a:pt x="1" y="6"/>
                    </a:lnTo>
                    <a:lnTo>
                      <a:pt x="3" y="3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Freeform 31">
                <a:extLst>
                  <a:ext uri="{FF2B5EF4-FFF2-40B4-BE49-F238E27FC236}">
                    <a16:creationId xmlns:a16="http://schemas.microsoft.com/office/drawing/2014/main" id="{2757AF2D-92B6-DBCB-E31A-A1C07B611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2026" y="4519613"/>
                <a:ext cx="98425" cy="160338"/>
              </a:xfrm>
              <a:custGeom>
                <a:avLst/>
                <a:gdLst>
                  <a:gd name="T0" fmla="*/ 31 w 62"/>
                  <a:gd name="T1" fmla="*/ 0 h 101"/>
                  <a:gd name="T2" fmla="*/ 43 w 62"/>
                  <a:gd name="T3" fmla="*/ 4 h 101"/>
                  <a:gd name="T4" fmla="*/ 53 w 62"/>
                  <a:gd name="T5" fmla="*/ 15 h 101"/>
                  <a:gd name="T6" fmla="*/ 59 w 62"/>
                  <a:gd name="T7" fmla="*/ 31 h 101"/>
                  <a:gd name="T8" fmla="*/ 62 w 62"/>
                  <a:gd name="T9" fmla="*/ 50 h 101"/>
                  <a:gd name="T10" fmla="*/ 59 w 62"/>
                  <a:gd name="T11" fmla="*/ 70 h 101"/>
                  <a:gd name="T12" fmla="*/ 53 w 62"/>
                  <a:gd name="T13" fmla="*/ 86 h 101"/>
                  <a:gd name="T14" fmla="*/ 43 w 62"/>
                  <a:gd name="T15" fmla="*/ 97 h 101"/>
                  <a:gd name="T16" fmla="*/ 31 w 62"/>
                  <a:gd name="T17" fmla="*/ 101 h 101"/>
                  <a:gd name="T18" fmla="*/ 19 w 62"/>
                  <a:gd name="T19" fmla="*/ 97 h 101"/>
                  <a:gd name="T20" fmla="*/ 8 w 62"/>
                  <a:gd name="T21" fmla="*/ 86 h 101"/>
                  <a:gd name="T22" fmla="*/ 3 w 62"/>
                  <a:gd name="T23" fmla="*/ 70 h 101"/>
                  <a:gd name="T24" fmla="*/ 0 w 62"/>
                  <a:gd name="T25" fmla="*/ 50 h 101"/>
                  <a:gd name="T26" fmla="*/ 3 w 62"/>
                  <a:gd name="T27" fmla="*/ 31 h 101"/>
                  <a:gd name="T28" fmla="*/ 8 w 62"/>
                  <a:gd name="T29" fmla="*/ 15 h 101"/>
                  <a:gd name="T30" fmla="*/ 19 w 62"/>
                  <a:gd name="T31" fmla="*/ 4 h 101"/>
                  <a:gd name="T32" fmla="*/ 31 w 62"/>
                  <a:gd name="T33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" h="101">
                    <a:moveTo>
                      <a:pt x="31" y="0"/>
                    </a:moveTo>
                    <a:lnTo>
                      <a:pt x="43" y="4"/>
                    </a:lnTo>
                    <a:lnTo>
                      <a:pt x="53" y="15"/>
                    </a:lnTo>
                    <a:lnTo>
                      <a:pt x="59" y="31"/>
                    </a:lnTo>
                    <a:lnTo>
                      <a:pt x="62" y="50"/>
                    </a:lnTo>
                    <a:lnTo>
                      <a:pt x="59" y="70"/>
                    </a:lnTo>
                    <a:lnTo>
                      <a:pt x="53" y="86"/>
                    </a:lnTo>
                    <a:lnTo>
                      <a:pt x="43" y="97"/>
                    </a:lnTo>
                    <a:lnTo>
                      <a:pt x="31" y="101"/>
                    </a:lnTo>
                    <a:lnTo>
                      <a:pt x="19" y="97"/>
                    </a:lnTo>
                    <a:lnTo>
                      <a:pt x="8" y="86"/>
                    </a:lnTo>
                    <a:lnTo>
                      <a:pt x="3" y="70"/>
                    </a:lnTo>
                    <a:lnTo>
                      <a:pt x="0" y="50"/>
                    </a:lnTo>
                    <a:lnTo>
                      <a:pt x="3" y="31"/>
                    </a:lnTo>
                    <a:lnTo>
                      <a:pt x="8" y="15"/>
                    </a:lnTo>
                    <a:lnTo>
                      <a:pt x="19" y="4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Freeform 32">
                <a:extLst>
                  <a:ext uri="{FF2B5EF4-FFF2-40B4-BE49-F238E27FC236}">
                    <a16:creationId xmlns:a16="http://schemas.microsoft.com/office/drawing/2014/main" id="{CA8C6840-E71D-A8AF-ED87-626EC0108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6163" y="4387850"/>
                <a:ext cx="188913" cy="19050"/>
              </a:xfrm>
              <a:custGeom>
                <a:avLst/>
                <a:gdLst>
                  <a:gd name="T0" fmla="*/ 3 w 119"/>
                  <a:gd name="T1" fmla="*/ 0 h 12"/>
                  <a:gd name="T2" fmla="*/ 115 w 119"/>
                  <a:gd name="T3" fmla="*/ 0 h 12"/>
                  <a:gd name="T4" fmla="*/ 116 w 119"/>
                  <a:gd name="T5" fmla="*/ 1 h 12"/>
                  <a:gd name="T6" fmla="*/ 118 w 119"/>
                  <a:gd name="T7" fmla="*/ 3 h 12"/>
                  <a:gd name="T8" fmla="*/ 119 w 119"/>
                  <a:gd name="T9" fmla="*/ 6 h 12"/>
                  <a:gd name="T10" fmla="*/ 118 w 119"/>
                  <a:gd name="T11" fmla="*/ 9 h 12"/>
                  <a:gd name="T12" fmla="*/ 116 w 119"/>
                  <a:gd name="T13" fmla="*/ 12 h 12"/>
                  <a:gd name="T14" fmla="*/ 115 w 119"/>
                  <a:gd name="T15" fmla="*/ 12 h 12"/>
                  <a:gd name="T16" fmla="*/ 3 w 119"/>
                  <a:gd name="T17" fmla="*/ 12 h 12"/>
                  <a:gd name="T18" fmla="*/ 2 w 119"/>
                  <a:gd name="T19" fmla="*/ 12 h 12"/>
                  <a:gd name="T20" fmla="*/ 0 w 119"/>
                  <a:gd name="T21" fmla="*/ 9 h 12"/>
                  <a:gd name="T22" fmla="*/ 0 w 119"/>
                  <a:gd name="T23" fmla="*/ 6 h 12"/>
                  <a:gd name="T24" fmla="*/ 0 w 119"/>
                  <a:gd name="T25" fmla="*/ 3 h 12"/>
                  <a:gd name="T26" fmla="*/ 2 w 119"/>
                  <a:gd name="T27" fmla="*/ 1 h 12"/>
                  <a:gd name="T28" fmla="*/ 3 w 119"/>
                  <a:gd name="T2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" h="12">
                    <a:moveTo>
                      <a:pt x="3" y="0"/>
                    </a:moveTo>
                    <a:lnTo>
                      <a:pt x="115" y="0"/>
                    </a:lnTo>
                    <a:lnTo>
                      <a:pt x="116" y="1"/>
                    </a:lnTo>
                    <a:lnTo>
                      <a:pt x="118" y="3"/>
                    </a:lnTo>
                    <a:lnTo>
                      <a:pt x="119" y="6"/>
                    </a:lnTo>
                    <a:lnTo>
                      <a:pt x="118" y="9"/>
                    </a:lnTo>
                    <a:lnTo>
                      <a:pt x="116" y="12"/>
                    </a:lnTo>
                    <a:lnTo>
                      <a:pt x="115" y="12"/>
                    </a:lnTo>
                    <a:lnTo>
                      <a:pt x="3" y="12"/>
                    </a:lnTo>
                    <a:lnTo>
                      <a:pt x="2" y="12"/>
                    </a:lnTo>
                    <a:lnTo>
                      <a:pt x="0" y="9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33">
                <a:extLst>
                  <a:ext uri="{FF2B5EF4-FFF2-40B4-BE49-F238E27FC236}">
                    <a16:creationId xmlns:a16="http://schemas.microsoft.com/office/drawing/2014/main" id="{3F00E33E-B741-BA7B-D862-34450912E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1226" y="4724400"/>
                <a:ext cx="323850" cy="160338"/>
              </a:xfrm>
              <a:custGeom>
                <a:avLst/>
                <a:gdLst>
                  <a:gd name="T0" fmla="*/ 63 w 204"/>
                  <a:gd name="T1" fmla="*/ 0 h 101"/>
                  <a:gd name="T2" fmla="*/ 78 w 204"/>
                  <a:gd name="T3" fmla="*/ 3 h 101"/>
                  <a:gd name="T4" fmla="*/ 93 w 204"/>
                  <a:gd name="T5" fmla="*/ 12 h 101"/>
                  <a:gd name="T6" fmla="*/ 105 w 204"/>
                  <a:gd name="T7" fmla="*/ 26 h 101"/>
                  <a:gd name="T8" fmla="*/ 200 w 204"/>
                  <a:gd name="T9" fmla="*/ 26 h 101"/>
                  <a:gd name="T10" fmla="*/ 201 w 204"/>
                  <a:gd name="T11" fmla="*/ 26 h 101"/>
                  <a:gd name="T12" fmla="*/ 203 w 204"/>
                  <a:gd name="T13" fmla="*/ 29 h 101"/>
                  <a:gd name="T14" fmla="*/ 204 w 204"/>
                  <a:gd name="T15" fmla="*/ 32 h 101"/>
                  <a:gd name="T16" fmla="*/ 203 w 204"/>
                  <a:gd name="T17" fmla="*/ 35 h 101"/>
                  <a:gd name="T18" fmla="*/ 201 w 204"/>
                  <a:gd name="T19" fmla="*/ 36 h 101"/>
                  <a:gd name="T20" fmla="*/ 200 w 204"/>
                  <a:gd name="T21" fmla="*/ 38 h 101"/>
                  <a:gd name="T22" fmla="*/ 110 w 204"/>
                  <a:gd name="T23" fmla="*/ 38 h 101"/>
                  <a:gd name="T24" fmla="*/ 119 w 204"/>
                  <a:gd name="T25" fmla="*/ 55 h 101"/>
                  <a:gd name="T26" fmla="*/ 124 w 204"/>
                  <a:gd name="T27" fmla="*/ 78 h 101"/>
                  <a:gd name="T28" fmla="*/ 125 w 204"/>
                  <a:gd name="T29" fmla="*/ 101 h 101"/>
                  <a:gd name="T30" fmla="*/ 0 w 204"/>
                  <a:gd name="T31" fmla="*/ 93 h 101"/>
                  <a:gd name="T32" fmla="*/ 3 w 204"/>
                  <a:gd name="T33" fmla="*/ 61 h 101"/>
                  <a:gd name="T34" fmla="*/ 12 w 204"/>
                  <a:gd name="T35" fmla="*/ 36 h 101"/>
                  <a:gd name="T36" fmla="*/ 26 w 204"/>
                  <a:gd name="T37" fmla="*/ 17 h 101"/>
                  <a:gd name="T38" fmla="*/ 43 w 204"/>
                  <a:gd name="T39" fmla="*/ 5 h 101"/>
                  <a:gd name="T40" fmla="*/ 63 w 204"/>
                  <a:gd name="T41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4" h="101">
                    <a:moveTo>
                      <a:pt x="63" y="0"/>
                    </a:moveTo>
                    <a:lnTo>
                      <a:pt x="78" y="3"/>
                    </a:lnTo>
                    <a:lnTo>
                      <a:pt x="93" y="12"/>
                    </a:lnTo>
                    <a:lnTo>
                      <a:pt x="105" y="26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3" y="29"/>
                    </a:lnTo>
                    <a:lnTo>
                      <a:pt x="204" y="32"/>
                    </a:lnTo>
                    <a:lnTo>
                      <a:pt x="203" y="35"/>
                    </a:lnTo>
                    <a:lnTo>
                      <a:pt x="201" y="36"/>
                    </a:lnTo>
                    <a:lnTo>
                      <a:pt x="200" y="38"/>
                    </a:lnTo>
                    <a:lnTo>
                      <a:pt x="110" y="38"/>
                    </a:lnTo>
                    <a:lnTo>
                      <a:pt x="119" y="55"/>
                    </a:lnTo>
                    <a:lnTo>
                      <a:pt x="124" y="78"/>
                    </a:lnTo>
                    <a:lnTo>
                      <a:pt x="125" y="101"/>
                    </a:lnTo>
                    <a:lnTo>
                      <a:pt x="0" y="93"/>
                    </a:lnTo>
                    <a:lnTo>
                      <a:pt x="3" y="61"/>
                    </a:lnTo>
                    <a:lnTo>
                      <a:pt x="12" y="36"/>
                    </a:lnTo>
                    <a:lnTo>
                      <a:pt x="26" y="17"/>
                    </a:lnTo>
                    <a:lnTo>
                      <a:pt x="43" y="5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Freeform 34">
                <a:extLst>
                  <a:ext uri="{FF2B5EF4-FFF2-40B4-BE49-F238E27FC236}">
                    <a16:creationId xmlns:a16="http://schemas.microsoft.com/office/drawing/2014/main" id="{1FF9C227-AC32-EADC-7DBE-B58CEEB84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9026" y="4598988"/>
                <a:ext cx="20638" cy="95250"/>
              </a:xfrm>
              <a:custGeom>
                <a:avLst/>
                <a:gdLst>
                  <a:gd name="T0" fmla="*/ 7 w 13"/>
                  <a:gd name="T1" fmla="*/ 0 h 60"/>
                  <a:gd name="T2" fmla="*/ 9 w 13"/>
                  <a:gd name="T3" fmla="*/ 2 h 60"/>
                  <a:gd name="T4" fmla="*/ 12 w 13"/>
                  <a:gd name="T5" fmla="*/ 3 h 60"/>
                  <a:gd name="T6" fmla="*/ 13 w 13"/>
                  <a:gd name="T7" fmla="*/ 6 h 60"/>
                  <a:gd name="T8" fmla="*/ 13 w 13"/>
                  <a:gd name="T9" fmla="*/ 11 h 60"/>
                  <a:gd name="T10" fmla="*/ 13 w 13"/>
                  <a:gd name="T11" fmla="*/ 50 h 60"/>
                  <a:gd name="T12" fmla="*/ 13 w 13"/>
                  <a:gd name="T13" fmla="*/ 54 h 60"/>
                  <a:gd name="T14" fmla="*/ 12 w 13"/>
                  <a:gd name="T15" fmla="*/ 57 h 60"/>
                  <a:gd name="T16" fmla="*/ 9 w 13"/>
                  <a:gd name="T17" fmla="*/ 60 h 60"/>
                  <a:gd name="T18" fmla="*/ 7 w 13"/>
                  <a:gd name="T19" fmla="*/ 60 h 60"/>
                  <a:gd name="T20" fmla="*/ 4 w 13"/>
                  <a:gd name="T21" fmla="*/ 60 h 60"/>
                  <a:gd name="T22" fmla="*/ 1 w 13"/>
                  <a:gd name="T23" fmla="*/ 57 h 60"/>
                  <a:gd name="T24" fmla="*/ 1 w 13"/>
                  <a:gd name="T25" fmla="*/ 54 h 60"/>
                  <a:gd name="T26" fmla="*/ 0 w 13"/>
                  <a:gd name="T27" fmla="*/ 50 h 60"/>
                  <a:gd name="T28" fmla="*/ 0 w 13"/>
                  <a:gd name="T29" fmla="*/ 11 h 60"/>
                  <a:gd name="T30" fmla="*/ 1 w 13"/>
                  <a:gd name="T31" fmla="*/ 6 h 60"/>
                  <a:gd name="T32" fmla="*/ 1 w 13"/>
                  <a:gd name="T33" fmla="*/ 3 h 60"/>
                  <a:gd name="T34" fmla="*/ 4 w 13"/>
                  <a:gd name="T35" fmla="*/ 2 h 60"/>
                  <a:gd name="T36" fmla="*/ 7 w 13"/>
                  <a:gd name="T3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" h="60">
                    <a:moveTo>
                      <a:pt x="7" y="0"/>
                    </a:moveTo>
                    <a:lnTo>
                      <a:pt x="9" y="2"/>
                    </a:lnTo>
                    <a:lnTo>
                      <a:pt x="12" y="3"/>
                    </a:lnTo>
                    <a:lnTo>
                      <a:pt x="13" y="6"/>
                    </a:lnTo>
                    <a:lnTo>
                      <a:pt x="13" y="11"/>
                    </a:lnTo>
                    <a:lnTo>
                      <a:pt x="13" y="50"/>
                    </a:lnTo>
                    <a:lnTo>
                      <a:pt x="13" y="54"/>
                    </a:lnTo>
                    <a:lnTo>
                      <a:pt x="12" y="57"/>
                    </a:lnTo>
                    <a:lnTo>
                      <a:pt x="9" y="60"/>
                    </a:lnTo>
                    <a:lnTo>
                      <a:pt x="7" y="60"/>
                    </a:lnTo>
                    <a:lnTo>
                      <a:pt x="4" y="60"/>
                    </a:lnTo>
                    <a:lnTo>
                      <a:pt x="1" y="57"/>
                    </a:lnTo>
                    <a:lnTo>
                      <a:pt x="1" y="54"/>
                    </a:lnTo>
                    <a:lnTo>
                      <a:pt x="0" y="50"/>
                    </a:lnTo>
                    <a:lnTo>
                      <a:pt x="0" y="11"/>
                    </a:lnTo>
                    <a:lnTo>
                      <a:pt x="1" y="6"/>
                    </a:lnTo>
                    <a:lnTo>
                      <a:pt x="1" y="3"/>
                    </a:lnTo>
                    <a:lnTo>
                      <a:pt x="4" y="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6CE88558-2020-EB95-2676-15119267B6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7125" y="1527175"/>
              <a:ext cx="255588" cy="446088"/>
            </a:xfrm>
            <a:custGeom>
              <a:avLst/>
              <a:gdLst>
                <a:gd name="T0" fmla="*/ 12 w 161"/>
                <a:gd name="T1" fmla="*/ 85 h 281"/>
                <a:gd name="T2" fmla="*/ 18 w 161"/>
                <a:gd name="T3" fmla="*/ 130 h 281"/>
                <a:gd name="T4" fmla="*/ 30 w 161"/>
                <a:gd name="T5" fmla="*/ 149 h 281"/>
                <a:gd name="T6" fmla="*/ 42 w 161"/>
                <a:gd name="T7" fmla="*/ 153 h 281"/>
                <a:gd name="T8" fmla="*/ 30 w 161"/>
                <a:gd name="T9" fmla="*/ 79 h 281"/>
                <a:gd name="T10" fmla="*/ 130 w 161"/>
                <a:gd name="T11" fmla="*/ 36 h 281"/>
                <a:gd name="T12" fmla="*/ 121 w 161"/>
                <a:gd name="T13" fmla="*/ 121 h 281"/>
                <a:gd name="T14" fmla="*/ 131 w 161"/>
                <a:gd name="T15" fmla="*/ 107 h 281"/>
                <a:gd name="T16" fmla="*/ 143 w 161"/>
                <a:gd name="T17" fmla="*/ 79 h 281"/>
                <a:gd name="T18" fmla="*/ 149 w 161"/>
                <a:gd name="T19" fmla="*/ 28 h 281"/>
                <a:gd name="T20" fmla="*/ 161 w 161"/>
                <a:gd name="T21" fmla="*/ 5 h 281"/>
                <a:gd name="T22" fmla="*/ 161 w 161"/>
                <a:gd name="T23" fmla="*/ 28 h 281"/>
                <a:gd name="T24" fmla="*/ 158 w 161"/>
                <a:gd name="T25" fmla="*/ 67 h 281"/>
                <a:gd name="T26" fmla="*/ 148 w 161"/>
                <a:gd name="T27" fmla="*/ 109 h 281"/>
                <a:gd name="T28" fmla="*/ 127 w 161"/>
                <a:gd name="T29" fmla="*/ 141 h 281"/>
                <a:gd name="T30" fmla="*/ 110 w 161"/>
                <a:gd name="T31" fmla="*/ 153 h 281"/>
                <a:gd name="T32" fmla="*/ 94 w 161"/>
                <a:gd name="T33" fmla="*/ 186 h 281"/>
                <a:gd name="T34" fmla="*/ 103 w 161"/>
                <a:gd name="T35" fmla="*/ 234 h 281"/>
                <a:gd name="T36" fmla="*/ 109 w 161"/>
                <a:gd name="T37" fmla="*/ 237 h 281"/>
                <a:gd name="T38" fmla="*/ 110 w 161"/>
                <a:gd name="T39" fmla="*/ 246 h 281"/>
                <a:gd name="T40" fmla="*/ 109 w 161"/>
                <a:gd name="T41" fmla="*/ 256 h 281"/>
                <a:gd name="T42" fmla="*/ 103 w 161"/>
                <a:gd name="T43" fmla="*/ 263 h 281"/>
                <a:gd name="T44" fmla="*/ 58 w 161"/>
                <a:gd name="T45" fmla="*/ 281 h 281"/>
                <a:gd name="T46" fmla="*/ 54 w 161"/>
                <a:gd name="T47" fmla="*/ 275 h 281"/>
                <a:gd name="T48" fmla="*/ 54 w 161"/>
                <a:gd name="T49" fmla="*/ 263 h 281"/>
                <a:gd name="T50" fmla="*/ 58 w 161"/>
                <a:gd name="T51" fmla="*/ 254 h 281"/>
                <a:gd name="T52" fmla="*/ 70 w 161"/>
                <a:gd name="T53" fmla="*/ 249 h 281"/>
                <a:gd name="T54" fmla="*/ 66 w 161"/>
                <a:gd name="T55" fmla="*/ 193 h 281"/>
                <a:gd name="T56" fmla="*/ 57 w 161"/>
                <a:gd name="T57" fmla="*/ 185 h 281"/>
                <a:gd name="T58" fmla="*/ 37 w 161"/>
                <a:gd name="T59" fmla="*/ 180 h 281"/>
                <a:gd name="T60" fmla="*/ 16 w 161"/>
                <a:gd name="T61" fmla="*/ 168 h 281"/>
                <a:gd name="T62" fmla="*/ 6 w 161"/>
                <a:gd name="T63" fmla="*/ 140 h 281"/>
                <a:gd name="T64" fmla="*/ 2 w 161"/>
                <a:gd name="T65" fmla="*/ 107 h 281"/>
                <a:gd name="T66" fmla="*/ 0 w 161"/>
                <a:gd name="T67" fmla="*/ 79 h 281"/>
                <a:gd name="T68" fmla="*/ 0 w 161"/>
                <a:gd name="T69" fmla="*/ 69 h 281"/>
                <a:gd name="T70" fmla="*/ 40 w 161"/>
                <a:gd name="T71" fmla="*/ 52 h 281"/>
                <a:gd name="T72" fmla="*/ 131 w 161"/>
                <a:gd name="T73" fmla="*/ 13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1" h="281">
                  <a:moveTo>
                    <a:pt x="30" y="79"/>
                  </a:moveTo>
                  <a:lnTo>
                    <a:pt x="12" y="85"/>
                  </a:lnTo>
                  <a:lnTo>
                    <a:pt x="15" y="112"/>
                  </a:lnTo>
                  <a:lnTo>
                    <a:pt x="18" y="130"/>
                  </a:lnTo>
                  <a:lnTo>
                    <a:pt x="24" y="143"/>
                  </a:lnTo>
                  <a:lnTo>
                    <a:pt x="30" y="149"/>
                  </a:lnTo>
                  <a:lnTo>
                    <a:pt x="36" y="153"/>
                  </a:lnTo>
                  <a:lnTo>
                    <a:pt x="42" y="153"/>
                  </a:lnTo>
                  <a:lnTo>
                    <a:pt x="34" y="119"/>
                  </a:lnTo>
                  <a:lnTo>
                    <a:pt x="30" y="79"/>
                  </a:lnTo>
                  <a:close/>
                  <a:moveTo>
                    <a:pt x="149" y="28"/>
                  </a:moveTo>
                  <a:lnTo>
                    <a:pt x="130" y="36"/>
                  </a:lnTo>
                  <a:lnTo>
                    <a:pt x="127" y="80"/>
                  </a:lnTo>
                  <a:lnTo>
                    <a:pt x="121" y="121"/>
                  </a:lnTo>
                  <a:lnTo>
                    <a:pt x="125" y="116"/>
                  </a:lnTo>
                  <a:lnTo>
                    <a:pt x="131" y="107"/>
                  </a:lnTo>
                  <a:lnTo>
                    <a:pt x="139" y="95"/>
                  </a:lnTo>
                  <a:lnTo>
                    <a:pt x="143" y="79"/>
                  </a:lnTo>
                  <a:lnTo>
                    <a:pt x="148" y="57"/>
                  </a:lnTo>
                  <a:lnTo>
                    <a:pt x="149" y="28"/>
                  </a:lnTo>
                  <a:close/>
                  <a:moveTo>
                    <a:pt x="159" y="0"/>
                  </a:moveTo>
                  <a:lnTo>
                    <a:pt x="161" y="5"/>
                  </a:lnTo>
                  <a:lnTo>
                    <a:pt x="161" y="13"/>
                  </a:lnTo>
                  <a:lnTo>
                    <a:pt x="161" y="28"/>
                  </a:lnTo>
                  <a:lnTo>
                    <a:pt x="159" y="46"/>
                  </a:lnTo>
                  <a:lnTo>
                    <a:pt x="158" y="67"/>
                  </a:lnTo>
                  <a:lnTo>
                    <a:pt x="153" y="88"/>
                  </a:lnTo>
                  <a:lnTo>
                    <a:pt x="148" y="109"/>
                  </a:lnTo>
                  <a:lnTo>
                    <a:pt x="139" y="127"/>
                  </a:lnTo>
                  <a:lnTo>
                    <a:pt x="127" y="141"/>
                  </a:lnTo>
                  <a:lnTo>
                    <a:pt x="112" y="152"/>
                  </a:lnTo>
                  <a:lnTo>
                    <a:pt x="110" y="153"/>
                  </a:lnTo>
                  <a:lnTo>
                    <a:pt x="103" y="171"/>
                  </a:lnTo>
                  <a:lnTo>
                    <a:pt x="94" y="186"/>
                  </a:lnTo>
                  <a:lnTo>
                    <a:pt x="94" y="238"/>
                  </a:lnTo>
                  <a:lnTo>
                    <a:pt x="103" y="234"/>
                  </a:lnTo>
                  <a:lnTo>
                    <a:pt x="106" y="234"/>
                  </a:lnTo>
                  <a:lnTo>
                    <a:pt x="109" y="237"/>
                  </a:lnTo>
                  <a:lnTo>
                    <a:pt x="110" y="240"/>
                  </a:lnTo>
                  <a:lnTo>
                    <a:pt x="110" y="246"/>
                  </a:lnTo>
                  <a:lnTo>
                    <a:pt x="110" y="251"/>
                  </a:lnTo>
                  <a:lnTo>
                    <a:pt x="109" y="256"/>
                  </a:lnTo>
                  <a:lnTo>
                    <a:pt x="106" y="260"/>
                  </a:lnTo>
                  <a:lnTo>
                    <a:pt x="103" y="263"/>
                  </a:lnTo>
                  <a:lnTo>
                    <a:pt x="61" y="281"/>
                  </a:lnTo>
                  <a:lnTo>
                    <a:pt x="58" y="281"/>
                  </a:lnTo>
                  <a:lnTo>
                    <a:pt x="55" y="278"/>
                  </a:lnTo>
                  <a:lnTo>
                    <a:pt x="54" y="275"/>
                  </a:lnTo>
                  <a:lnTo>
                    <a:pt x="54" y="269"/>
                  </a:lnTo>
                  <a:lnTo>
                    <a:pt x="54" y="263"/>
                  </a:lnTo>
                  <a:lnTo>
                    <a:pt x="55" y="259"/>
                  </a:lnTo>
                  <a:lnTo>
                    <a:pt x="58" y="254"/>
                  </a:lnTo>
                  <a:lnTo>
                    <a:pt x="61" y="253"/>
                  </a:lnTo>
                  <a:lnTo>
                    <a:pt x="70" y="249"/>
                  </a:lnTo>
                  <a:lnTo>
                    <a:pt x="70" y="196"/>
                  </a:lnTo>
                  <a:lnTo>
                    <a:pt x="66" y="193"/>
                  </a:lnTo>
                  <a:lnTo>
                    <a:pt x="61" y="191"/>
                  </a:lnTo>
                  <a:lnTo>
                    <a:pt x="57" y="185"/>
                  </a:lnTo>
                  <a:lnTo>
                    <a:pt x="52" y="177"/>
                  </a:lnTo>
                  <a:lnTo>
                    <a:pt x="37" y="180"/>
                  </a:lnTo>
                  <a:lnTo>
                    <a:pt x="25" y="177"/>
                  </a:lnTo>
                  <a:lnTo>
                    <a:pt x="16" y="168"/>
                  </a:lnTo>
                  <a:lnTo>
                    <a:pt x="11" y="155"/>
                  </a:lnTo>
                  <a:lnTo>
                    <a:pt x="6" y="140"/>
                  </a:lnTo>
                  <a:lnTo>
                    <a:pt x="3" y="124"/>
                  </a:lnTo>
                  <a:lnTo>
                    <a:pt x="2" y="107"/>
                  </a:lnTo>
                  <a:lnTo>
                    <a:pt x="0" y="92"/>
                  </a:lnTo>
                  <a:lnTo>
                    <a:pt x="0" y="79"/>
                  </a:lnTo>
                  <a:lnTo>
                    <a:pt x="0" y="71"/>
                  </a:lnTo>
                  <a:lnTo>
                    <a:pt x="0" y="69"/>
                  </a:lnTo>
                  <a:lnTo>
                    <a:pt x="30" y="57"/>
                  </a:lnTo>
                  <a:lnTo>
                    <a:pt x="40" y="52"/>
                  </a:lnTo>
                  <a:lnTo>
                    <a:pt x="121" y="16"/>
                  </a:lnTo>
                  <a:lnTo>
                    <a:pt x="131" y="13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0D8166E-638F-7EA9-38F3-B03871487025}"/>
                </a:ext>
              </a:extLst>
            </p:cNvPr>
            <p:cNvGrpSpPr/>
            <p:nvPr/>
          </p:nvGrpSpPr>
          <p:grpSpPr>
            <a:xfrm>
              <a:off x="7419975" y="2432050"/>
              <a:ext cx="388938" cy="538163"/>
              <a:chOff x="2162176" y="2432050"/>
              <a:chExt cx="388938" cy="538163"/>
            </a:xfrm>
          </p:grpSpPr>
          <p:sp>
            <p:nvSpPr>
              <p:cNvPr id="56" name="Freeform 36">
                <a:extLst>
                  <a:ext uri="{FF2B5EF4-FFF2-40B4-BE49-F238E27FC236}">
                    <a16:creationId xmlns:a16="http://schemas.microsoft.com/office/drawing/2014/main" id="{0BE2CE22-67EA-E61B-1DC3-205775328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1701" y="2432050"/>
                <a:ext cx="379413" cy="358775"/>
              </a:xfrm>
              <a:custGeom>
                <a:avLst/>
                <a:gdLst>
                  <a:gd name="T0" fmla="*/ 239 w 239"/>
                  <a:gd name="T1" fmla="*/ 0 h 226"/>
                  <a:gd name="T2" fmla="*/ 227 w 239"/>
                  <a:gd name="T3" fmla="*/ 27 h 226"/>
                  <a:gd name="T4" fmla="*/ 224 w 239"/>
                  <a:gd name="T5" fmla="*/ 24 h 226"/>
                  <a:gd name="T6" fmla="*/ 143 w 239"/>
                  <a:gd name="T7" fmla="*/ 108 h 226"/>
                  <a:gd name="T8" fmla="*/ 121 w 239"/>
                  <a:gd name="T9" fmla="*/ 94 h 226"/>
                  <a:gd name="T10" fmla="*/ 6 w 239"/>
                  <a:gd name="T11" fmla="*/ 226 h 226"/>
                  <a:gd name="T12" fmla="*/ 0 w 239"/>
                  <a:gd name="T13" fmla="*/ 219 h 226"/>
                  <a:gd name="T14" fmla="*/ 122 w 239"/>
                  <a:gd name="T15" fmla="*/ 79 h 226"/>
                  <a:gd name="T16" fmla="*/ 145 w 239"/>
                  <a:gd name="T17" fmla="*/ 94 h 226"/>
                  <a:gd name="T18" fmla="*/ 216 w 239"/>
                  <a:gd name="T19" fmla="*/ 16 h 226"/>
                  <a:gd name="T20" fmla="*/ 213 w 239"/>
                  <a:gd name="T21" fmla="*/ 12 h 226"/>
                  <a:gd name="T22" fmla="*/ 239 w 239"/>
                  <a:gd name="T23" fmla="*/ 0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39" h="226">
                    <a:moveTo>
                      <a:pt x="239" y="0"/>
                    </a:moveTo>
                    <a:lnTo>
                      <a:pt x="227" y="27"/>
                    </a:lnTo>
                    <a:lnTo>
                      <a:pt x="224" y="24"/>
                    </a:lnTo>
                    <a:lnTo>
                      <a:pt x="143" y="108"/>
                    </a:lnTo>
                    <a:lnTo>
                      <a:pt x="121" y="94"/>
                    </a:lnTo>
                    <a:lnTo>
                      <a:pt x="6" y="226"/>
                    </a:lnTo>
                    <a:lnTo>
                      <a:pt x="0" y="219"/>
                    </a:lnTo>
                    <a:lnTo>
                      <a:pt x="122" y="79"/>
                    </a:lnTo>
                    <a:lnTo>
                      <a:pt x="145" y="94"/>
                    </a:lnTo>
                    <a:lnTo>
                      <a:pt x="216" y="16"/>
                    </a:lnTo>
                    <a:lnTo>
                      <a:pt x="213" y="12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37">
                <a:extLst>
                  <a:ext uri="{FF2B5EF4-FFF2-40B4-BE49-F238E27FC236}">
                    <a16:creationId xmlns:a16="http://schemas.microsoft.com/office/drawing/2014/main" id="{C847D687-735D-6321-9438-314F21B63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176" y="2616200"/>
                <a:ext cx="360363" cy="354013"/>
              </a:xfrm>
              <a:custGeom>
                <a:avLst/>
                <a:gdLst>
                  <a:gd name="T0" fmla="*/ 198 w 227"/>
                  <a:gd name="T1" fmla="*/ 0 h 223"/>
                  <a:gd name="T2" fmla="*/ 201 w 227"/>
                  <a:gd name="T3" fmla="*/ 1 h 223"/>
                  <a:gd name="T4" fmla="*/ 203 w 227"/>
                  <a:gd name="T5" fmla="*/ 4 h 223"/>
                  <a:gd name="T6" fmla="*/ 203 w 227"/>
                  <a:gd name="T7" fmla="*/ 7 h 223"/>
                  <a:gd name="T8" fmla="*/ 194 w 227"/>
                  <a:gd name="T9" fmla="*/ 126 h 223"/>
                  <a:gd name="T10" fmla="*/ 194 w 227"/>
                  <a:gd name="T11" fmla="*/ 131 h 223"/>
                  <a:gd name="T12" fmla="*/ 227 w 227"/>
                  <a:gd name="T13" fmla="*/ 119 h 223"/>
                  <a:gd name="T14" fmla="*/ 224 w 227"/>
                  <a:gd name="T15" fmla="*/ 162 h 223"/>
                  <a:gd name="T16" fmla="*/ 0 w 227"/>
                  <a:gd name="T17" fmla="*/ 223 h 223"/>
                  <a:gd name="T18" fmla="*/ 3 w 227"/>
                  <a:gd name="T19" fmla="*/ 190 h 223"/>
                  <a:gd name="T20" fmla="*/ 38 w 227"/>
                  <a:gd name="T21" fmla="*/ 178 h 223"/>
                  <a:gd name="T22" fmla="*/ 38 w 227"/>
                  <a:gd name="T23" fmla="*/ 175 h 223"/>
                  <a:gd name="T24" fmla="*/ 41 w 227"/>
                  <a:gd name="T25" fmla="*/ 140 h 223"/>
                  <a:gd name="T26" fmla="*/ 42 w 227"/>
                  <a:gd name="T27" fmla="*/ 135 h 223"/>
                  <a:gd name="T28" fmla="*/ 44 w 227"/>
                  <a:gd name="T29" fmla="*/ 131 h 223"/>
                  <a:gd name="T30" fmla="*/ 47 w 227"/>
                  <a:gd name="T31" fmla="*/ 128 h 223"/>
                  <a:gd name="T32" fmla="*/ 51 w 227"/>
                  <a:gd name="T33" fmla="*/ 126 h 223"/>
                  <a:gd name="T34" fmla="*/ 54 w 227"/>
                  <a:gd name="T35" fmla="*/ 126 h 223"/>
                  <a:gd name="T36" fmla="*/ 57 w 227"/>
                  <a:gd name="T37" fmla="*/ 126 h 223"/>
                  <a:gd name="T38" fmla="*/ 60 w 227"/>
                  <a:gd name="T39" fmla="*/ 129 h 223"/>
                  <a:gd name="T40" fmla="*/ 60 w 227"/>
                  <a:gd name="T41" fmla="*/ 134 h 223"/>
                  <a:gd name="T42" fmla="*/ 57 w 227"/>
                  <a:gd name="T43" fmla="*/ 169 h 223"/>
                  <a:gd name="T44" fmla="*/ 55 w 227"/>
                  <a:gd name="T45" fmla="*/ 174 h 223"/>
                  <a:gd name="T46" fmla="*/ 109 w 227"/>
                  <a:gd name="T47" fmla="*/ 158 h 223"/>
                  <a:gd name="T48" fmla="*/ 108 w 227"/>
                  <a:gd name="T49" fmla="*/ 155 h 223"/>
                  <a:gd name="T50" fmla="*/ 115 w 227"/>
                  <a:gd name="T51" fmla="*/ 65 h 223"/>
                  <a:gd name="T52" fmla="*/ 117 w 227"/>
                  <a:gd name="T53" fmla="*/ 62 h 223"/>
                  <a:gd name="T54" fmla="*/ 118 w 227"/>
                  <a:gd name="T55" fmla="*/ 58 h 223"/>
                  <a:gd name="T56" fmla="*/ 121 w 227"/>
                  <a:gd name="T57" fmla="*/ 55 h 223"/>
                  <a:gd name="T58" fmla="*/ 125 w 227"/>
                  <a:gd name="T59" fmla="*/ 53 h 223"/>
                  <a:gd name="T60" fmla="*/ 128 w 227"/>
                  <a:gd name="T61" fmla="*/ 52 h 223"/>
                  <a:gd name="T62" fmla="*/ 131 w 227"/>
                  <a:gd name="T63" fmla="*/ 53 h 223"/>
                  <a:gd name="T64" fmla="*/ 134 w 227"/>
                  <a:gd name="T65" fmla="*/ 56 h 223"/>
                  <a:gd name="T66" fmla="*/ 134 w 227"/>
                  <a:gd name="T67" fmla="*/ 59 h 223"/>
                  <a:gd name="T68" fmla="*/ 127 w 227"/>
                  <a:gd name="T69" fmla="*/ 147 h 223"/>
                  <a:gd name="T70" fmla="*/ 127 w 227"/>
                  <a:gd name="T71" fmla="*/ 152 h 223"/>
                  <a:gd name="T72" fmla="*/ 176 w 227"/>
                  <a:gd name="T73" fmla="*/ 135 h 223"/>
                  <a:gd name="T74" fmla="*/ 175 w 227"/>
                  <a:gd name="T75" fmla="*/ 132 h 223"/>
                  <a:gd name="T76" fmla="*/ 185 w 227"/>
                  <a:gd name="T77" fmla="*/ 13 h 223"/>
                  <a:gd name="T78" fmla="*/ 185 w 227"/>
                  <a:gd name="T79" fmla="*/ 9 h 223"/>
                  <a:gd name="T80" fmla="*/ 188 w 227"/>
                  <a:gd name="T81" fmla="*/ 6 h 223"/>
                  <a:gd name="T82" fmla="*/ 191 w 227"/>
                  <a:gd name="T83" fmla="*/ 3 h 223"/>
                  <a:gd name="T84" fmla="*/ 195 w 227"/>
                  <a:gd name="T85" fmla="*/ 0 h 223"/>
                  <a:gd name="T86" fmla="*/ 198 w 227"/>
                  <a:gd name="T87" fmla="*/ 0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27" h="223">
                    <a:moveTo>
                      <a:pt x="198" y="0"/>
                    </a:moveTo>
                    <a:lnTo>
                      <a:pt x="201" y="1"/>
                    </a:lnTo>
                    <a:lnTo>
                      <a:pt x="203" y="4"/>
                    </a:lnTo>
                    <a:lnTo>
                      <a:pt x="203" y="7"/>
                    </a:lnTo>
                    <a:lnTo>
                      <a:pt x="194" y="126"/>
                    </a:lnTo>
                    <a:lnTo>
                      <a:pt x="194" y="131"/>
                    </a:lnTo>
                    <a:lnTo>
                      <a:pt x="227" y="119"/>
                    </a:lnTo>
                    <a:lnTo>
                      <a:pt x="224" y="162"/>
                    </a:lnTo>
                    <a:lnTo>
                      <a:pt x="0" y="223"/>
                    </a:lnTo>
                    <a:lnTo>
                      <a:pt x="3" y="190"/>
                    </a:lnTo>
                    <a:lnTo>
                      <a:pt x="38" y="178"/>
                    </a:lnTo>
                    <a:lnTo>
                      <a:pt x="38" y="175"/>
                    </a:lnTo>
                    <a:lnTo>
                      <a:pt x="41" y="140"/>
                    </a:lnTo>
                    <a:lnTo>
                      <a:pt x="42" y="135"/>
                    </a:lnTo>
                    <a:lnTo>
                      <a:pt x="44" y="131"/>
                    </a:lnTo>
                    <a:lnTo>
                      <a:pt x="47" y="128"/>
                    </a:lnTo>
                    <a:lnTo>
                      <a:pt x="51" y="126"/>
                    </a:lnTo>
                    <a:lnTo>
                      <a:pt x="54" y="126"/>
                    </a:lnTo>
                    <a:lnTo>
                      <a:pt x="57" y="126"/>
                    </a:lnTo>
                    <a:lnTo>
                      <a:pt x="60" y="129"/>
                    </a:lnTo>
                    <a:lnTo>
                      <a:pt x="60" y="134"/>
                    </a:lnTo>
                    <a:lnTo>
                      <a:pt x="57" y="169"/>
                    </a:lnTo>
                    <a:lnTo>
                      <a:pt x="55" y="174"/>
                    </a:lnTo>
                    <a:lnTo>
                      <a:pt x="109" y="158"/>
                    </a:lnTo>
                    <a:lnTo>
                      <a:pt x="108" y="155"/>
                    </a:lnTo>
                    <a:lnTo>
                      <a:pt x="115" y="65"/>
                    </a:lnTo>
                    <a:lnTo>
                      <a:pt x="117" y="62"/>
                    </a:lnTo>
                    <a:lnTo>
                      <a:pt x="118" y="58"/>
                    </a:lnTo>
                    <a:lnTo>
                      <a:pt x="121" y="55"/>
                    </a:lnTo>
                    <a:lnTo>
                      <a:pt x="125" y="53"/>
                    </a:lnTo>
                    <a:lnTo>
                      <a:pt x="128" y="52"/>
                    </a:lnTo>
                    <a:lnTo>
                      <a:pt x="131" y="53"/>
                    </a:lnTo>
                    <a:lnTo>
                      <a:pt x="134" y="56"/>
                    </a:lnTo>
                    <a:lnTo>
                      <a:pt x="134" y="59"/>
                    </a:lnTo>
                    <a:lnTo>
                      <a:pt x="127" y="147"/>
                    </a:lnTo>
                    <a:lnTo>
                      <a:pt x="127" y="152"/>
                    </a:lnTo>
                    <a:lnTo>
                      <a:pt x="176" y="135"/>
                    </a:lnTo>
                    <a:lnTo>
                      <a:pt x="175" y="132"/>
                    </a:lnTo>
                    <a:lnTo>
                      <a:pt x="185" y="13"/>
                    </a:lnTo>
                    <a:lnTo>
                      <a:pt x="185" y="9"/>
                    </a:lnTo>
                    <a:lnTo>
                      <a:pt x="188" y="6"/>
                    </a:lnTo>
                    <a:lnTo>
                      <a:pt x="191" y="3"/>
                    </a:lnTo>
                    <a:lnTo>
                      <a:pt x="195" y="0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AE834788-6E26-EBA2-0476-796EE0692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2675" y="3494088"/>
              <a:ext cx="338138" cy="366713"/>
            </a:xfrm>
            <a:custGeom>
              <a:avLst/>
              <a:gdLst>
                <a:gd name="T0" fmla="*/ 21 w 213"/>
                <a:gd name="T1" fmla="*/ 3 h 231"/>
                <a:gd name="T2" fmla="*/ 111 w 213"/>
                <a:gd name="T3" fmla="*/ 103 h 231"/>
                <a:gd name="T4" fmla="*/ 198 w 213"/>
                <a:gd name="T5" fmla="*/ 73 h 231"/>
                <a:gd name="T6" fmla="*/ 27 w 213"/>
                <a:gd name="T7" fmla="*/ 210 h 231"/>
                <a:gd name="T8" fmla="*/ 211 w 213"/>
                <a:gd name="T9" fmla="*/ 197 h 231"/>
                <a:gd name="T10" fmla="*/ 210 w 213"/>
                <a:gd name="T11" fmla="*/ 204 h 231"/>
                <a:gd name="T12" fmla="*/ 149 w 213"/>
                <a:gd name="T13" fmla="*/ 217 h 231"/>
                <a:gd name="T14" fmla="*/ 144 w 213"/>
                <a:gd name="T15" fmla="*/ 220 h 231"/>
                <a:gd name="T16" fmla="*/ 141 w 213"/>
                <a:gd name="T17" fmla="*/ 212 h 231"/>
                <a:gd name="T18" fmla="*/ 128 w 213"/>
                <a:gd name="T19" fmla="*/ 220 h 231"/>
                <a:gd name="T20" fmla="*/ 123 w 213"/>
                <a:gd name="T21" fmla="*/ 222 h 231"/>
                <a:gd name="T22" fmla="*/ 110 w 213"/>
                <a:gd name="T23" fmla="*/ 214 h 231"/>
                <a:gd name="T24" fmla="*/ 106 w 213"/>
                <a:gd name="T25" fmla="*/ 225 h 231"/>
                <a:gd name="T26" fmla="*/ 103 w 213"/>
                <a:gd name="T27" fmla="*/ 216 h 231"/>
                <a:gd name="T28" fmla="*/ 89 w 213"/>
                <a:gd name="T29" fmla="*/ 225 h 231"/>
                <a:gd name="T30" fmla="*/ 83 w 213"/>
                <a:gd name="T31" fmla="*/ 225 h 231"/>
                <a:gd name="T32" fmla="*/ 70 w 213"/>
                <a:gd name="T33" fmla="*/ 219 h 231"/>
                <a:gd name="T34" fmla="*/ 67 w 213"/>
                <a:gd name="T35" fmla="*/ 228 h 231"/>
                <a:gd name="T36" fmla="*/ 64 w 213"/>
                <a:gd name="T37" fmla="*/ 219 h 231"/>
                <a:gd name="T38" fmla="*/ 50 w 213"/>
                <a:gd name="T39" fmla="*/ 229 h 231"/>
                <a:gd name="T40" fmla="*/ 44 w 213"/>
                <a:gd name="T41" fmla="*/ 228 h 231"/>
                <a:gd name="T42" fmla="*/ 19 w 213"/>
                <a:gd name="T43" fmla="*/ 223 h 231"/>
                <a:gd name="T44" fmla="*/ 13 w 213"/>
                <a:gd name="T45" fmla="*/ 217 h 231"/>
                <a:gd name="T46" fmla="*/ 3 w 213"/>
                <a:gd name="T47" fmla="*/ 191 h 231"/>
                <a:gd name="T48" fmla="*/ 3 w 213"/>
                <a:gd name="T49" fmla="*/ 185 h 231"/>
                <a:gd name="T50" fmla="*/ 13 w 213"/>
                <a:gd name="T51" fmla="*/ 168 h 231"/>
                <a:gd name="T52" fmla="*/ 1 w 213"/>
                <a:gd name="T53" fmla="*/ 167 h 231"/>
                <a:gd name="T54" fmla="*/ 4 w 213"/>
                <a:gd name="T55" fmla="*/ 162 h 231"/>
                <a:gd name="T56" fmla="*/ 4 w 213"/>
                <a:gd name="T57" fmla="*/ 148 h 231"/>
                <a:gd name="T58" fmla="*/ 1 w 213"/>
                <a:gd name="T59" fmla="*/ 142 h 231"/>
                <a:gd name="T60" fmla="*/ 12 w 213"/>
                <a:gd name="T61" fmla="*/ 125 h 231"/>
                <a:gd name="T62" fmla="*/ 1 w 213"/>
                <a:gd name="T63" fmla="*/ 124 h 231"/>
                <a:gd name="T64" fmla="*/ 4 w 213"/>
                <a:gd name="T65" fmla="*/ 118 h 231"/>
                <a:gd name="T66" fmla="*/ 4 w 213"/>
                <a:gd name="T67" fmla="*/ 103 h 231"/>
                <a:gd name="T68" fmla="*/ 0 w 213"/>
                <a:gd name="T69" fmla="*/ 100 h 231"/>
                <a:gd name="T70" fmla="*/ 12 w 213"/>
                <a:gd name="T71" fmla="*/ 95 h 231"/>
                <a:gd name="T72" fmla="*/ 1 w 213"/>
                <a:gd name="T73" fmla="*/ 81 h 231"/>
                <a:gd name="T74" fmla="*/ 3 w 213"/>
                <a:gd name="T75" fmla="*/ 75 h 231"/>
                <a:gd name="T76" fmla="*/ 3 w 213"/>
                <a:gd name="T77" fmla="*/ 66 h 231"/>
                <a:gd name="T78" fmla="*/ 0 w 213"/>
                <a:gd name="T79" fmla="*/ 63 h 231"/>
                <a:gd name="T80" fmla="*/ 10 w 213"/>
                <a:gd name="T81" fmla="*/ 58 h 231"/>
                <a:gd name="T82" fmla="*/ 0 w 213"/>
                <a:gd name="T83" fmla="*/ 43 h 231"/>
                <a:gd name="T84" fmla="*/ 3 w 213"/>
                <a:gd name="T85" fmla="*/ 37 h 231"/>
                <a:gd name="T86" fmla="*/ 10 w 213"/>
                <a:gd name="T87" fmla="*/ 5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3" h="231">
                  <a:moveTo>
                    <a:pt x="15" y="0"/>
                  </a:moveTo>
                  <a:lnTo>
                    <a:pt x="18" y="2"/>
                  </a:lnTo>
                  <a:lnTo>
                    <a:pt x="21" y="3"/>
                  </a:lnTo>
                  <a:lnTo>
                    <a:pt x="21" y="6"/>
                  </a:lnTo>
                  <a:lnTo>
                    <a:pt x="24" y="198"/>
                  </a:lnTo>
                  <a:lnTo>
                    <a:pt x="111" y="103"/>
                  </a:lnTo>
                  <a:lnTo>
                    <a:pt x="132" y="121"/>
                  </a:lnTo>
                  <a:lnTo>
                    <a:pt x="190" y="63"/>
                  </a:lnTo>
                  <a:lnTo>
                    <a:pt x="198" y="73"/>
                  </a:lnTo>
                  <a:lnTo>
                    <a:pt x="131" y="137"/>
                  </a:lnTo>
                  <a:lnTo>
                    <a:pt x="111" y="119"/>
                  </a:lnTo>
                  <a:lnTo>
                    <a:pt x="27" y="210"/>
                  </a:lnTo>
                  <a:lnTo>
                    <a:pt x="207" y="194"/>
                  </a:lnTo>
                  <a:lnTo>
                    <a:pt x="210" y="194"/>
                  </a:lnTo>
                  <a:lnTo>
                    <a:pt x="211" y="197"/>
                  </a:lnTo>
                  <a:lnTo>
                    <a:pt x="213" y="200"/>
                  </a:lnTo>
                  <a:lnTo>
                    <a:pt x="211" y="203"/>
                  </a:lnTo>
                  <a:lnTo>
                    <a:pt x="210" y="204"/>
                  </a:lnTo>
                  <a:lnTo>
                    <a:pt x="207" y="206"/>
                  </a:lnTo>
                  <a:lnTo>
                    <a:pt x="149" y="212"/>
                  </a:lnTo>
                  <a:lnTo>
                    <a:pt x="149" y="217"/>
                  </a:lnTo>
                  <a:lnTo>
                    <a:pt x="147" y="219"/>
                  </a:lnTo>
                  <a:lnTo>
                    <a:pt x="146" y="220"/>
                  </a:lnTo>
                  <a:lnTo>
                    <a:pt x="144" y="220"/>
                  </a:lnTo>
                  <a:lnTo>
                    <a:pt x="143" y="219"/>
                  </a:lnTo>
                  <a:lnTo>
                    <a:pt x="141" y="217"/>
                  </a:lnTo>
                  <a:lnTo>
                    <a:pt x="141" y="212"/>
                  </a:lnTo>
                  <a:lnTo>
                    <a:pt x="129" y="213"/>
                  </a:lnTo>
                  <a:lnTo>
                    <a:pt x="129" y="219"/>
                  </a:lnTo>
                  <a:lnTo>
                    <a:pt x="128" y="220"/>
                  </a:lnTo>
                  <a:lnTo>
                    <a:pt x="128" y="222"/>
                  </a:lnTo>
                  <a:lnTo>
                    <a:pt x="126" y="222"/>
                  </a:lnTo>
                  <a:lnTo>
                    <a:pt x="123" y="222"/>
                  </a:lnTo>
                  <a:lnTo>
                    <a:pt x="122" y="219"/>
                  </a:lnTo>
                  <a:lnTo>
                    <a:pt x="122" y="213"/>
                  </a:lnTo>
                  <a:lnTo>
                    <a:pt x="110" y="214"/>
                  </a:lnTo>
                  <a:lnTo>
                    <a:pt x="110" y="220"/>
                  </a:lnTo>
                  <a:lnTo>
                    <a:pt x="109" y="223"/>
                  </a:lnTo>
                  <a:lnTo>
                    <a:pt x="106" y="225"/>
                  </a:lnTo>
                  <a:lnTo>
                    <a:pt x="104" y="223"/>
                  </a:lnTo>
                  <a:lnTo>
                    <a:pt x="103" y="220"/>
                  </a:lnTo>
                  <a:lnTo>
                    <a:pt x="103" y="216"/>
                  </a:lnTo>
                  <a:lnTo>
                    <a:pt x="89" y="217"/>
                  </a:lnTo>
                  <a:lnTo>
                    <a:pt x="91" y="222"/>
                  </a:lnTo>
                  <a:lnTo>
                    <a:pt x="89" y="225"/>
                  </a:lnTo>
                  <a:lnTo>
                    <a:pt x="86" y="226"/>
                  </a:lnTo>
                  <a:lnTo>
                    <a:pt x="85" y="226"/>
                  </a:lnTo>
                  <a:lnTo>
                    <a:pt x="83" y="225"/>
                  </a:lnTo>
                  <a:lnTo>
                    <a:pt x="83" y="223"/>
                  </a:lnTo>
                  <a:lnTo>
                    <a:pt x="83" y="217"/>
                  </a:lnTo>
                  <a:lnTo>
                    <a:pt x="70" y="219"/>
                  </a:lnTo>
                  <a:lnTo>
                    <a:pt x="70" y="225"/>
                  </a:lnTo>
                  <a:lnTo>
                    <a:pt x="70" y="226"/>
                  </a:lnTo>
                  <a:lnTo>
                    <a:pt x="67" y="228"/>
                  </a:lnTo>
                  <a:lnTo>
                    <a:pt x="65" y="228"/>
                  </a:lnTo>
                  <a:lnTo>
                    <a:pt x="64" y="225"/>
                  </a:lnTo>
                  <a:lnTo>
                    <a:pt x="64" y="219"/>
                  </a:lnTo>
                  <a:lnTo>
                    <a:pt x="50" y="220"/>
                  </a:lnTo>
                  <a:lnTo>
                    <a:pt x="50" y="226"/>
                  </a:lnTo>
                  <a:lnTo>
                    <a:pt x="50" y="229"/>
                  </a:lnTo>
                  <a:lnTo>
                    <a:pt x="47" y="231"/>
                  </a:lnTo>
                  <a:lnTo>
                    <a:pt x="46" y="229"/>
                  </a:lnTo>
                  <a:lnTo>
                    <a:pt x="44" y="228"/>
                  </a:lnTo>
                  <a:lnTo>
                    <a:pt x="44" y="226"/>
                  </a:lnTo>
                  <a:lnTo>
                    <a:pt x="44" y="220"/>
                  </a:lnTo>
                  <a:lnTo>
                    <a:pt x="19" y="223"/>
                  </a:lnTo>
                  <a:lnTo>
                    <a:pt x="16" y="223"/>
                  </a:lnTo>
                  <a:lnTo>
                    <a:pt x="15" y="220"/>
                  </a:lnTo>
                  <a:lnTo>
                    <a:pt x="13" y="217"/>
                  </a:lnTo>
                  <a:lnTo>
                    <a:pt x="13" y="191"/>
                  </a:lnTo>
                  <a:lnTo>
                    <a:pt x="4" y="191"/>
                  </a:lnTo>
                  <a:lnTo>
                    <a:pt x="3" y="191"/>
                  </a:lnTo>
                  <a:lnTo>
                    <a:pt x="3" y="189"/>
                  </a:lnTo>
                  <a:lnTo>
                    <a:pt x="1" y="188"/>
                  </a:lnTo>
                  <a:lnTo>
                    <a:pt x="3" y="185"/>
                  </a:lnTo>
                  <a:lnTo>
                    <a:pt x="4" y="183"/>
                  </a:lnTo>
                  <a:lnTo>
                    <a:pt x="13" y="183"/>
                  </a:lnTo>
                  <a:lnTo>
                    <a:pt x="13" y="168"/>
                  </a:lnTo>
                  <a:lnTo>
                    <a:pt x="4" y="168"/>
                  </a:lnTo>
                  <a:lnTo>
                    <a:pt x="3" y="168"/>
                  </a:lnTo>
                  <a:lnTo>
                    <a:pt x="1" y="167"/>
                  </a:lnTo>
                  <a:lnTo>
                    <a:pt x="1" y="165"/>
                  </a:lnTo>
                  <a:lnTo>
                    <a:pt x="3" y="162"/>
                  </a:lnTo>
                  <a:lnTo>
                    <a:pt x="4" y="162"/>
                  </a:lnTo>
                  <a:lnTo>
                    <a:pt x="12" y="161"/>
                  </a:lnTo>
                  <a:lnTo>
                    <a:pt x="12" y="146"/>
                  </a:lnTo>
                  <a:lnTo>
                    <a:pt x="4" y="148"/>
                  </a:lnTo>
                  <a:lnTo>
                    <a:pt x="1" y="146"/>
                  </a:lnTo>
                  <a:lnTo>
                    <a:pt x="1" y="145"/>
                  </a:lnTo>
                  <a:lnTo>
                    <a:pt x="1" y="142"/>
                  </a:lnTo>
                  <a:lnTo>
                    <a:pt x="4" y="140"/>
                  </a:lnTo>
                  <a:lnTo>
                    <a:pt x="12" y="139"/>
                  </a:lnTo>
                  <a:lnTo>
                    <a:pt x="12" y="125"/>
                  </a:lnTo>
                  <a:lnTo>
                    <a:pt x="4" y="125"/>
                  </a:lnTo>
                  <a:lnTo>
                    <a:pt x="3" y="125"/>
                  </a:lnTo>
                  <a:lnTo>
                    <a:pt x="1" y="124"/>
                  </a:lnTo>
                  <a:lnTo>
                    <a:pt x="1" y="122"/>
                  </a:lnTo>
                  <a:lnTo>
                    <a:pt x="1" y="119"/>
                  </a:lnTo>
                  <a:lnTo>
                    <a:pt x="4" y="118"/>
                  </a:lnTo>
                  <a:lnTo>
                    <a:pt x="12" y="118"/>
                  </a:lnTo>
                  <a:lnTo>
                    <a:pt x="12" y="103"/>
                  </a:lnTo>
                  <a:lnTo>
                    <a:pt x="4" y="103"/>
                  </a:lnTo>
                  <a:lnTo>
                    <a:pt x="1" y="103"/>
                  </a:lnTo>
                  <a:lnTo>
                    <a:pt x="1" y="101"/>
                  </a:lnTo>
                  <a:lnTo>
                    <a:pt x="0" y="100"/>
                  </a:lnTo>
                  <a:lnTo>
                    <a:pt x="1" y="97"/>
                  </a:lnTo>
                  <a:lnTo>
                    <a:pt x="3" y="97"/>
                  </a:lnTo>
                  <a:lnTo>
                    <a:pt x="12" y="95"/>
                  </a:lnTo>
                  <a:lnTo>
                    <a:pt x="12" y="81"/>
                  </a:lnTo>
                  <a:lnTo>
                    <a:pt x="3" y="82"/>
                  </a:lnTo>
                  <a:lnTo>
                    <a:pt x="1" y="81"/>
                  </a:lnTo>
                  <a:lnTo>
                    <a:pt x="0" y="78"/>
                  </a:lnTo>
                  <a:lnTo>
                    <a:pt x="1" y="76"/>
                  </a:lnTo>
                  <a:lnTo>
                    <a:pt x="3" y="75"/>
                  </a:lnTo>
                  <a:lnTo>
                    <a:pt x="10" y="73"/>
                  </a:lnTo>
                  <a:lnTo>
                    <a:pt x="10" y="66"/>
                  </a:lnTo>
                  <a:lnTo>
                    <a:pt x="3" y="66"/>
                  </a:lnTo>
                  <a:lnTo>
                    <a:pt x="1" y="66"/>
                  </a:lnTo>
                  <a:lnTo>
                    <a:pt x="0" y="64"/>
                  </a:lnTo>
                  <a:lnTo>
                    <a:pt x="0" y="63"/>
                  </a:lnTo>
                  <a:lnTo>
                    <a:pt x="1" y="60"/>
                  </a:lnTo>
                  <a:lnTo>
                    <a:pt x="3" y="58"/>
                  </a:lnTo>
                  <a:lnTo>
                    <a:pt x="10" y="58"/>
                  </a:lnTo>
                  <a:lnTo>
                    <a:pt x="10" y="43"/>
                  </a:lnTo>
                  <a:lnTo>
                    <a:pt x="3" y="45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3" y="37"/>
                  </a:lnTo>
                  <a:lnTo>
                    <a:pt x="10" y="36"/>
                  </a:lnTo>
                  <a:lnTo>
                    <a:pt x="10" y="8"/>
                  </a:lnTo>
                  <a:lnTo>
                    <a:pt x="10" y="5"/>
                  </a:lnTo>
                  <a:lnTo>
                    <a:pt x="13" y="2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332D130-5401-BC0F-5A4C-0109CE75B81B}"/>
                </a:ext>
              </a:extLst>
            </p:cNvPr>
            <p:cNvGrpSpPr/>
            <p:nvPr/>
          </p:nvGrpSpPr>
          <p:grpSpPr>
            <a:xfrm>
              <a:off x="8416926" y="1336675"/>
              <a:ext cx="1506538" cy="4883151"/>
              <a:chOff x="8416926" y="1336675"/>
              <a:chExt cx="1506538" cy="4883151"/>
            </a:xfrm>
          </p:grpSpPr>
          <p:sp>
            <p:nvSpPr>
              <p:cNvPr id="48" name="Freeform 25">
                <a:extLst>
                  <a:ext uri="{FF2B5EF4-FFF2-40B4-BE49-F238E27FC236}">
                    <a16:creationId xmlns:a16="http://schemas.microsoft.com/office/drawing/2014/main" id="{AAFE6FDC-9750-3996-2F16-6797DEEF0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16926" y="1336675"/>
                <a:ext cx="1069975" cy="4883150"/>
              </a:xfrm>
              <a:custGeom>
                <a:avLst/>
                <a:gdLst>
                  <a:gd name="T0" fmla="*/ 21 w 674"/>
                  <a:gd name="T1" fmla="*/ 0 h 3076"/>
                  <a:gd name="T2" fmla="*/ 38 w 674"/>
                  <a:gd name="T3" fmla="*/ 0 h 3076"/>
                  <a:gd name="T4" fmla="*/ 53 w 674"/>
                  <a:gd name="T5" fmla="*/ 0 h 3076"/>
                  <a:gd name="T6" fmla="*/ 68 w 674"/>
                  <a:gd name="T7" fmla="*/ 1 h 3076"/>
                  <a:gd name="T8" fmla="*/ 78 w 674"/>
                  <a:gd name="T9" fmla="*/ 1 h 3076"/>
                  <a:gd name="T10" fmla="*/ 82 w 674"/>
                  <a:gd name="T11" fmla="*/ 1 h 3076"/>
                  <a:gd name="T12" fmla="*/ 674 w 674"/>
                  <a:gd name="T13" fmla="*/ 3076 h 3076"/>
                  <a:gd name="T14" fmla="*/ 544 w 674"/>
                  <a:gd name="T15" fmla="*/ 3052 h 3076"/>
                  <a:gd name="T16" fmla="*/ 0 w 674"/>
                  <a:gd name="T17" fmla="*/ 1 h 3076"/>
                  <a:gd name="T18" fmla="*/ 8 w 674"/>
                  <a:gd name="T19" fmla="*/ 0 h 3076"/>
                  <a:gd name="T20" fmla="*/ 21 w 674"/>
                  <a:gd name="T21" fmla="*/ 0 h 30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4" h="3076">
                    <a:moveTo>
                      <a:pt x="21" y="0"/>
                    </a:moveTo>
                    <a:lnTo>
                      <a:pt x="38" y="0"/>
                    </a:lnTo>
                    <a:lnTo>
                      <a:pt x="53" y="0"/>
                    </a:lnTo>
                    <a:lnTo>
                      <a:pt x="68" y="1"/>
                    </a:lnTo>
                    <a:lnTo>
                      <a:pt x="78" y="1"/>
                    </a:lnTo>
                    <a:lnTo>
                      <a:pt x="82" y="1"/>
                    </a:lnTo>
                    <a:lnTo>
                      <a:pt x="674" y="3076"/>
                    </a:lnTo>
                    <a:lnTo>
                      <a:pt x="544" y="3052"/>
                    </a:lnTo>
                    <a:lnTo>
                      <a:pt x="0" y="1"/>
                    </a:lnTo>
                    <a:lnTo>
                      <a:pt x="8" y="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26">
                <a:extLst>
                  <a:ext uri="{FF2B5EF4-FFF2-40B4-BE49-F238E27FC236}">
                    <a16:creationId xmlns:a16="http://schemas.microsoft.com/office/drawing/2014/main" id="{130035FF-74A0-A211-140B-2071B1CE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8888" y="1633538"/>
                <a:ext cx="1000125" cy="4325938"/>
              </a:xfrm>
              <a:custGeom>
                <a:avLst/>
                <a:gdLst>
                  <a:gd name="T0" fmla="*/ 0 w 630"/>
                  <a:gd name="T1" fmla="*/ 0 h 2725"/>
                  <a:gd name="T2" fmla="*/ 30 w 630"/>
                  <a:gd name="T3" fmla="*/ 2 h 2725"/>
                  <a:gd name="T4" fmla="*/ 50 w 630"/>
                  <a:gd name="T5" fmla="*/ 2 h 2725"/>
                  <a:gd name="T6" fmla="*/ 65 w 630"/>
                  <a:gd name="T7" fmla="*/ 2 h 2725"/>
                  <a:gd name="T8" fmla="*/ 70 w 630"/>
                  <a:gd name="T9" fmla="*/ 2 h 2725"/>
                  <a:gd name="T10" fmla="*/ 630 w 630"/>
                  <a:gd name="T11" fmla="*/ 2725 h 2725"/>
                  <a:gd name="T12" fmla="*/ 524 w 630"/>
                  <a:gd name="T13" fmla="*/ 2716 h 2725"/>
                  <a:gd name="T14" fmla="*/ 0 w 630"/>
                  <a:gd name="T15" fmla="*/ 0 h 2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0" h="2725">
                    <a:moveTo>
                      <a:pt x="0" y="0"/>
                    </a:moveTo>
                    <a:lnTo>
                      <a:pt x="30" y="2"/>
                    </a:lnTo>
                    <a:lnTo>
                      <a:pt x="50" y="2"/>
                    </a:lnTo>
                    <a:lnTo>
                      <a:pt x="65" y="2"/>
                    </a:lnTo>
                    <a:lnTo>
                      <a:pt x="70" y="2"/>
                    </a:lnTo>
                    <a:lnTo>
                      <a:pt x="630" y="2725"/>
                    </a:lnTo>
                    <a:lnTo>
                      <a:pt x="524" y="27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39">
                <a:extLst>
                  <a:ext uri="{FF2B5EF4-FFF2-40B4-BE49-F238E27FC236}">
                    <a16:creationId xmlns:a16="http://schemas.microsoft.com/office/drawing/2014/main" id="{5E31E23D-F9FA-E9A8-82C8-BAF86778F3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47101" y="1338262"/>
                <a:ext cx="1376363" cy="4881564"/>
              </a:xfrm>
              <a:custGeom>
                <a:avLst/>
                <a:gdLst>
                  <a:gd name="T0" fmla="*/ 653 w 867"/>
                  <a:gd name="T1" fmla="*/ 2005 h 3075"/>
                  <a:gd name="T2" fmla="*/ 428 w 867"/>
                  <a:gd name="T3" fmla="*/ 2014 h 3075"/>
                  <a:gd name="T4" fmla="*/ 516 w 867"/>
                  <a:gd name="T5" fmla="*/ 2465 h 3075"/>
                  <a:gd name="T6" fmla="*/ 733 w 867"/>
                  <a:gd name="T7" fmla="*/ 2398 h 3075"/>
                  <a:gd name="T8" fmla="*/ 653 w 867"/>
                  <a:gd name="T9" fmla="*/ 2005 h 3075"/>
                  <a:gd name="T10" fmla="*/ 328 w 867"/>
                  <a:gd name="T11" fmla="*/ 1506 h 3075"/>
                  <a:gd name="T12" fmla="*/ 416 w 867"/>
                  <a:gd name="T13" fmla="*/ 1958 h 3075"/>
                  <a:gd name="T14" fmla="*/ 642 w 867"/>
                  <a:gd name="T15" fmla="*/ 1958 h 3075"/>
                  <a:gd name="T16" fmla="*/ 557 w 867"/>
                  <a:gd name="T17" fmla="*/ 1544 h 3075"/>
                  <a:gd name="T18" fmla="*/ 328 w 867"/>
                  <a:gd name="T19" fmla="*/ 1506 h 3075"/>
                  <a:gd name="T20" fmla="*/ 230 w 867"/>
                  <a:gd name="T21" fmla="*/ 1004 h 3075"/>
                  <a:gd name="T22" fmla="*/ 318 w 867"/>
                  <a:gd name="T23" fmla="*/ 1449 h 3075"/>
                  <a:gd name="T24" fmla="*/ 548 w 867"/>
                  <a:gd name="T25" fmla="*/ 1495 h 3075"/>
                  <a:gd name="T26" fmla="*/ 464 w 867"/>
                  <a:gd name="T27" fmla="*/ 1086 h 3075"/>
                  <a:gd name="T28" fmla="*/ 230 w 867"/>
                  <a:gd name="T29" fmla="*/ 1004 h 3075"/>
                  <a:gd name="T30" fmla="*/ 131 w 867"/>
                  <a:gd name="T31" fmla="*/ 495 h 3075"/>
                  <a:gd name="T32" fmla="*/ 219 w 867"/>
                  <a:gd name="T33" fmla="*/ 948 h 3075"/>
                  <a:gd name="T34" fmla="*/ 453 w 867"/>
                  <a:gd name="T35" fmla="*/ 1038 h 3075"/>
                  <a:gd name="T36" fmla="*/ 364 w 867"/>
                  <a:gd name="T37" fmla="*/ 603 h 3075"/>
                  <a:gd name="T38" fmla="*/ 131 w 867"/>
                  <a:gd name="T39" fmla="*/ 495 h 3075"/>
                  <a:gd name="T40" fmla="*/ 0 w 867"/>
                  <a:gd name="T41" fmla="*/ 0 h 3075"/>
                  <a:gd name="T42" fmla="*/ 39 w 867"/>
                  <a:gd name="T43" fmla="*/ 21 h 3075"/>
                  <a:gd name="T44" fmla="*/ 120 w 867"/>
                  <a:gd name="T45" fmla="*/ 439 h 3075"/>
                  <a:gd name="T46" fmla="*/ 355 w 867"/>
                  <a:gd name="T47" fmla="*/ 555 h 3075"/>
                  <a:gd name="T48" fmla="*/ 279 w 867"/>
                  <a:gd name="T49" fmla="*/ 188 h 3075"/>
                  <a:gd name="T50" fmla="*/ 315 w 867"/>
                  <a:gd name="T51" fmla="*/ 205 h 3075"/>
                  <a:gd name="T52" fmla="*/ 389 w 867"/>
                  <a:gd name="T53" fmla="*/ 571 h 3075"/>
                  <a:gd name="T54" fmla="*/ 389 w 867"/>
                  <a:gd name="T55" fmla="*/ 571 h 3075"/>
                  <a:gd name="T56" fmla="*/ 398 w 867"/>
                  <a:gd name="T57" fmla="*/ 611 h 3075"/>
                  <a:gd name="T58" fmla="*/ 581 w 867"/>
                  <a:gd name="T59" fmla="*/ 1503 h 3075"/>
                  <a:gd name="T60" fmla="*/ 583 w 867"/>
                  <a:gd name="T61" fmla="*/ 1503 h 3075"/>
                  <a:gd name="T62" fmla="*/ 592 w 867"/>
                  <a:gd name="T63" fmla="*/ 1550 h 3075"/>
                  <a:gd name="T64" fmla="*/ 592 w 867"/>
                  <a:gd name="T65" fmla="*/ 1550 h 3075"/>
                  <a:gd name="T66" fmla="*/ 867 w 867"/>
                  <a:gd name="T67" fmla="*/ 2889 h 3075"/>
                  <a:gd name="T68" fmla="*/ 839 w 867"/>
                  <a:gd name="T69" fmla="*/ 2911 h 3075"/>
                  <a:gd name="T70" fmla="*/ 743 w 867"/>
                  <a:gd name="T71" fmla="*/ 2446 h 3075"/>
                  <a:gd name="T72" fmla="*/ 526 w 867"/>
                  <a:gd name="T73" fmla="*/ 2523 h 3075"/>
                  <a:gd name="T74" fmla="*/ 627 w 867"/>
                  <a:gd name="T75" fmla="*/ 3042 h 3075"/>
                  <a:gd name="T76" fmla="*/ 592 w 867"/>
                  <a:gd name="T77" fmla="*/ 3075 h 3075"/>
                  <a:gd name="T78" fmla="*/ 91 w 867"/>
                  <a:gd name="T79" fmla="*/ 476 h 3075"/>
                  <a:gd name="T80" fmla="*/ 81 w 867"/>
                  <a:gd name="T81" fmla="*/ 420 h 3075"/>
                  <a:gd name="T82" fmla="*/ 81 w 867"/>
                  <a:gd name="T83" fmla="*/ 420 h 3075"/>
                  <a:gd name="T84" fmla="*/ 0 w 867"/>
                  <a:gd name="T85" fmla="*/ 0 h 3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67" h="3075">
                    <a:moveTo>
                      <a:pt x="653" y="2005"/>
                    </a:moveTo>
                    <a:lnTo>
                      <a:pt x="428" y="2014"/>
                    </a:lnTo>
                    <a:lnTo>
                      <a:pt x="516" y="2465"/>
                    </a:lnTo>
                    <a:lnTo>
                      <a:pt x="733" y="2398"/>
                    </a:lnTo>
                    <a:lnTo>
                      <a:pt x="653" y="2005"/>
                    </a:lnTo>
                    <a:close/>
                    <a:moveTo>
                      <a:pt x="328" y="1506"/>
                    </a:moveTo>
                    <a:lnTo>
                      <a:pt x="416" y="1958"/>
                    </a:lnTo>
                    <a:lnTo>
                      <a:pt x="642" y="1958"/>
                    </a:lnTo>
                    <a:lnTo>
                      <a:pt x="557" y="1544"/>
                    </a:lnTo>
                    <a:lnTo>
                      <a:pt x="328" y="1506"/>
                    </a:lnTo>
                    <a:close/>
                    <a:moveTo>
                      <a:pt x="230" y="1004"/>
                    </a:moveTo>
                    <a:lnTo>
                      <a:pt x="318" y="1449"/>
                    </a:lnTo>
                    <a:lnTo>
                      <a:pt x="548" y="1495"/>
                    </a:lnTo>
                    <a:lnTo>
                      <a:pt x="464" y="1086"/>
                    </a:lnTo>
                    <a:lnTo>
                      <a:pt x="230" y="1004"/>
                    </a:lnTo>
                    <a:close/>
                    <a:moveTo>
                      <a:pt x="131" y="495"/>
                    </a:moveTo>
                    <a:lnTo>
                      <a:pt x="219" y="948"/>
                    </a:lnTo>
                    <a:lnTo>
                      <a:pt x="453" y="1038"/>
                    </a:lnTo>
                    <a:lnTo>
                      <a:pt x="364" y="603"/>
                    </a:lnTo>
                    <a:lnTo>
                      <a:pt x="131" y="495"/>
                    </a:lnTo>
                    <a:close/>
                    <a:moveTo>
                      <a:pt x="0" y="0"/>
                    </a:moveTo>
                    <a:lnTo>
                      <a:pt x="39" y="21"/>
                    </a:lnTo>
                    <a:lnTo>
                      <a:pt x="120" y="439"/>
                    </a:lnTo>
                    <a:lnTo>
                      <a:pt x="355" y="555"/>
                    </a:lnTo>
                    <a:lnTo>
                      <a:pt x="279" y="188"/>
                    </a:lnTo>
                    <a:lnTo>
                      <a:pt x="315" y="205"/>
                    </a:lnTo>
                    <a:lnTo>
                      <a:pt x="389" y="571"/>
                    </a:lnTo>
                    <a:lnTo>
                      <a:pt x="389" y="571"/>
                    </a:lnTo>
                    <a:lnTo>
                      <a:pt x="398" y="611"/>
                    </a:lnTo>
                    <a:lnTo>
                      <a:pt x="581" y="1503"/>
                    </a:lnTo>
                    <a:lnTo>
                      <a:pt x="583" y="1503"/>
                    </a:lnTo>
                    <a:lnTo>
                      <a:pt x="592" y="1550"/>
                    </a:lnTo>
                    <a:lnTo>
                      <a:pt x="592" y="1550"/>
                    </a:lnTo>
                    <a:lnTo>
                      <a:pt x="867" y="2889"/>
                    </a:lnTo>
                    <a:lnTo>
                      <a:pt x="839" y="2911"/>
                    </a:lnTo>
                    <a:lnTo>
                      <a:pt x="743" y="2446"/>
                    </a:lnTo>
                    <a:lnTo>
                      <a:pt x="526" y="2523"/>
                    </a:lnTo>
                    <a:lnTo>
                      <a:pt x="627" y="3042"/>
                    </a:lnTo>
                    <a:lnTo>
                      <a:pt x="592" y="3075"/>
                    </a:lnTo>
                    <a:lnTo>
                      <a:pt x="91" y="476"/>
                    </a:lnTo>
                    <a:lnTo>
                      <a:pt x="81" y="420"/>
                    </a:lnTo>
                    <a:lnTo>
                      <a:pt x="81" y="4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40">
                <a:extLst>
                  <a:ext uri="{FF2B5EF4-FFF2-40B4-BE49-F238E27FC236}">
                    <a16:creationId xmlns:a16="http://schemas.microsoft.com/office/drawing/2014/main" id="{7E6A24D7-E72D-2EEE-002C-40B7B9D7E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063" y="2124075"/>
                <a:ext cx="369888" cy="182563"/>
              </a:xfrm>
              <a:custGeom>
                <a:avLst/>
                <a:gdLst>
                  <a:gd name="T0" fmla="*/ 0 w 233"/>
                  <a:gd name="T1" fmla="*/ 0 h 115"/>
                  <a:gd name="T2" fmla="*/ 233 w 233"/>
                  <a:gd name="T3" fmla="*/ 108 h 115"/>
                  <a:gd name="T4" fmla="*/ 161 w 233"/>
                  <a:gd name="T5" fmla="*/ 115 h 115"/>
                  <a:gd name="T6" fmla="*/ 9 w 233"/>
                  <a:gd name="T7" fmla="*/ 47 h 115"/>
                  <a:gd name="T8" fmla="*/ 0 w 233"/>
                  <a:gd name="T9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3" h="115">
                    <a:moveTo>
                      <a:pt x="0" y="0"/>
                    </a:moveTo>
                    <a:lnTo>
                      <a:pt x="233" y="108"/>
                    </a:lnTo>
                    <a:lnTo>
                      <a:pt x="161" y="115"/>
                    </a:lnTo>
                    <a:lnTo>
                      <a:pt x="9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41">
                <a:extLst>
                  <a:ext uri="{FF2B5EF4-FFF2-40B4-BE49-F238E27FC236}">
                    <a16:creationId xmlns:a16="http://schemas.microsoft.com/office/drawing/2014/main" id="{09CC8DBC-85B9-5C4B-F374-29732605E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12226" y="2932113"/>
                <a:ext cx="371475" cy="149225"/>
              </a:xfrm>
              <a:custGeom>
                <a:avLst/>
                <a:gdLst>
                  <a:gd name="T0" fmla="*/ 0 w 234"/>
                  <a:gd name="T1" fmla="*/ 0 h 94"/>
                  <a:gd name="T2" fmla="*/ 234 w 234"/>
                  <a:gd name="T3" fmla="*/ 82 h 94"/>
                  <a:gd name="T4" fmla="*/ 158 w 234"/>
                  <a:gd name="T5" fmla="*/ 94 h 94"/>
                  <a:gd name="T6" fmla="*/ 10 w 234"/>
                  <a:gd name="T7" fmla="*/ 46 h 94"/>
                  <a:gd name="T8" fmla="*/ 0 w 234"/>
                  <a:gd name="T9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4" h="94">
                    <a:moveTo>
                      <a:pt x="0" y="0"/>
                    </a:moveTo>
                    <a:lnTo>
                      <a:pt x="234" y="82"/>
                    </a:lnTo>
                    <a:lnTo>
                      <a:pt x="158" y="94"/>
                    </a:lnTo>
                    <a:lnTo>
                      <a:pt x="1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Freeform 42">
                <a:extLst>
                  <a:ext uri="{FF2B5EF4-FFF2-40B4-BE49-F238E27FC236}">
                    <a16:creationId xmlns:a16="http://schemas.microsoft.com/office/drawing/2014/main" id="{A735A5DE-1EB7-2E68-0926-174E0F008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7801" y="3729038"/>
                <a:ext cx="368300" cy="69850"/>
              </a:xfrm>
              <a:custGeom>
                <a:avLst/>
                <a:gdLst>
                  <a:gd name="T0" fmla="*/ 0 w 232"/>
                  <a:gd name="T1" fmla="*/ 0 h 44"/>
                  <a:gd name="T2" fmla="*/ 232 w 232"/>
                  <a:gd name="T3" fmla="*/ 38 h 44"/>
                  <a:gd name="T4" fmla="*/ 144 w 232"/>
                  <a:gd name="T5" fmla="*/ 44 h 44"/>
                  <a:gd name="T6" fmla="*/ 4 w 232"/>
                  <a:gd name="T7" fmla="*/ 22 h 44"/>
                  <a:gd name="T8" fmla="*/ 0 w 232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44">
                    <a:moveTo>
                      <a:pt x="0" y="0"/>
                    </a:moveTo>
                    <a:lnTo>
                      <a:pt x="232" y="38"/>
                    </a:lnTo>
                    <a:lnTo>
                      <a:pt x="144" y="44"/>
                    </a:lnTo>
                    <a:lnTo>
                      <a:pt x="4" y="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Freeform 43">
                <a:extLst>
                  <a:ext uri="{FF2B5EF4-FFF2-40B4-BE49-F238E27FC236}">
                    <a16:creationId xmlns:a16="http://schemas.microsoft.com/office/drawing/2014/main" id="{CC201D61-44A5-57D1-C502-23DF073585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26551" y="4521200"/>
                <a:ext cx="357188" cy="26988"/>
              </a:xfrm>
              <a:custGeom>
                <a:avLst/>
                <a:gdLst>
                  <a:gd name="T0" fmla="*/ 225 w 225"/>
                  <a:gd name="T1" fmla="*/ 0 h 17"/>
                  <a:gd name="T2" fmla="*/ 138 w 225"/>
                  <a:gd name="T3" fmla="*/ 12 h 17"/>
                  <a:gd name="T4" fmla="*/ 1 w 225"/>
                  <a:gd name="T5" fmla="*/ 17 h 17"/>
                  <a:gd name="T6" fmla="*/ 0 w 225"/>
                  <a:gd name="T7" fmla="*/ 9 h 17"/>
                  <a:gd name="T8" fmla="*/ 225 w 225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5" h="17">
                    <a:moveTo>
                      <a:pt x="225" y="0"/>
                    </a:moveTo>
                    <a:lnTo>
                      <a:pt x="138" y="12"/>
                    </a:lnTo>
                    <a:lnTo>
                      <a:pt x="1" y="17"/>
                    </a:lnTo>
                    <a:lnTo>
                      <a:pt x="0" y="9"/>
                    </a:lnTo>
                    <a:lnTo>
                      <a:pt x="225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44">
                <a:extLst>
                  <a:ext uri="{FF2B5EF4-FFF2-40B4-BE49-F238E27FC236}">
                    <a16:creationId xmlns:a16="http://schemas.microsoft.com/office/drawing/2014/main" id="{757FCCCB-692B-BF1A-7F52-4BB884779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58313" y="5145088"/>
                <a:ext cx="352425" cy="106363"/>
              </a:xfrm>
              <a:custGeom>
                <a:avLst/>
                <a:gdLst>
                  <a:gd name="T0" fmla="*/ 222 w 222"/>
                  <a:gd name="T1" fmla="*/ 0 h 67"/>
                  <a:gd name="T2" fmla="*/ 5 w 222"/>
                  <a:gd name="T3" fmla="*/ 67 h 67"/>
                  <a:gd name="T4" fmla="*/ 0 w 222"/>
                  <a:gd name="T5" fmla="*/ 48 h 67"/>
                  <a:gd name="T6" fmla="*/ 131 w 222"/>
                  <a:gd name="T7" fmla="*/ 9 h 67"/>
                  <a:gd name="T8" fmla="*/ 222 w 222"/>
                  <a:gd name="T9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2" h="67">
                    <a:moveTo>
                      <a:pt x="222" y="0"/>
                    </a:moveTo>
                    <a:lnTo>
                      <a:pt x="5" y="67"/>
                    </a:lnTo>
                    <a:lnTo>
                      <a:pt x="0" y="48"/>
                    </a:lnTo>
                    <a:lnTo>
                      <a:pt x="131" y="9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20492B77-91F8-02C0-D751-7E7907A9834A}"/>
              </a:ext>
            </a:extLst>
          </p:cNvPr>
          <p:cNvSpPr txBox="1"/>
          <p:nvPr/>
        </p:nvSpPr>
        <p:spPr>
          <a:xfrm>
            <a:off x="1273667" y="1607389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955F05-5D72-F14A-A165-80F089BF10E6}"/>
              </a:ext>
            </a:extLst>
          </p:cNvPr>
          <p:cNvSpPr txBox="1"/>
          <p:nvPr/>
        </p:nvSpPr>
        <p:spPr>
          <a:xfrm>
            <a:off x="1273667" y="2487284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24BE24-B65E-6449-2D38-149CB951058C}"/>
              </a:ext>
            </a:extLst>
          </p:cNvPr>
          <p:cNvSpPr txBox="1"/>
          <p:nvPr/>
        </p:nvSpPr>
        <p:spPr>
          <a:xfrm>
            <a:off x="1273667" y="3349926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C9006D2-36ED-137F-F2C1-B1487BC44F80}"/>
              </a:ext>
            </a:extLst>
          </p:cNvPr>
          <p:cNvSpPr txBox="1"/>
          <p:nvPr/>
        </p:nvSpPr>
        <p:spPr>
          <a:xfrm>
            <a:off x="1273667" y="4291221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0492CB5-DF1F-46E9-CEA5-F38E49CBD8BB}"/>
              </a:ext>
            </a:extLst>
          </p:cNvPr>
          <p:cNvSpPr txBox="1"/>
          <p:nvPr/>
        </p:nvSpPr>
        <p:spPr>
          <a:xfrm>
            <a:off x="1273667" y="5195979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71" name="Content Placeholder 4">
            <a:extLst>
              <a:ext uri="{FF2B5EF4-FFF2-40B4-BE49-F238E27FC236}">
                <a16:creationId xmlns:a16="http://schemas.microsoft.com/office/drawing/2014/main" id="{7B20D0AB-8B21-BB52-A01B-5A8CAA9ABA60}"/>
              </a:ext>
            </a:extLst>
          </p:cNvPr>
          <p:cNvSpPr txBox="1">
            <a:spLocks/>
          </p:cNvSpPr>
          <p:nvPr/>
        </p:nvSpPr>
        <p:spPr>
          <a:xfrm>
            <a:off x="1942213" y="1640540"/>
            <a:ext cx="3124200" cy="609600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</a:rPr>
              <a:t>Need for Regulatory Frameworks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Content Placeholder 4">
            <a:extLst>
              <a:ext uri="{FF2B5EF4-FFF2-40B4-BE49-F238E27FC236}">
                <a16:creationId xmlns:a16="http://schemas.microsoft.com/office/drawing/2014/main" id="{AD1FC9C9-FFE3-5FC5-272D-BF35993E63AB}"/>
              </a:ext>
            </a:extLst>
          </p:cNvPr>
          <p:cNvSpPr txBox="1">
            <a:spLocks/>
          </p:cNvSpPr>
          <p:nvPr/>
        </p:nvSpPr>
        <p:spPr>
          <a:xfrm>
            <a:off x="1942213" y="2522466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</a:rPr>
              <a:t>Human-AI Collaboration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Content Placeholder 4">
            <a:extLst>
              <a:ext uri="{FF2B5EF4-FFF2-40B4-BE49-F238E27FC236}">
                <a16:creationId xmlns:a16="http://schemas.microsoft.com/office/drawing/2014/main" id="{AB3CB144-4FB7-9E31-F8A3-BA7DF06077E0}"/>
              </a:ext>
            </a:extLst>
          </p:cNvPr>
          <p:cNvSpPr txBox="1">
            <a:spLocks/>
          </p:cNvSpPr>
          <p:nvPr/>
        </p:nvSpPr>
        <p:spPr>
          <a:xfrm>
            <a:off x="1942213" y="3385785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</a:rPr>
              <a:t>Ethical Considerations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Content Placeholder 4">
            <a:extLst>
              <a:ext uri="{FF2B5EF4-FFF2-40B4-BE49-F238E27FC236}">
                <a16:creationId xmlns:a16="http://schemas.microsoft.com/office/drawing/2014/main" id="{502D1D34-EC5D-5B0F-536D-27173BB6FBEA}"/>
              </a:ext>
            </a:extLst>
          </p:cNvPr>
          <p:cNvSpPr txBox="1">
            <a:spLocks/>
          </p:cNvSpPr>
          <p:nvPr/>
        </p:nvSpPr>
        <p:spPr>
          <a:xfrm>
            <a:off x="1942213" y="4326403"/>
            <a:ext cx="3124200" cy="609600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AI's Impact on Military Efficiency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Content Placeholder 4">
            <a:extLst>
              <a:ext uri="{FF2B5EF4-FFF2-40B4-BE49-F238E27FC236}">
                <a16:creationId xmlns:a16="http://schemas.microsoft.com/office/drawing/2014/main" id="{EDEEB7AB-4EFB-D998-1D8D-450948297D06}"/>
              </a:ext>
            </a:extLst>
          </p:cNvPr>
          <p:cNvSpPr txBox="1">
            <a:spLocks/>
          </p:cNvSpPr>
          <p:nvPr/>
        </p:nvSpPr>
        <p:spPr>
          <a:xfrm>
            <a:off x="1942213" y="5213230"/>
            <a:ext cx="3124200" cy="609600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Understanding AI in Weapon Selection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DD884F8-AAE7-9516-7EC9-BE527FAEAF34}"/>
              </a:ext>
            </a:extLst>
          </p:cNvPr>
          <p:cNvGrpSpPr/>
          <p:nvPr/>
        </p:nvGrpSpPr>
        <p:grpSpPr>
          <a:xfrm>
            <a:off x="9611350" y="1899843"/>
            <a:ext cx="2011680" cy="4233781"/>
            <a:chOff x="4446428" y="1524000"/>
            <a:chExt cx="2011680" cy="4233781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3FA2CC1-BF58-C42D-1C35-EDF7B9121E65}"/>
                </a:ext>
              </a:extLst>
            </p:cNvPr>
            <p:cNvGrpSpPr/>
            <p:nvPr/>
          </p:nvGrpSpPr>
          <p:grpSpPr>
            <a:xfrm>
              <a:off x="4571999" y="1524000"/>
              <a:ext cx="1597026" cy="4124325"/>
              <a:chOff x="3732213" y="1524000"/>
              <a:chExt cx="1597026" cy="4124325"/>
            </a:xfrm>
          </p:grpSpPr>
          <p:sp>
            <p:nvSpPr>
              <p:cNvPr id="79" name="Freeform 6">
                <a:extLst>
                  <a:ext uri="{FF2B5EF4-FFF2-40B4-BE49-F238E27FC236}">
                    <a16:creationId xmlns:a16="http://schemas.microsoft.com/office/drawing/2014/main" id="{3BE19115-AE65-E90B-1674-204A1FEE72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9276" y="2782888"/>
                <a:ext cx="506413" cy="796925"/>
              </a:xfrm>
              <a:custGeom>
                <a:avLst/>
                <a:gdLst/>
                <a:ahLst/>
                <a:cxnLst>
                  <a:cxn ang="0">
                    <a:pos x="268" y="0"/>
                  </a:cxn>
                  <a:cxn ang="0">
                    <a:pos x="319" y="442"/>
                  </a:cxn>
                  <a:cxn ang="0">
                    <a:pos x="86" y="502"/>
                  </a:cxn>
                  <a:cxn ang="0">
                    <a:pos x="0" y="26"/>
                  </a:cxn>
                  <a:cxn ang="0">
                    <a:pos x="2" y="26"/>
                  </a:cxn>
                  <a:cxn ang="0">
                    <a:pos x="10" y="25"/>
                  </a:cxn>
                  <a:cxn ang="0">
                    <a:pos x="22" y="25"/>
                  </a:cxn>
                  <a:cxn ang="0">
                    <a:pos x="39" y="24"/>
                  </a:cxn>
                  <a:cxn ang="0">
                    <a:pos x="59" y="23"/>
                  </a:cxn>
                  <a:cxn ang="0">
                    <a:pos x="83" y="21"/>
                  </a:cxn>
                  <a:cxn ang="0">
                    <a:pos x="110" y="19"/>
                  </a:cxn>
                  <a:cxn ang="0">
                    <a:pos x="139" y="16"/>
                  </a:cxn>
                  <a:cxn ang="0">
                    <a:pos x="170" y="13"/>
                  </a:cxn>
                  <a:cxn ang="0">
                    <a:pos x="201" y="9"/>
                  </a:cxn>
                  <a:cxn ang="0">
                    <a:pos x="234" y="5"/>
                  </a:cxn>
                  <a:cxn ang="0">
                    <a:pos x="268" y="0"/>
                  </a:cxn>
                </a:cxnLst>
                <a:rect l="0" t="0" r="r" b="b"/>
                <a:pathLst>
                  <a:path w="319" h="502">
                    <a:moveTo>
                      <a:pt x="268" y="0"/>
                    </a:moveTo>
                    <a:lnTo>
                      <a:pt x="319" y="442"/>
                    </a:lnTo>
                    <a:lnTo>
                      <a:pt x="86" y="502"/>
                    </a:lnTo>
                    <a:lnTo>
                      <a:pt x="0" y="26"/>
                    </a:lnTo>
                    <a:lnTo>
                      <a:pt x="2" y="26"/>
                    </a:lnTo>
                    <a:lnTo>
                      <a:pt x="10" y="25"/>
                    </a:lnTo>
                    <a:lnTo>
                      <a:pt x="22" y="25"/>
                    </a:lnTo>
                    <a:lnTo>
                      <a:pt x="39" y="24"/>
                    </a:lnTo>
                    <a:lnTo>
                      <a:pt x="59" y="23"/>
                    </a:lnTo>
                    <a:lnTo>
                      <a:pt x="83" y="21"/>
                    </a:lnTo>
                    <a:lnTo>
                      <a:pt x="110" y="19"/>
                    </a:lnTo>
                    <a:lnTo>
                      <a:pt x="139" y="16"/>
                    </a:lnTo>
                    <a:lnTo>
                      <a:pt x="170" y="13"/>
                    </a:lnTo>
                    <a:lnTo>
                      <a:pt x="201" y="9"/>
                    </a:lnTo>
                    <a:lnTo>
                      <a:pt x="234" y="5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rgbClr val="F4F8FA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Freeform 7">
                <a:extLst>
                  <a:ext uri="{FF2B5EF4-FFF2-40B4-BE49-F238E27FC236}">
                    <a16:creationId xmlns:a16="http://schemas.microsoft.com/office/drawing/2014/main" id="{49137C84-21E5-DD98-068B-5CDB421EB1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738" y="4044950"/>
                <a:ext cx="666750" cy="1539875"/>
              </a:xfrm>
              <a:custGeom>
                <a:avLst/>
                <a:gdLst/>
                <a:ahLst/>
                <a:cxnLst>
                  <a:cxn ang="0">
                    <a:pos x="292" y="6"/>
                  </a:cxn>
                  <a:cxn ang="0">
                    <a:pos x="420" y="55"/>
                  </a:cxn>
                  <a:cxn ang="0">
                    <a:pos x="418" y="75"/>
                  </a:cxn>
                  <a:cxn ang="0">
                    <a:pos x="415" y="109"/>
                  </a:cxn>
                  <a:cxn ang="0">
                    <a:pos x="411" y="157"/>
                  </a:cxn>
                  <a:cxn ang="0">
                    <a:pos x="407" y="213"/>
                  </a:cxn>
                  <a:cxn ang="0">
                    <a:pos x="398" y="337"/>
                  </a:cxn>
                  <a:cxn ang="0">
                    <a:pos x="394" y="398"/>
                  </a:cxn>
                  <a:cxn ang="0">
                    <a:pos x="390" y="453"/>
                  </a:cxn>
                  <a:cxn ang="0">
                    <a:pos x="388" y="500"/>
                  </a:cxn>
                  <a:cxn ang="0">
                    <a:pos x="387" y="541"/>
                  </a:cxn>
                  <a:cxn ang="0">
                    <a:pos x="386" y="620"/>
                  </a:cxn>
                  <a:cxn ang="0">
                    <a:pos x="387" y="768"/>
                  </a:cxn>
                  <a:cxn ang="0">
                    <a:pos x="388" y="879"/>
                  </a:cxn>
                  <a:cxn ang="0">
                    <a:pos x="258" y="970"/>
                  </a:cxn>
                  <a:cxn ang="0">
                    <a:pos x="253" y="920"/>
                  </a:cxn>
                  <a:cxn ang="0">
                    <a:pos x="251" y="853"/>
                  </a:cxn>
                  <a:cxn ang="0">
                    <a:pos x="249" y="775"/>
                  </a:cxn>
                  <a:cxn ang="0">
                    <a:pos x="250" y="649"/>
                  </a:cxn>
                  <a:cxn ang="0">
                    <a:pos x="251" y="566"/>
                  </a:cxn>
                  <a:cxn ang="0">
                    <a:pos x="254" y="491"/>
                  </a:cxn>
                  <a:cxn ang="0">
                    <a:pos x="256" y="430"/>
                  </a:cxn>
                  <a:cxn ang="0">
                    <a:pos x="262" y="344"/>
                  </a:cxn>
                  <a:cxn ang="0">
                    <a:pos x="266" y="287"/>
                  </a:cxn>
                  <a:cxn ang="0">
                    <a:pos x="269" y="240"/>
                  </a:cxn>
                  <a:cxn ang="0">
                    <a:pos x="272" y="205"/>
                  </a:cxn>
                  <a:cxn ang="0">
                    <a:pos x="273" y="185"/>
                  </a:cxn>
                  <a:cxn ang="0">
                    <a:pos x="154" y="186"/>
                  </a:cxn>
                  <a:cxn ang="0">
                    <a:pos x="159" y="234"/>
                  </a:cxn>
                  <a:cxn ang="0">
                    <a:pos x="163" y="300"/>
                  </a:cxn>
                  <a:cxn ang="0">
                    <a:pos x="165" y="377"/>
                  </a:cxn>
                  <a:cxn ang="0">
                    <a:pos x="166" y="461"/>
                  </a:cxn>
                  <a:cxn ang="0">
                    <a:pos x="165" y="687"/>
                  </a:cxn>
                  <a:cxn ang="0">
                    <a:pos x="165" y="745"/>
                  </a:cxn>
                  <a:cxn ang="0">
                    <a:pos x="163" y="803"/>
                  </a:cxn>
                  <a:cxn ang="0">
                    <a:pos x="160" y="857"/>
                  </a:cxn>
                  <a:cxn ang="0">
                    <a:pos x="157" y="902"/>
                  </a:cxn>
                  <a:cxn ang="0">
                    <a:pos x="154" y="935"/>
                  </a:cxn>
                  <a:cxn ang="0">
                    <a:pos x="152" y="953"/>
                  </a:cxn>
                  <a:cxn ang="0">
                    <a:pos x="20" y="917"/>
                  </a:cxn>
                  <a:cxn ang="0">
                    <a:pos x="21" y="907"/>
                  </a:cxn>
                  <a:cxn ang="0">
                    <a:pos x="22" y="876"/>
                  </a:cxn>
                  <a:cxn ang="0">
                    <a:pos x="24" y="828"/>
                  </a:cxn>
                  <a:cxn ang="0">
                    <a:pos x="25" y="764"/>
                  </a:cxn>
                  <a:cxn ang="0">
                    <a:pos x="26" y="642"/>
                  </a:cxn>
                  <a:cxn ang="0">
                    <a:pos x="24" y="546"/>
                  </a:cxn>
                  <a:cxn ang="0">
                    <a:pos x="21" y="468"/>
                  </a:cxn>
                  <a:cxn ang="0">
                    <a:pos x="17" y="387"/>
                  </a:cxn>
                  <a:cxn ang="0">
                    <a:pos x="14" y="308"/>
                  </a:cxn>
                  <a:cxn ang="0">
                    <a:pos x="10" y="234"/>
                  </a:cxn>
                  <a:cxn ang="0">
                    <a:pos x="7" y="168"/>
                  </a:cxn>
                  <a:cxn ang="0">
                    <a:pos x="4" y="114"/>
                  </a:cxn>
                  <a:cxn ang="0">
                    <a:pos x="2" y="75"/>
                  </a:cxn>
                  <a:cxn ang="0">
                    <a:pos x="0" y="54"/>
                  </a:cxn>
                  <a:cxn ang="0">
                    <a:pos x="241" y="0"/>
                  </a:cxn>
                </a:cxnLst>
                <a:rect l="0" t="0" r="r" b="b"/>
                <a:pathLst>
                  <a:path w="420" h="970">
                    <a:moveTo>
                      <a:pt x="241" y="0"/>
                    </a:moveTo>
                    <a:lnTo>
                      <a:pt x="292" y="6"/>
                    </a:lnTo>
                    <a:lnTo>
                      <a:pt x="420" y="53"/>
                    </a:lnTo>
                    <a:lnTo>
                      <a:pt x="420" y="55"/>
                    </a:lnTo>
                    <a:lnTo>
                      <a:pt x="419" y="63"/>
                    </a:lnTo>
                    <a:lnTo>
                      <a:pt x="418" y="75"/>
                    </a:lnTo>
                    <a:lnTo>
                      <a:pt x="417" y="91"/>
                    </a:lnTo>
                    <a:lnTo>
                      <a:pt x="415" y="109"/>
                    </a:lnTo>
                    <a:lnTo>
                      <a:pt x="414" y="131"/>
                    </a:lnTo>
                    <a:lnTo>
                      <a:pt x="411" y="157"/>
                    </a:lnTo>
                    <a:lnTo>
                      <a:pt x="409" y="184"/>
                    </a:lnTo>
                    <a:lnTo>
                      <a:pt x="407" y="213"/>
                    </a:lnTo>
                    <a:lnTo>
                      <a:pt x="403" y="274"/>
                    </a:lnTo>
                    <a:lnTo>
                      <a:pt x="398" y="337"/>
                    </a:lnTo>
                    <a:lnTo>
                      <a:pt x="395" y="368"/>
                    </a:lnTo>
                    <a:lnTo>
                      <a:pt x="394" y="398"/>
                    </a:lnTo>
                    <a:lnTo>
                      <a:pt x="391" y="427"/>
                    </a:lnTo>
                    <a:lnTo>
                      <a:pt x="390" y="453"/>
                    </a:lnTo>
                    <a:lnTo>
                      <a:pt x="389" y="478"/>
                    </a:lnTo>
                    <a:lnTo>
                      <a:pt x="388" y="500"/>
                    </a:lnTo>
                    <a:lnTo>
                      <a:pt x="388" y="519"/>
                    </a:lnTo>
                    <a:lnTo>
                      <a:pt x="387" y="541"/>
                    </a:lnTo>
                    <a:lnTo>
                      <a:pt x="387" y="591"/>
                    </a:lnTo>
                    <a:lnTo>
                      <a:pt x="386" y="620"/>
                    </a:lnTo>
                    <a:lnTo>
                      <a:pt x="386" y="738"/>
                    </a:lnTo>
                    <a:lnTo>
                      <a:pt x="387" y="768"/>
                    </a:lnTo>
                    <a:lnTo>
                      <a:pt x="387" y="863"/>
                    </a:lnTo>
                    <a:lnTo>
                      <a:pt x="388" y="879"/>
                    </a:lnTo>
                    <a:lnTo>
                      <a:pt x="388" y="902"/>
                    </a:lnTo>
                    <a:lnTo>
                      <a:pt x="258" y="970"/>
                    </a:lnTo>
                    <a:lnTo>
                      <a:pt x="255" y="947"/>
                    </a:lnTo>
                    <a:lnTo>
                      <a:pt x="253" y="920"/>
                    </a:lnTo>
                    <a:lnTo>
                      <a:pt x="251" y="888"/>
                    </a:lnTo>
                    <a:lnTo>
                      <a:pt x="251" y="853"/>
                    </a:lnTo>
                    <a:lnTo>
                      <a:pt x="250" y="815"/>
                    </a:lnTo>
                    <a:lnTo>
                      <a:pt x="249" y="775"/>
                    </a:lnTo>
                    <a:lnTo>
                      <a:pt x="249" y="691"/>
                    </a:lnTo>
                    <a:lnTo>
                      <a:pt x="250" y="649"/>
                    </a:lnTo>
                    <a:lnTo>
                      <a:pt x="251" y="607"/>
                    </a:lnTo>
                    <a:lnTo>
                      <a:pt x="251" y="566"/>
                    </a:lnTo>
                    <a:lnTo>
                      <a:pt x="252" y="527"/>
                    </a:lnTo>
                    <a:lnTo>
                      <a:pt x="254" y="491"/>
                    </a:lnTo>
                    <a:lnTo>
                      <a:pt x="254" y="458"/>
                    </a:lnTo>
                    <a:lnTo>
                      <a:pt x="256" y="430"/>
                    </a:lnTo>
                    <a:lnTo>
                      <a:pt x="258" y="405"/>
                    </a:lnTo>
                    <a:lnTo>
                      <a:pt x="262" y="344"/>
                    </a:lnTo>
                    <a:lnTo>
                      <a:pt x="264" y="315"/>
                    </a:lnTo>
                    <a:lnTo>
                      <a:pt x="266" y="287"/>
                    </a:lnTo>
                    <a:lnTo>
                      <a:pt x="268" y="263"/>
                    </a:lnTo>
                    <a:lnTo>
                      <a:pt x="269" y="240"/>
                    </a:lnTo>
                    <a:lnTo>
                      <a:pt x="271" y="220"/>
                    </a:lnTo>
                    <a:lnTo>
                      <a:pt x="272" y="205"/>
                    </a:lnTo>
                    <a:lnTo>
                      <a:pt x="273" y="193"/>
                    </a:lnTo>
                    <a:lnTo>
                      <a:pt x="273" y="185"/>
                    </a:lnTo>
                    <a:lnTo>
                      <a:pt x="273" y="183"/>
                    </a:lnTo>
                    <a:lnTo>
                      <a:pt x="154" y="186"/>
                    </a:lnTo>
                    <a:lnTo>
                      <a:pt x="157" y="208"/>
                    </a:lnTo>
                    <a:lnTo>
                      <a:pt x="159" y="234"/>
                    </a:lnTo>
                    <a:lnTo>
                      <a:pt x="162" y="265"/>
                    </a:lnTo>
                    <a:lnTo>
                      <a:pt x="163" y="300"/>
                    </a:lnTo>
                    <a:lnTo>
                      <a:pt x="164" y="338"/>
                    </a:lnTo>
                    <a:lnTo>
                      <a:pt x="165" y="377"/>
                    </a:lnTo>
                    <a:lnTo>
                      <a:pt x="165" y="418"/>
                    </a:lnTo>
                    <a:lnTo>
                      <a:pt x="166" y="461"/>
                    </a:lnTo>
                    <a:lnTo>
                      <a:pt x="166" y="656"/>
                    </a:lnTo>
                    <a:lnTo>
                      <a:pt x="165" y="687"/>
                    </a:lnTo>
                    <a:lnTo>
                      <a:pt x="165" y="714"/>
                    </a:lnTo>
                    <a:lnTo>
                      <a:pt x="165" y="745"/>
                    </a:lnTo>
                    <a:lnTo>
                      <a:pt x="164" y="775"/>
                    </a:lnTo>
                    <a:lnTo>
                      <a:pt x="163" y="803"/>
                    </a:lnTo>
                    <a:lnTo>
                      <a:pt x="162" y="831"/>
                    </a:lnTo>
                    <a:lnTo>
                      <a:pt x="160" y="857"/>
                    </a:lnTo>
                    <a:lnTo>
                      <a:pt x="158" y="881"/>
                    </a:lnTo>
                    <a:lnTo>
                      <a:pt x="157" y="902"/>
                    </a:lnTo>
                    <a:lnTo>
                      <a:pt x="155" y="920"/>
                    </a:lnTo>
                    <a:lnTo>
                      <a:pt x="154" y="935"/>
                    </a:lnTo>
                    <a:lnTo>
                      <a:pt x="153" y="946"/>
                    </a:lnTo>
                    <a:lnTo>
                      <a:pt x="152" y="953"/>
                    </a:lnTo>
                    <a:lnTo>
                      <a:pt x="152" y="956"/>
                    </a:lnTo>
                    <a:lnTo>
                      <a:pt x="20" y="917"/>
                    </a:lnTo>
                    <a:lnTo>
                      <a:pt x="20" y="915"/>
                    </a:lnTo>
                    <a:lnTo>
                      <a:pt x="21" y="907"/>
                    </a:lnTo>
                    <a:lnTo>
                      <a:pt x="21" y="894"/>
                    </a:lnTo>
                    <a:lnTo>
                      <a:pt x="22" y="876"/>
                    </a:lnTo>
                    <a:lnTo>
                      <a:pt x="23" y="854"/>
                    </a:lnTo>
                    <a:lnTo>
                      <a:pt x="24" y="828"/>
                    </a:lnTo>
                    <a:lnTo>
                      <a:pt x="24" y="798"/>
                    </a:lnTo>
                    <a:lnTo>
                      <a:pt x="25" y="764"/>
                    </a:lnTo>
                    <a:lnTo>
                      <a:pt x="26" y="727"/>
                    </a:lnTo>
                    <a:lnTo>
                      <a:pt x="26" y="642"/>
                    </a:lnTo>
                    <a:lnTo>
                      <a:pt x="25" y="595"/>
                    </a:lnTo>
                    <a:lnTo>
                      <a:pt x="24" y="546"/>
                    </a:lnTo>
                    <a:lnTo>
                      <a:pt x="22" y="507"/>
                    </a:lnTo>
                    <a:lnTo>
                      <a:pt x="21" y="468"/>
                    </a:lnTo>
                    <a:lnTo>
                      <a:pt x="20" y="427"/>
                    </a:lnTo>
                    <a:lnTo>
                      <a:pt x="17" y="387"/>
                    </a:lnTo>
                    <a:lnTo>
                      <a:pt x="16" y="346"/>
                    </a:lnTo>
                    <a:lnTo>
                      <a:pt x="14" y="308"/>
                    </a:lnTo>
                    <a:lnTo>
                      <a:pt x="13" y="270"/>
                    </a:lnTo>
                    <a:lnTo>
                      <a:pt x="10" y="234"/>
                    </a:lnTo>
                    <a:lnTo>
                      <a:pt x="9" y="199"/>
                    </a:lnTo>
                    <a:lnTo>
                      <a:pt x="7" y="168"/>
                    </a:lnTo>
                    <a:lnTo>
                      <a:pt x="6" y="139"/>
                    </a:lnTo>
                    <a:lnTo>
                      <a:pt x="4" y="114"/>
                    </a:lnTo>
                    <a:lnTo>
                      <a:pt x="2" y="92"/>
                    </a:lnTo>
                    <a:lnTo>
                      <a:pt x="2" y="75"/>
                    </a:lnTo>
                    <a:lnTo>
                      <a:pt x="1" y="61"/>
                    </a:lnTo>
                    <a:lnTo>
                      <a:pt x="0" y="54"/>
                    </a:lnTo>
                    <a:lnTo>
                      <a:pt x="0" y="50"/>
                    </a:lnTo>
                    <a:lnTo>
                      <a:pt x="24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Freeform 8">
                <a:extLst>
                  <a:ext uri="{FF2B5EF4-FFF2-40B4-BE49-F238E27FC236}">
                    <a16:creationId xmlns:a16="http://schemas.microsoft.com/office/drawing/2014/main" id="{D5679E11-BB9F-5E3B-25C7-983920EBA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3701" y="5438775"/>
                <a:ext cx="300038" cy="193675"/>
              </a:xfrm>
              <a:custGeom>
                <a:avLst/>
                <a:gdLst/>
                <a:ahLst/>
                <a:cxnLst>
                  <a:cxn ang="0">
                    <a:pos x="92" y="0"/>
                  </a:cxn>
                  <a:cxn ang="0">
                    <a:pos x="110" y="1"/>
                  </a:cxn>
                  <a:cxn ang="0">
                    <a:pos x="126" y="5"/>
                  </a:cxn>
                  <a:cxn ang="0">
                    <a:pos x="139" y="10"/>
                  </a:cxn>
                  <a:cxn ang="0">
                    <a:pos x="151" y="17"/>
                  </a:cxn>
                  <a:cxn ang="0">
                    <a:pos x="161" y="27"/>
                  </a:cxn>
                  <a:cxn ang="0">
                    <a:pos x="168" y="37"/>
                  </a:cxn>
                  <a:cxn ang="0">
                    <a:pos x="175" y="48"/>
                  </a:cxn>
                  <a:cxn ang="0">
                    <a:pos x="179" y="58"/>
                  </a:cxn>
                  <a:cxn ang="0">
                    <a:pos x="183" y="69"/>
                  </a:cxn>
                  <a:cxn ang="0">
                    <a:pos x="186" y="79"/>
                  </a:cxn>
                  <a:cxn ang="0">
                    <a:pos x="187" y="89"/>
                  </a:cxn>
                  <a:cxn ang="0">
                    <a:pos x="188" y="97"/>
                  </a:cxn>
                  <a:cxn ang="0">
                    <a:pos x="189" y="103"/>
                  </a:cxn>
                  <a:cxn ang="0">
                    <a:pos x="189" y="108"/>
                  </a:cxn>
                  <a:cxn ang="0">
                    <a:pos x="187" y="109"/>
                  </a:cxn>
                  <a:cxn ang="0">
                    <a:pos x="180" y="110"/>
                  </a:cxn>
                  <a:cxn ang="0">
                    <a:pos x="171" y="112"/>
                  </a:cxn>
                  <a:cxn ang="0">
                    <a:pos x="158" y="115"/>
                  </a:cxn>
                  <a:cxn ang="0">
                    <a:pos x="142" y="117"/>
                  </a:cxn>
                  <a:cxn ang="0">
                    <a:pos x="124" y="119"/>
                  </a:cxn>
                  <a:cxn ang="0">
                    <a:pos x="105" y="121"/>
                  </a:cxn>
                  <a:cxn ang="0">
                    <a:pos x="83" y="122"/>
                  </a:cxn>
                  <a:cxn ang="0">
                    <a:pos x="61" y="122"/>
                  </a:cxn>
                  <a:cxn ang="0">
                    <a:pos x="44" y="121"/>
                  </a:cxn>
                  <a:cxn ang="0">
                    <a:pos x="30" y="120"/>
                  </a:cxn>
                  <a:cxn ang="0">
                    <a:pos x="19" y="117"/>
                  </a:cxn>
                  <a:cxn ang="0">
                    <a:pos x="11" y="115"/>
                  </a:cxn>
                  <a:cxn ang="0">
                    <a:pos x="5" y="112"/>
                  </a:cxn>
                  <a:cxn ang="0">
                    <a:pos x="2" y="110"/>
                  </a:cxn>
                  <a:cxn ang="0">
                    <a:pos x="1" y="109"/>
                  </a:cxn>
                  <a:cxn ang="0">
                    <a:pos x="0" y="108"/>
                  </a:cxn>
                  <a:cxn ang="0">
                    <a:pos x="0" y="96"/>
                  </a:cxn>
                  <a:cxn ang="0">
                    <a:pos x="2" y="88"/>
                  </a:cxn>
                  <a:cxn ang="0">
                    <a:pos x="3" y="78"/>
                  </a:cxn>
                  <a:cxn ang="0">
                    <a:pos x="5" y="67"/>
                  </a:cxn>
                  <a:cxn ang="0">
                    <a:pos x="9" y="56"/>
                  </a:cxn>
                  <a:cxn ang="0">
                    <a:pos x="15" y="44"/>
                  </a:cxn>
                  <a:cxn ang="0">
                    <a:pos x="22" y="33"/>
                  </a:cxn>
                  <a:cxn ang="0">
                    <a:pos x="31" y="23"/>
                  </a:cxn>
                  <a:cxn ang="0">
                    <a:pos x="42" y="14"/>
                  </a:cxn>
                  <a:cxn ang="0">
                    <a:pos x="56" y="7"/>
                  </a:cxn>
                  <a:cxn ang="0">
                    <a:pos x="72" y="2"/>
                  </a:cxn>
                  <a:cxn ang="0">
                    <a:pos x="92" y="0"/>
                  </a:cxn>
                </a:cxnLst>
                <a:rect l="0" t="0" r="r" b="b"/>
                <a:pathLst>
                  <a:path w="189" h="122">
                    <a:moveTo>
                      <a:pt x="92" y="0"/>
                    </a:moveTo>
                    <a:lnTo>
                      <a:pt x="110" y="1"/>
                    </a:lnTo>
                    <a:lnTo>
                      <a:pt x="126" y="5"/>
                    </a:lnTo>
                    <a:lnTo>
                      <a:pt x="139" y="10"/>
                    </a:lnTo>
                    <a:lnTo>
                      <a:pt x="151" y="17"/>
                    </a:lnTo>
                    <a:lnTo>
                      <a:pt x="161" y="27"/>
                    </a:lnTo>
                    <a:lnTo>
                      <a:pt x="168" y="37"/>
                    </a:lnTo>
                    <a:lnTo>
                      <a:pt x="175" y="48"/>
                    </a:lnTo>
                    <a:lnTo>
                      <a:pt x="179" y="58"/>
                    </a:lnTo>
                    <a:lnTo>
                      <a:pt x="183" y="69"/>
                    </a:lnTo>
                    <a:lnTo>
                      <a:pt x="186" y="79"/>
                    </a:lnTo>
                    <a:lnTo>
                      <a:pt x="187" y="89"/>
                    </a:lnTo>
                    <a:lnTo>
                      <a:pt x="188" y="97"/>
                    </a:lnTo>
                    <a:lnTo>
                      <a:pt x="189" y="103"/>
                    </a:lnTo>
                    <a:lnTo>
                      <a:pt x="189" y="108"/>
                    </a:lnTo>
                    <a:lnTo>
                      <a:pt x="187" y="109"/>
                    </a:lnTo>
                    <a:lnTo>
                      <a:pt x="180" y="110"/>
                    </a:lnTo>
                    <a:lnTo>
                      <a:pt x="171" y="112"/>
                    </a:lnTo>
                    <a:lnTo>
                      <a:pt x="158" y="115"/>
                    </a:lnTo>
                    <a:lnTo>
                      <a:pt x="142" y="117"/>
                    </a:lnTo>
                    <a:lnTo>
                      <a:pt x="124" y="119"/>
                    </a:lnTo>
                    <a:lnTo>
                      <a:pt x="105" y="121"/>
                    </a:lnTo>
                    <a:lnTo>
                      <a:pt x="83" y="122"/>
                    </a:lnTo>
                    <a:lnTo>
                      <a:pt x="61" y="122"/>
                    </a:lnTo>
                    <a:lnTo>
                      <a:pt x="44" y="121"/>
                    </a:lnTo>
                    <a:lnTo>
                      <a:pt x="30" y="120"/>
                    </a:lnTo>
                    <a:lnTo>
                      <a:pt x="19" y="117"/>
                    </a:lnTo>
                    <a:lnTo>
                      <a:pt x="11" y="115"/>
                    </a:lnTo>
                    <a:lnTo>
                      <a:pt x="5" y="112"/>
                    </a:lnTo>
                    <a:lnTo>
                      <a:pt x="2" y="110"/>
                    </a:lnTo>
                    <a:lnTo>
                      <a:pt x="1" y="109"/>
                    </a:lnTo>
                    <a:lnTo>
                      <a:pt x="0" y="108"/>
                    </a:lnTo>
                    <a:lnTo>
                      <a:pt x="0" y="96"/>
                    </a:lnTo>
                    <a:lnTo>
                      <a:pt x="2" y="88"/>
                    </a:lnTo>
                    <a:lnTo>
                      <a:pt x="3" y="78"/>
                    </a:lnTo>
                    <a:lnTo>
                      <a:pt x="5" y="67"/>
                    </a:lnTo>
                    <a:lnTo>
                      <a:pt x="9" y="56"/>
                    </a:lnTo>
                    <a:lnTo>
                      <a:pt x="15" y="44"/>
                    </a:lnTo>
                    <a:lnTo>
                      <a:pt x="22" y="33"/>
                    </a:lnTo>
                    <a:lnTo>
                      <a:pt x="31" y="23"/>
                    </a:lnTo>
                    <a:lnTo>
                      <a:pt x="42" y="14"/>
                    </a:lnTo>
                    <a:lnTo>
                      <a:pt x="56" y="7"/>
                    </a:lnTo>
                    <a:lnTo>
                      <a:pt x="72" y="2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Freeform 9">
                <a:extLst>
                  <a:ext uri="{FF2B5EF4-FFF2-40B4-BE49-F238E27FC236}">
                    <a16:creationId xmlns:a16="http://schemas.microsoft.com/office/drawing/2014/main" id="{D8CC0650-DBA8-8AF7-7708-C83382B28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6138" y="5441950"/>
                <a:ext cx="322263" cy="206375"/>
              </a:xfrm>
              <a:custGeom>
                <a:avLst/>
                <a:gdLst/>
                <a:ahLst/>
                <a:cxnLst>
                  <a:cxn ang="0">
                    <a:pos x="111" y="0"/>
                  </a:cxn>
                  <a:cxn ang="0">
                    <a:pos x="129" y="1"/>
                  </a:cxn>
                  <a:cxn ang="0">
                    <a:pos x="146" y="4"/>
                  </a:cxn>
                  <a:cxn ang="0">
                    <a:pos x="159" y="10"/>
                  </a:cxn>
                  <a:cxn ang="0">
                    <a:pos x="170" y="18"/>
                  </a:cxn>
                  <a:cxn ang="0">
                    <a:pos x="179" y="27"/>
                  </a:cxn>
                  <a:cxn ang="0">
                    <a:pos x="187" y="36"/>
                  </a:cxn>
                  <a:cxn ang="0">
                    <a:pos x="192" y="47"/>
                  </a:cxn>
                  <a:cxn ang="0">
                    <a:pos x="196" y="58"/>
                  </a:cxn>
                  <a:cxn ang="0">
                    <a:pos x="199" y="69"/>
                  </a:cxn>
                  <a:cxn ang="0">
                    <a:pos x="202" y="80"/>
                  </a:cxn>
                  <a:cxn ang="0">
                    <a:pos x="202" y="89"/>
                  </a:cxn>
                  <a:cxn ang="0">
                    <a:pos x="203" y="97"/>
                  </a:cxn>
                  <a:cxn ang="0">
                    <a:pos x="203" y="110"/>
                  </a:cxn>
                  <a:cxn ang="0">
                    <a:pos x="202" y="110"/>
                  </a:cxn>
                  <a:cxn ang="0">
                    <a:pos x="201" y="113"/>
                  </a:cxn>
                  <a:cxn ang="0">
                    <a:pos x="197" y="115"/>
                  </a:cxn>
                  <a:cxn ang="0">
                    <a:pos x="191" y="118"/>
                  </a:cxn>
                  <a:cxn ang="0">
                    <a:pos x="182" y="121"/>
                  </a:cxn>
                  <a:cxn ang="0">
                    <a:pos x="169" y="124"/>
                  </a:cxn>
                  <a:cxn ang="0">
                    <a:pos x="152" y="127"/>
                  </a:cxn>
                  <a:cxn ang="0">
                    <a:pos x="131" y="129"/>
                  </a:cxn>
                  <a:cxn ang="0">
                    <a:pos x="111" y="130"/>
                  </a:cxn>
                  <a:cxn ang="0">
                    <a:pos x="92" y="129"/>
                  </a:cxn>
                  <a:cxn ang="0">
                    <a:pos x="74" y="127"/>
                  </a:cxn>
                  <a:cxn ang="0">
                    <a:pos x="57" y="125"/>
                  </a:cxn>
                  <a:cxn ang="0">
                    <a:pos x="41" y="121"/>
                  </a:cxn>
                  <a:cxn ang="0">
                    <a:pos x="28" y="118"/>
                  </a:cxn>
                  <a:cxn ang="0">
                    <a:pos x="16" y="114"/>
                  </a:cxn>
                  <a:cxn ang="0">
                    <a:pos x="7" y="111"/>
                  </a:cxn>
                  <a:cxn ang="0">
                    <a:pos x="2" y="110"/>
                  </a:cxn>
                  <a:cxn ang="0">
                    <a:pos x="0" y="109"/>
                  </a:cxn>
                  <a:cxn ang="0">
                    <a:pos x="0" y="104"/>
                  </a:cxn>
                  <a:cxn ang="0">
                    <a:pos x="1" y="98"/>
                  </a:cxn>
                  <a:cxn ang="0">
                    <a:pos x="2" y="91"/>
                  </a:cxn>
                  <a:cxn ang="0">
                    <a:pos x="4" y="82"/>
                  </a:cxn>
                  <a:cxn ang="0">
                    <a:pos x="7" y="72"/>
                  </a:cxn>
                  <a:cxn ang="0">
                    <a:pos x="11" y="62"/>
                  </a:cxn>
                  <a:cxn ang="0">
                    <a:pos x="17" y="51"/>
                  </a:cxn>
                  <a:cxn ang="0">
                    <a:pos x="24" y="40"/>
                  </a:cxn>
                  <a:cxn ang="0">
                    <a:pos x="32" y="30"/>
                  </a:cxn>
                  <a:cxn ang="0">
                    <a:pos x="43" y="21"/>
                  </a:cxn>
                  <a:cxn ang="0">
                    <a:pos x="57" y="14"/>
                  </a:cxn>
                  <a:cxn ang="0">
                    <a:pos x="72" y="7"/>
                  </a:cxn>
                  <a:cxn ang="0">
                    <a:pos x="90" y="3"/>
                  </a:cxn>
                  <a:cxn ang="0">
                    <a:pos x="111" y="0"/>
                  </a:cxn>
                </a:cxnLst>
                <a:rect l="0" t="0" r="r" b="b"/>
                <a:pathLst>
                  <a:path w="203" h="130">
                    <a:moveTo>
                      <a:pt x="111" y="0"/>
                    </a:moveTo>
                    <a:lnTo>
                      <a:pt x="129" y="1"/>
                    </a:lnTo>
                    <a:lnTo>
                      <a:pt x="146" y="4"/>
                    </a:lnTo>
                    <a:lnTo>
                      <a:pt x="159" y="10"/>
                    </a:lnTo>
                    <a:lnTo>
                      <a:pt x="170" y="18"/>
                    </a:lnTo>
                    <a:lnTo>
                      <a:pt x="179" y="27"/>
                    </a:lnTo>
                    <a:lnTo>
                      <a:pt x="187" y="36"/>
                    </a:lnTo>
                    <a:lnTo>
                      <a:pt x="192" y="47"/>
                    </a:lnTo>
                    <a:lnTo>
                      <a:pt x="196" y="58"/>
                    </a:lnTo>
                    <a:lnTo>
                      <a:pt x="199" y="69"/>
                    </a:lnTo>
                    <a:lnTo>
                      <a:pt x="202" y="80"/>
                    </a:lnTo>
                    <a:lnTo>
                      <a:pt x="202" y="89"/>
                    </a:lnTo>
                    <a:lnTo>
                      <a:pt x="203" y="97"/>
                    </a:lnTo>
                    <a:lnTo>
                      <a:pt x="203" y="110"/>
                    </a:lnTo>
                    <a:lnTo>
                      <a:pt x="202" y="110"/>
                    </a:lnTo>
                    <a:lnTo>
                      <a:pt x="201" y="113"/>
                    </a:lnTo>
                    <a:lnTo>
                      <a:pt x="197" y="115"/>
                    </a:lnTo>
                    <a:lnTo>
                      <a:pt x="191" y="118"/>
                    </a:lnTo>
                    <a:lnTo>
                      <a:pt x="182" y="121"/>
                    </a:lnTo>
                    <a:lnTo>
                      <a:pt x="169" y="124"/>
                    </a:lnTo>
                    <a:lnTo>
                      <a:pt x="152" y="127"/>
                    </a:lnTo>
                    <a:lnTo>
                      <a:pt x="131" y="129"/>
                    </a:lnTo>
                    <a:lnTo>
                      <a:pt x="111" y="130"/>
                    </a:lnTo>
                    <a:lnTo>
                      <a:pt x="92" y="129"/>
                    </a:lnTo>
                    <a:lnTo>
                      <a:pt x="74" y="127"/>
                    </a:lnTo>
                    <a:lnTo>
                      <a:pt x="57" y="125"/>
                    </a:lnTo>
                    <a:lnTo>
                      <a:pt x="41" y="121"/>
                    </a:lnTo>
                    <a:lnTo>
                      <a:pt x="28" y="118"/>
                    </a:lnTo>
                    <a:lnTo>
                      <a:pt x="16" y="114"/>
                    </a:lnTo>
                    <a:lnTo>
                      <a:pt x="7" y="111"/>
                    </a:lnTo>
                    <a:lnTo>
                      <a:pt x="2" y="110"/>
                    </a:lnTo>
                    <a:lnTo>
                      <a:pt x="0" y="109"/>
                    </a:lnTo>
                    <a:lnTo>
                      <a:pt x="0" y="104"/>
                    </a:lnTo>
                    <a:lnTo>
                      <a:pt x="1" y="98"/>
                    </a:lnTo>
                    <a:lnTo>
                      <a:pt x="2" y="91"/>
                    </a:lnTo>
                    <a:lnTo>
                      <a:pt x="4" y="82"/>
                    </a:lnTo>
                    <a:lnTo>
                      <a:pt x="7" y="72"/>
                    </a:lnTo>
                    <a:lnTo>
                      <a:pt x="11" y="62"/>
                    </a:lnTo>
                    <a:lnTo>
                      <a:pt x="17" y="51"/>
                    </a:lnTo>
                    <a:lnTo>
                      <a:pt x="24" y="40"/>
                    </a:lnTo>
                    <a:lnTo>
                      <a:pt x="32" y="30"/>
                    </a:lnTo>
                    <a:lnTo>
                      <a:pt x="43" y="21"/>
                    </a:lnTo>
                    <a:lnTo>
                      <a:pt x="57" y="14"/>
                    </a:lnTo>
                    <a:lnTo>
                      <a:pt x="72" y="7"/>
                    </a:lnTo>
                    <a:lnTo>
                      <a:pt x="90" y="3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10">
                <a:extLst>
                  <a:ext uri="{FF2B5EF4-FFF2-40B4-BE49-F238E27FC236}">
                    <a16:creationId xmlns:a16="http://schemas.microsoft.com/office/drawing/2014/main" id="{3F5DF78E-E5AC-BB23-87DC-E3C2631828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2213" y="3940175"/>
                <a:ext cx="214313" cy="223838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135" y="50"/>
                  </a:cxn>
                  <a:cxn ang="0">
                    <a:pos x="134" y="53"/>
                  </a:cxn>
                  <a:cxn ang="0">
                    <a:pos x="132" y="58"/>
                  </a:cxn>
                  <a:cxn ang="0">
                    <a:pos x="128" y="67"/>
                  </a:cxn>
                  <a:cxn ang="0">
                    <a:pos x="116" y="90"/>
                  </a:cxn>
                  <a:cxn ang="0">
                    <a:pos x="108" y="103"/>
                  </a:cxn>
                  <a:cxn ang="0">
                    <a:pos x="99" y="116"/>
                  </a:cxn>
                  <a:cxn ang="0">
                    <a:pos x="89" y="127"/>
                  </a:cxn>
                  <a:cxn ang="0">
                    <a:pos x="80" y="135"/>
                  </a:cxn>
                  <a:cxn ang="0">
                    <a:pos x="69" y="139"/>
                  </a:cxn>
                  <a:cxn ang="0">
                    <a:pos x="57" y="141"/>
                  </a:cxn>
                  <a:cxn ang="0">
                    <a:pos x="45" y="141"/>
                  </a:cxn>
                  <a:cxn ang="0">
                    <a:pos x="34" y="138"/>
                  </a:cxn>
                  <a:cxn ang="0">
                    <a:pos x="24" y="136"/>
                  </a:cxn>
                  <a:cxn ang="0">
                    <a:pos x="17" y="133"/>
                  </a:cxn>
                  <a:cxn ang="0">
                    <a:pos x="11" y="130"/>
                  </a:cxn>
                  <a:cxn ang="0">
                    <a:pos x="7" y="126"/>
                  </a:cxn>
                  <a:cxn ang="0">
                    <a:pos x="3" y="121"/>
                  </a:cxn>
                  <a:cxn ang="0">
                    <a:pos x="1" y="116"/>
                  </a:cxn>
                  <a:cxn ang="0">
                    <a:pos x="0" y="109"/>
                  </a:cxn>
                  <a:cxn ang="0">
                    <a:pos x="1" y="100"/>
                  </a:cxn>
                  <a:cxn ang="0">
                    <a:pos x="3" y="90"/>
                  </a:cxn>
                  <a:cxn ang="0">
                    <a:pos x="9" y="77"/>
                  </a:cxn>
                  <a:cxn ang="0">
                    <a:pos x="15" y="63"/>
                  </a:cxn>
                  <a:cxn ang="0">
                    <a:pos x="22" y="49"/>
                  </a:cxn>
                  <a:cxn ang="0">
                    <a:pos x="28" y="36"/>
                  </a:cxn>
                  <a:cxn ang="0">
                    <a:pos x="33" y="24"/>
                  </a:cxn>
                  <a:cxn ang="0">
                    <a:pos x="37" y="15"/>
                  </a:cxn>
                  <a:cxn ang="0">
                    <a:pos x="40" y="7"/>
                  </a:cxn>
                  <a:cxn ang="0">
                    <a:pos x="43" y="1"/>
                  </a:cxn>
                  <a:cxn ang="0">
                    <a:pos x="43" y="0"/>
                  </a:cxn>
                </a:cxnLst>
                <a:rect l="0" t="0" r="r" b="b"/>
                <a:pathLst>
                  <a:path w="135" h="141">
                    <a:moveTo>
                      <a:pt x="43" y="0"/>
                    </a:moveTo>
                    <a:lnTo>
                      <a:pt x="135" y="50"/>
                    </a:lnTo>
                    <a:lnTo>
                      <a:pt x="134" y="53"/>
                    </a:lnTo>
                    <a:lnTo>
                      <a:pt x="132" y="58"/>
                    </a:lnTo>
                    <a:lnTo>
                      <a:pt x="128" y="67"/>
                    </a:lnTo>
                    <a:lnTo>
                      <a:pt x="116" y="90"/>
                    </a:lnTo>
                    <a:lnTo>
                      <a:pt x="108" y="103"/>
                    </a:lnTo>
                    <a:lnTo>
                      <a:pt x="99" y="116"/>
                    </a:lnTo>
                    <a:lnTo>
                      <a:pt x="89" y="127"/>
                    </a:lnTo>
                    <a:lnTo>
                      <a:pt x="80" y="135"/>
                    </a:lnTo>
                    <a:lnTo>
                      <a:pt x="69" y="139"/>
                    </a:lnTo>
                    <a:lnTo>
                      <a:pt x="57" y="141"/>
                    </a:lnTo>
                    <a:lnTo>
                      <a:pt x="45" y="141"/>
                    </a:lnTo>
                    <a:lnTo>
                      <a:pt x="34" y="138"/>
                    </a:lnTo>
                    <a:lnTo>
                      <a:pt x="24" y="136"/>
                    </a:lnTo>
                    <a:lnTo>
                      <a:pt x="17" y="133"/>
                    </a:lnTo>
                    <a:lnTo>
                      <a:pt x="11" y="130"/>
                    </a:lnTo>
                    <a:lnTo>
                      <a:pt x="7" y="126"/>
                    </a:lnTo>
                    <a:lnTo>
                      <a:pt x="3" y="121"/>
                    </a:lnTo>
                    <a:lnTo>
                      <a:pt x="1" y="116"/>
                    </a:lnTo>
                    <a:lnTo>
                      <a:pt x="0" y="109"/>
                    </a:lnTo>
                    <a:lnTo>
                      <a:pt x="1" y="100"/>
                    </a:lnTo>
                    <a:lnTo>
                      <a:pt x="3" y="90"/>
                    </a:lnTo>
                    <a:lnTo>
                      <a:pt x="9" y="77"/>
                    </a:lnTo>
                    <a:lnTo>
                      <a:pt x="15" y="63"/>
                    </a:lnTo>
                    <a:lnTo>
                      <a:pt x="22" y="49"/>
                    </a:lnTo>
                    <a:lnTo>
                      <a:pt x="28" y="36"/>
                    </a:lnTo>
                    <a:lnTo>
                      <a:pt x="33" y="24"/>
                    </a:lnTo>
                    <a:lnTo>
                      <a:pt x="37" y="15"/>
                    </a:lnTo>
                    <a:lnTo>
                      <a:pt x="40" y="7"/>
                    </a:lnTo>
                    <a:lnTo>
                      <a:pt x="43" y="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C97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7F2F282E-B01A-FCEC-B39A-9B9BBDD8FA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8576" y="3871913"/>
                <a:ext cx="220663" cy="179388"/>
              </a:xfrm>
              <a:custGeom>
                <a:avLst/>
                <a:gdLst/>
                <a:ahLst/>
                <a:cxnLst>
                  <a:cxn ang="0">
                    <a:pos x="91" y="0"/>
                  </a:cxn>
                  <a:cxn ang="0">
                    <a:pos x="95" y="4"/>
                  </a:cxn>
                  <a:cxn ang="0">
                    <a:pos x="100" y="10"/>
                  </a:cxn>
                  <a:cxn ang="0">
                    <a:pos x="113" y="24"/>
                  </a:cxn>
                  <a:cxn ang="0">
                    <a:pos x="119" y="32"/>
                  </a:cxn>
                  <a:cxn ang="0">
                    <a:pos x="125" y="39"/>
                  </a:cxn>
                  <a:cxn ang="0">
                    <a:pos x="130" y="45"/>
                  </a:cxn>
                  <a:cxn ang="0">
                    <a:pos x="133" y="50"/>
                  </a:cxn>
                  <a:cxn ang="0">
                    <a:pos x="138" y="58"/>
                  </a:cxn>
                  <a:cxn ang="0">
                    <a:pos x="139" y="62"/>
                  </a:cxn>
                  <a:cxn ang="0">
                    <a:pos x="139" y="68"/>
                  </a:cxn>
                  <a:cxn ang="0">
                    <a:pos x="138" y="71"/>
                  </a:cxn>
                  <a:cxn ang="0">
                    <a:pos x="134" y="79"/>
                  </a:cxn>
                  <a:cxn ang="0">
                    <a:pos x="129" y="85"/>
                  </a:cxn>
                  <a:cxn ang="0">
                    <a:pos x="122" y="92"/>
                  </a:cxn>
                  <a:cxn ang="0">
                    <a:pos x="114" y="98"/>
                  </a:cxn>
                  <a:cxn ang="0">
                    <a:pos x="105" y="103"/>
                  </a:cxn>
                  <a:cxn ang="0">
                    <a:pos x="97" y="108"/>
                  </a:cxn>
                  <a:cxn ang="0">
                    <a:pos x="90" y="112"/>
                  </a:cxn>
                  <a:cxn ang="0">
                    <a:pos x="85" y="113"/>
                  </a:cxn>
                  <a:cxn ang="0">
                    <a:pos x="72" y="111"/>
                  </a:cxn>
                  <a:cxn ang="0">
                    <a:pos x="58" y="105"/>
                  </a:cxn>
                  <a:cxn ang="0">
                    <a:pos x="46" y="97"/>
                  </a:cxn>
                  <a:cxn ang="0">
                    <a:pos x="36" y="87"/>
                  </a:cxn>
                  <a:cxn ang="0">
                    <a:pos x="24" y="73"/>
                  </a:cxn>
                  <a:cxn ang="0">
                    <a:pos x="15" y="60"/>
                  </a:cxn>
                  <a:cxn ang="0">
                    <a:pos x="9" y="50"/>
                  </a:cxn>
                  <a:cxn ang="0">
                    <a:pos x="5" y="40"/>
                  </a:cxn>
                  <a:cxn ang="0">
                    <a:pos x="2" y="30"/>
                  </a:cxn>
                  <a:cxn ang="0">
                    <a:pos x="0" y="22"/>
                  </a:cxn>
                  <a:cxn ang="0">
                    <a:pos x="91" y="0"/>
                  </a:cxn>
                </a:cxnLst>
                <a:rect l="0" t="0" r="r" b="b"/>
                <a:pathLst>
                  <a:path w="139" h="113">
                    <a:moveTo>
                      <a:pt x="91" y="0"/>
                    </a:moveTo>
                    <a:lnTo>
                      <a:pt x="95" y="4"/>
                    </a:lnTo>
                    <a:lnTo>
                      <a:pt x="100" y="10"/>
                    </a:lnTo>
                    <a:lnTo>
                      <a:pt x="113" y="24"/>
                    </a:lnTo>
                    <a:lnTo>
                      <a:pt x="119" y="32"/>
                    </a:lnTo>
                    <a:lnTo>
                      <a:pt x="125" y="39"/>
                    </a:lnTo>
                    <a:lnTo>
                      <a:pt x="130" y="45"/>
                    </a:lnTo>
                    <a:lnTo>
                      <a:pt x="133" y="50"/>
                    </a:lnTo>
                    <a:lnTo>
                      <a:pt x="138" y="58"/>
                    </a:lnTo>
                    <a:lnTo>
                      <a:pt x="139" y="62"/>
                    </a:lnTo>
                    <a:lnTo>
                      <a:pt x="139" y="68"/>
                    </a:lnTo>
                    <a:lnTo>
                      <a:pt x="138" y="71"/>
                    </a:lnTo>
                    <a:lnTo>
                      <a:pt x="134" y="79"/>
                    </a:lnTo>
                    <a:lnTo>
                      <a:pt x="129" y="85"/>
                    </a:lnTo>
                    <a:lnTo>
                      <a:pt x="122" y="92"/>
                    </a:lnTo>
                    <a:lnTo>
                      <a:pt x="114" y="98"/>
                    </a:lnTo>
                    <a:lnTo>
                      <a:pt x="105" y="103"/>
                    </a:lnTo>
                    <a:lnTo>
                      <a:pt x="97" y="108"/>
                    </a:lnTo>
                    <a:lnTo>
                      <a:pt x="90" y="112"/>
                    </a:lnTo>
                    <a:lnTo>
                      <a:pt x="85" y="113"/>
                    </a:lnTo>
                    <a:lnTo>
                      <a:pt x="72" y="111"/>
                    </a:lnTo>
                    <a:lnTo>
                      <a:pt x="58" y="105"/>
                    </a:lnTo>
                    <a:lnTo>
                      <a:pt x="46" y="97"/>
                    </a:lnTo>
                    <a:lnTo>
                      <a:pt x="36" y="87"/>
                    </a:lnTo>
                    <a:lnTo>
                      <a:pt x="24" y="73"/>
                    </a:lnTo>
                    <a:lnTo>
                      <a:pt x="15" y="60"/>
                    </a:lnTo>
                    <a:lnTo>
                      <a:pt x="9" y="50"/>
                    </a:lnTo>
                    <a:lnTo>
                      <a:pt x="5" y="40"/>
                    </a:lnTo>
                    <a:lnTo>
                      <a:pt x="2" y="30"/>
                    </a:lnTo>
                    <a:lnTo>
                      <a:pt x="0" y="22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rgbClr val="FFC97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12">
                <a:extLst>
                  <a:ext uri="{FF2B5EF4-FFF2-40B4-BE49-F238E27FC236}">
                    <a16:creationId xmlns:a16="http://schemas.microsoft.com/office/drawing/2014/main" id="{B6D79C84-652D-05D1-02D8-A52E592BE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551" y="3940175"/>
                <a:ext cx="180975" cy="157163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4" y="50"/>
                  </a:cxn>
                  <a:cxn ang="0">
                    <a:pos x="113" y="52"/>
                  </a:cxn>
                  <a:cxn ang="0">
                    <a:pos x="110" y="57"/>
                  </a:cxn>
                  <a:cxn ang="0">
                    <a:pos x="106" y="65"/>
                  </a:cxn>
                  <a:cxn ang="0">
                    <a:pos x="101" y="75"/>
                  </a:cxn>
                  <a:cxn ang="0">
                    <a:pos x="89" y="99"/>
                  </a:cxn>
                  <a:cxn ang="0">
                    <a:pos x="0" y="55"/>
                  </a:cxn>
                  <a:cxn ang="0">
                    <a:pos x="4" y="43"/>
                  </a:cxn>
                  <a:cxn ang="0">
                    <a:pos x="8" y="32"/>
                  </a:cxn>
                  <a:cxn ang="0">
                    <a:pos x="13" y="22"/>
                  </a:cxn>
                  <a:cxn ang="0">
                    <a:pos x="17" y="13"/>
                  </a:cxn>
                  <a:cxn ang="0">
                    <a:pos x="20" y="6"/>
                  </a:cxn>
                  <a:cxn ang="0">
                    <a:pos x="22" y="1"/>
                  </a:cxn>
                  <a:cxn ang="0">
                    <a:pos x="22" y="0"/>
                  </a:cxn>
                </a:cxnLst>
                <a:rect l="0" t="0" r="r" b="b"/>
                <a:pathLst>
                  <a:path w="114" h="99">
                    <a:moveTo>
                      <a:pt x="22" y="0"/>
                    </a:moveTo>
                    <a:lnTo>
                      <a:pt x="114" y="50"/>
                    </a:lnTo>
                    <a:lnTo>
                      <a:pt x="113" y="52"/>
                    </a:lnTo>
                    <a:lnTo>
                      <a:pt x="110" y="57"/>
                    </a:lnTo>
                    <a:lnTo>
                      <a:pt x="106" y="65"/>
                    </a:lnTo>
                    <a:lnTo>
                      <a:pt x="101" y="75"/>
                    </a:lnTo>
                    <a:lnTo>
                      <a:pt x="89" y="99"/>
                    </a:lnTo>
                    <a:lnTo>
                      <a:pt x="0" y="55"/>
                    </a:lnTo>
                    <a:lnTo>
                      <a:pt x="4" y="43"/>
                    </a:lnTo>
                    <a:lnTo>
                      <a:pt x="8" y="32"/>
                    </a:lnTo>
                    <a:lnTo>
                      <a:pt x="13" y="22"/>
                    </a:lnTo>
                    <a:lnTo>
                      <a:pt x="17" y="13"/>
                    </a:lnTo>
                    <a:lnTo>
                      <a:pt x="20" y="6"/>
                    </a:lnTo>
                    <a:lnTo>
                      <a:pt x="22" y="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97D3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Freeform 13">
                <a:extLst>
                  <a:ext uri="{FF2B5EF4-FFF2-40B4-BE49-F238E27FC236}">
                    <a16:creationId xmlns:a16="http://schemas.microsoft.com/office/drawing/2014/main" id="{CDE6E05E-68E8-0444-C910-3E0AF3869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2151" y="2795588"/>
                <a:ext cx="195263" cy="161925"/>
              </a:xfrm>
              <a:custGeom>
                <a:avLst/>
                <a:gdLst/>
                <a:ahLst/>
                <a:cxnLst>
                  <a:cxn ang="0">
                    <a:pos x="121" y="0"/>
                  </a:cxn>
                  <a:cxn ang="0">
                    <a:pos x="123" y="0"/>
                  </a:cxn>
                  <a:cxn ang="0">
                    <a:pos x="95" y="99"/>
                  </a:cxn>
                  <a:cxn ang="0">
                    <a:pos x="68" y="102"/>
                  </a:cxn>
                  <a:cxn ang="0">
                    <a:pos x="0" y="13"/>
                  </a:cxn>
                  <a:cxn ang="0">
                    <a:pos x="3" y="13"/>
                  </a:cxn>
                  <a:cxn ang="0">
                    <a:pos x="10" y="12"/>
                  </a:cxn>
                  <a:cxn ang="0">
                    <a:pos x="18" y="12"/>
                  </a:cxn>
                  <a:cxn ang="0">
                    <a:pos x="30" y="11"/>
                  </a:cxn>
                  <a:cxn ang="0">
                    <a:pos x="43" y="10"/>
                  </a:cxn>
                  <a:cxn ang="0">
                    <a:pos x="54" y="8"/>
                  </a:cxn>
                  <a:cxn ang="0">
                    <a:pos x="64" y="8"/>
                  </a:cxn>
                  <a:cxn ang="0">
                    <a:pos x="77" y="6"/>
                  </a:cxn>
                  <a:cxn ang="0">
                    <a:pos x="92" y="4"/>
                  </a:cxn>
                  <a:cxn ang="0">
                    <a:pos x="103" y="3"/>
                  </a:cxn>
                  <a:cxn ang="0">
                    <a:pos x="114" y="1"/>
                  </a:cxn>
                  <a:cxn ang="0">
                    <a:pos x="121" y="0"/>
                  </a:cxn>
                </a:cxnLst>
                <a:rect l="0" t="0" r="r" b="b"/>
                <a:pathLst>
                  <a:path w="123" h="102">
                    <a:moveTo>
                      <a:pt x="121" y="0"/>
                    </a:moveTo>
                    <a:lnTo>
                      <a:pt x="123" y="0"/>
                    </a:lnTo>
                    <a:lnTo>
                      <a:pt x="95" y="99"/>
                    </a:lnTo>
                    <a:lnTo>
                      <a:pt x="68" y="102"/>
                    </a:lnTo>
                    <a:lnTo>
                      <a:pt x="0" y="13"/>
                    </a:lnTo>
                    <a:lnTo>
                      <a:pt x="3" y="13"/>
                    </a:lnTo>
                    <a:lnTo>
                      <a:pt x="10" y="12"/>
                    </a:lnTo>
                    <a:lnTo>
                      <a:pt x="18" y="12"/>
                    </a:lnTo>
                    <a:lnTo>
                      <a:pt x="30" y="11"/>
                    </a:lnTo>
                    <a:lnTo>
                      <a:pt x="43" y="10"/>
                    </a:lnTo>
                    <a:lnTo>
                      <a:pt x="54" y="8"/>
                    </a:lnTo>
                    <a:lnTo>
                      <a:pt x="64" y="8"/>
                    </a:lnTo>
                    <a:lnTo>
                      <a:pt x="77" y="6"/>
                    </a:lnTo>
                    <a:lnTo>
                      <a:pt x="92" y="4"/>
                    </a:lnTo>
                    <a:lnTo>
                      <a:pt x="103" y="3"/>
                    </a:lnTo>
                    <a:lnTo>
                      <a:pt x="114" y="1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FF91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7" name="Freeform 14">
                <a:extLst>
                  <a:ext uri="{FF2B5EF4-FFF2-40B4-BE49-F238E27FC236}">
                    <a16:creationId xmlns:a16="http://schemas.microsoft.com/office/drawing/2014/main" id="{C6BB8F96-2C6A-8592-6B82-C1380FEDAC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5176" y="2925763"/>
                <a:ext cx="180975" cy="703263"/>
              </a:xfrm>
              <a:custGeom>
                <a:avLst/>
                <a:gdLst/>
                <a:ahLst/>
                <a:cxnLst>
                  <a:cxn ang="0">
                    <a:pos x="47" y="0"/>
                  </a:cxn>
                  <a:cxn ang="0">
                    <a:pos x="48" y="2"/>
                  </a:cxn>
                  <a:cxn ang="0">
                    <a:pos x="49" y="8"/>
                  </a:cxn>
                  <a:cxn ang="0">
                    <a:pos x="53" y="18"/>
                  </a:cxn>
                  <a:cxn ang="0">
                    <a:pos x="56" y="31"/>
                  </a:cxn>
                  <a:cxn ang="0">
                    <a:pos x="60" y="47"/>
                  </a:cxn>
                  <a:cxn ang="0">
                    <a:pos x="65" y="65"/>
                  </a:cxn>
                  <a:cxn ang="0">
                    <a:pos x="71" y="85"/>
                  </a:cxn>
                  <a:cxn ang="0">
                    <a:pos x="76" y="107"/>
                  </a:cxn>
                  <a:cxn ang="0">
                    <a:pos x="83" y="130"/>
                  </a:cxn>
                  <a:cxn ang="0">
                    <a:pos x="88" y="154"/>
                  </a:cxn>
                  <a:cxn ang="0">
                    <a:pos x="99" y="203"/>
                  </a:cxn>
                  <a:cxn ang="0">
                    <a:pos x="104" y="227"/>
                  </a:cxn>
                  <a:cxn ang="0">
                    <a:pos x="108" y="250"/>
                  </a:cxn>
                  <a:cxn ang="0">
                    <a:pos x="112" y="272"/>
                  </a:cxn>
                  <a:cxn ang="0">
                    <a:pos x="114" y="292"/>
                  </a:cxn>
                  <a:cxn ang="0">
                    <a:pos x="68" y="443"/>
                  </a:cxn>
                  <a:cxn ang="0">
                    <a:pos x="0" y="326"/>
                  </a:cxn>
                  <a:cxn ang="0">
                    <a:pos x="0" y="324"/>
                  </a:cxn>
                  <a:cxn ang="0">
                    <a:pos x="1" y="316"/>
                  </a:cxn>
                  <a:cxn ang="0">
                    <a:pos x="2" y="303"/>
                  </a:cxn>
                  <a:cxn ang="0">
                    <a:pos x="4" y="288"/>
                  </a:cxn>
                  <a:cxn ang="0">
                    <a:pos x="5" y="268"/>
                  </a:cxn>
                  <a:cxn ang="0">
                    <a:pos x="8" y="246"/>
                  </a:cxn>
                  <a:cxn ang="0">
                    <a:pos x="9" y="222"/>
                  </a:cxn>
                  <a:cxn ang="0">
                    <a:pos x="12" y="196"/>
                  </a:cxn>
                  <a:cxn ang="0">
                    <a:pos x="14" y="169"/>
                  </a:cxn>
                  <a:cxn ang="0">
                    <a:pos x="17" y="114"/>
                  </a:cxn>
                  <a:cxn ang="0">
                    <a:pos x="19" y="88"/>
                  </a:cxn>
                  <a:cxn ang="0">
                    <a:pos x="20" y="63"/>
                  </a:cxn>
                  <a:cxn ang="0">
                    <a:pos x="20" y="18"/>
                  </a:cxn>
                  <a:cxn ang="0">
                    <a:pos x="19" y="0"/>
                  </a:cxn>
                  <a:cxn ang="0">
                    <a:pos x="47" y="0"/>
                  </a:cxn>
                </a:cxnLst>
                <a:rect l="0" t="0" r="r" b="b"/>
                <a:pathLst>
                  <a:path w="114" h="443">
                    <a:moveTo>
                      <a:pt x="47" y="0"/>
                    </a:moveTo>
                    <a:lnTo>
                      <a:pt x="48" y="2"/>
                    </a:lnTo>
                    <a:lnTo>
                      <a:pt x="49" y="8"/>
                    </a:lnTo>
                    <a:lnTo>
                      <a:pt x="53" y="18"/>
                    </a:lnTo>
                    <a:lnTo>
                      <a:pt x="56" y="31"/>
                    </a:lnTo>
                    <a:lnTo>
                      <a:pt x="60" y="47"/>
                    </a:lnTo>
                    <a:lnTo>
                      <a:pt x="65" y="65"/>
                    </a:lnTo>
                    <a:lnTo>
                      <a:pt x="71" y="85"/>
                    </a:lnTo>
                    <a:lnTo>
                      <a:pt x="76" y="107"/>
                    </a:lnTo>
                    <a:lnTo>
                      <a:pt x="83" y="130"/>
                    </a:lnTo>
                    <a:lnTo>
                      <a:pt x="88" y="154"/>
                    </a:lnTo>
                    <a:lnTo>
                      <a:pt x="99" y="203"/>
                    </a:lnTo>
                    <a:lnTo>
                      <a:pt x="104" y="227"/>
                    </a:lnTo>
                    <a:lnTo>
                      <a:pt x="108" y="250"/>
                    </a:lnTo>
                    <a:lnTo>
                      <a:pt x="112" y="272"/>
                    </a:lnTo>
                    <a:lnTo>
                      <a:pt x="114" y="292"/>
                    </a:lnTo>
                    <a:lnTo>
                      <a:pt x="68" y="443"/>
                    </a:lnTo>
                    <a:lnTo>
                      <a:pt x="0" y="326"/>
                    </a:lnTo>
                    <a:lnTo>
                      <a:pt x="0" y="324"/>
                    </a:lnTo>
                    <a:lnTo>
                      <a:pt x="1" y="316"/>
                    </a:lnTo>
                    <a:lnTo>
                      <a:pt x="2" y="303"/>
                    </a:lnTo>
                    <a:lnTo>
                      <a:pt x="4" y="288"/>
                    </a:lnTo>
                    <a:lnTo>
                      <a:pt x="5" y="268"/>
                    </a:lnTo>
                    <a:lnTo>
                      <a:pt x="8" y="246"/>
                    </a:lnTo>
                    <a:lnTo>
                      <a:pt x="9" y="222"/>
                    </a:lnTo>
                    <a:lnTo>
                      <a:pt x="12" y="196"/>
                    </a:lnTo>
                    <a:lnTo>
                      <a:pt x="14" y="169"/>
                    </a:lnTo>
                    <a:lnTo>
                      <a:pt x="17" y="114"/>
                    </a:lnTo>
                    <a:lnTo>
                      <a:pt x="19" y="88"/>
                    </a:lnTo>
                    <a:lnTo>
                      <a:pt x="20" y="63"/>
                    </a:lnTo>
                    <a:lnTo>
                      <a:pt x="20" y="18"/>
                    </a:lnTo>
                    <a:lnTo>
                      <a:pt x="19" y="0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91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8" name="Freeform 15">
                <a:extLst>
                  <a:ext uri="{FF2B5EF4-FFF2-40B4-BE49-F238E27FC236}">
                    <a16:creationId xmlns:a16="http://schemas.microsoft.com/office/drawing/2014/main" id="{C9C99BD0-2554-F230-1E05-1F90F68C4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163" y="1524000"/>
                <a:ext cx="1011238" cy="1128713"/>
              </a:xfrm>
              <a:custGeom>
                <a:avLst/>
                <a:gdLst/>
                <a:ahLst/>
                <a:cxnLst>
                  <a:cxn ang="0">
                    <a:pos x="262" y="0"/>
                  </a:cxn>
                  <a:cxn ang="0">
                    <a:pos x="296" y="2"/>
                  </a:cxn>
                  <a:cxn ang="0">
                    <a:pos x="330" y="8"/>
                  </a:cxn>
                  <a:cxn ang="0">
                    <a:pos x="363" y="17"/>
                  </a:cxn>
                  <a:cxn ang="0">
                    <a:pos x="396" y="31"/>
                  </a:cxn>
                  <a:cxn ang="0">
                    <a:pos x="429" y="48"/>
                  </a:cxn>
                  <a:cxn ang="0">
                    <a:pos x="460" y="69"/>
                  </a:cxn>
                  <a:cxn ang="0">
                    <a:pos x="489" y="93"/>
                  </a:cxn>
                  <a:cxn ang="0">
                    <a:pos x="518" y="120"/>
                  </a:cxn>
                  <a:cxn ang="0">
                    <a:pos x="543" y="150"/>
                  </a:cxn>
                  <a:cxn ang="0">
                    <a:pos x="567" y="185"/>
                  </a:cxn>
                  <a:cxn ang="0">
                    <a:pos x="588" y="222"/>
                  </a:cxn>
                  <a:cxn ang="0">
                    <a:pos x="607" y="262"/>
                  </a:cxn>
                  <a:cxn ang="0">
                    <a:pos x="619" y="295"/>
                  </a:cxn>
                  <a:cxn ang="0">
                    <a:pos x="629" y="328"/>
                  </a:cxn>
                  <a:cxn ang="0">
                    <a:pos x="634" y="362"/>
                  </a:cxn>
                  <a:cxn ang="0">
                    <a:pos x="637" y="395"/>
                  </a:cxn>
                  <a:cxn ang="0">
                    <a:pos x="637" y="428"/>
                  </a:cxn>
                  <a:cxn ang="0">
                    <a:pos x="635" y="461"/>
                  </a:cxn>
                  <a:cxn ang="0">
                    <a:pos x="629" y="493"/>
                  </a:cxn>
                  <a:cxn ang="0">
                    <a:pos x="621" y="523"/>
                  </a:cxn>
                  <a:cxn ang="0">
                    <a:pos x="610" y="552"/>
                  </a:cxn>
                  <a:cxn ang="0">
                    <a:pos x="597" y="579"/>
                  </a:cxn>
                  <a:cxn ang="0">
                    <a:pos x="581" y="605"/>
                  </a:cxn>
                  <a:cxn ang="0">
                    <a:pos x="562" y="628"/>
                  </a:cxn>
                  <a:cxn ang="0">
                    <a:pos x="540" y="650"/>
                  </a:cxn>
                  <a:cxn ang="0">
                    <a:pos x="516" y="668"/>
                  </a:cxn>
                  <a:cxn ang="0">
                    <a:pos x="489" y="683"/>
                  </a:cxn>
                  <a:cxn ang="0">
                    <a:pos x="460" y="695"/>
                  </a:cxn>
                  <a:cxn ang="0">
                    <a:pos x="424" y="705"/>
                  </a:cxn>
                  <a:cxn ang="0">
                    <a:pos x="388" y="710"/>
                  </a:cxn>
                  <a:cxn ang="0">
                    <a:pos x="352" y="711"/>
                  </a:cxn>
                  <a:cxn ang="0">
                    <a:pos x="317" y="708"/>
                  </a:cxn>
                  <a:cxn ang="0">
                    <a:pos x="282" y="700"/>
                  </a:cxn>
                  <a:cxn ang="0">
                    <a:pos x="248" y="687"/>
                  </a:cxn>
                  <a:cxn ang="0">
                    <a:pos x="215" y="672"/>
                  </a:cxn>
                  <a:cxn ang="0">
                    <a:pos x="184" y="652"/>
                  </a:cxn>
                  <a:cxn ang="0">
                    <a:pos x="154" y="628"/>
                  </a:cxn>
                  <a:cxn ang="0">
                    <a:pos x="125" y="602"/>
                  </a:cxn>
                  <a:cxn ang="0">
                    <a:pos x="99" y="572"/>
                  </a:cxn>
                  <a:cxn ang="0">
                    <a:pos x="73" y="538"/>
                  </a:cxn>
                  <a:cxn ang="0">
                    <a:pos x="51" y="502"/>
                  </a:cxn>
                  <a:cxn ang="0">
                    <a:pos x="37" y="472"/>
                  </a:cxn>
                  <a:cxn ang="0">
                    <a:pos x="25" y="442"/>
                  </a:cxn>
                  <a:cxn ang="0">
                    <a:pos x="15" y="412"/>
                  </a:cxn>
                  <a:cxn ang="0">
                    <a:pos x="8" y="380"/>
                  </a:cxn>
                  <a:cxn ang="0">
                    <a:pos x="3" y="348"/>
                  </a:cxn>
                  <a:cxn ang="0">
                    <a:pos x="0" y="316"/>
                  </a:cxn>
                  <a:cxn ang="0">
                    <a:pos x="0" y="283"/>
                  </a:cxn>
                  <a:cxn ang="0">
                    <a:pos x="2" y="252"/>
                  </a:cxn>
                  <a:cxn ang="0">
                    <a:pos x="6" y="221"/>
                  </a:cxn>
                  <a:cxn ang="0">
                    <a:pos x="13" y="191"/>
                  </a:cxn>
                  <a:cxn ang="0">
                    <a:pos x="23" y="162"/>
                  </a:cxn>
                  <a:cxn ang="0">
                    <a:pos x="35" y="135"/>
                  </a:cxn>
                  <a:cxn ang="0">
                    <a:pos x="49" y="110"/>
                  </a:cxn>
                  <a:cxn ang="0">
                    <a:pos x="65" y="87"/>
                  </a:cxn>
                  <a:cxn ang="0">
                    <a:pos x="85" y="66"/>
                  </a:cxn>
                  <a:cxn ang="0">
                    <a:pos x="106" y="48"/>
                  </a:cxn>
                  <a:cxn ang="0">
                    <a:pos x="131" y="33"/>
                  </a:cxn>
                  <a:cxn ang="0">
                    <a:pos x="162" y="19"/>
                  </a:cxn>
                  <a:cxn ang="0">
                    <a:pos x="195" y="9"/>
                  </a:cxn>
                  <a:cxn ang="0">
                    <a:pos x="228" y="2"/>
                  </a:cxn>
                  <a:cxn ang="0">
                    <a:pos x="262" y="0"/>
                  </a:cxn>
                </a:cxnLst>
                <a:rect l="0" t="0" r="r" b="b"/>
                <a:pathLst>
                  <a:path w="637" h="711">
                    <a:moveTo>
                      <a:pt x="262" y="0"/>
                    </a:moveTo>
                    <a:lnTo>
                      <a:pt x="296" y="2"/>
                    </a:lnTo>
                    <a:lnTo>
                      <a:pt x="330" y="8"/>
                    </a:lnTo>
                    <a:lnTo>
                      <a:pt x="363" y="17"/>
                    </a:lnTo>
                    <a:lnTo>
                      <a:pt x="396" y="31"/>
                    </a:lnTo>
                    <a:lnTo>
                      <a:pt x="429" y="48"/>
                    </a:lnTo>
                    <a:lnTo>
                      <a:pt x="460" y="69"/>
                    </a:lnTo>
                    <a:lnTo>
                      <a:pt x="489" y="93"/>
                    </a:lnTo>
                    <a:lnTo>
                      <a:pt x="518" y="120"/>
                    </a:lnTo>
                    <a:lnTo>
                      <a:pt x="543" y="150"/>
                    </a:lnTo>
                    <a:lnTo>
                      <a:pt x="567" y="185"/>
                    </a:lnTo>
                    <a:lnTo>
                      <a:pt x="588" y="222"/>
                    </a:lnTo>
                    <a:lnTo>
                      <a:pt x="607" y="262"/>
                    </a:lnTo>
                    <a:lnTo>
                      <a:pt x="619" y="295"/>
                    </a:lnTo>
                    <a:lnTo>
                      <a:pt x="629" y="328"/>
                    </a:lnTo>
                    <a:lnTo>
                      <a:pt x="634" y="362"/>
                    </a:lnTo>
                    <a:lnTo>
                      <a:pt x="637" y="395"/>
                    </a:lnTo>
                    <a:lnTo>
                      <a:pt x="637" y="428"/>
                    </a:lnTo>
                    <a:lnTo>
                      <a:pt x="635" y="461"/>
                    </a:lnTo>
                    <a:lnTo>
                      <a:pt x="629" y="493"/>
                    </a:lnTo>
                    <a:lnTo>
                      <a:pt x="621" y="523"/>
                    </a:lnTo>
                    <a:lnTo>
                      <a:pt x="610" y="552"/>
                    </a:lnTo>
                    <a:lnTo>
                      <a:pt x="597" y="579"/>
                    </a:lnTo>
                    <a:lnTo>
                      <a:pt x="581" y="605"/>
                    </a:lnTo>
                    <a:lnTo>
                      <a:pt x="562" y="628"/>
                    </a:lnTo>
                    <a:lnTo>
                      <a:pt x="540" y="650"/>
                    </a:lnTo>
                    <a:lnTo>
                      <a:pt x="516" y="668"/>
                    </a:lnTo>
                    <a:lnTo>
                      <a:pt x="489" y="683"/>
                    </a:lnTo>
                    <a:lnTo>
                      <a:pt x="460" y="695"/>
                    </a:lnTo>
                    <a:lnTo>
                      <a:pt x="424" y="705"/>
                    </a:lnTo>
                    <a:lnTo>
                      <a:pt x="388" y="710"/>
                    </a:lnTo>
                    <a:lnTo>
                      <a:pt x="352" y="711"/>
                    </a:lnTo>
                    <a:lnTo>
                      <a:pt x="317" y="708"/>
                    </a:lnTo>
                    <a:lnTo>
                      <a:pt x="282" y="700"/>
                    </a:lnTo>
                    <a:lnTo>
                      <a:pt x="248" y="687"/>
                    </a:lnTo>
                    <a:lnTo>
                      <a:pt x="215" y="672"/>
                    </a:lnTo>
                    <a:lnTo>
                      <a:pt x="184" y="652"/>
                    </a:lnTo>
                    <a:lnTo>
                      <a:pt x="154" y="628"/>
                    </a:lnTo>
                    <a:lnTo>
                      <a:pt x="125" y="602"/>
                    </a:lnTo>
                    <a:lnTo>
                      <a:pt x="99" y="572"/>
                    </a:lnTo>
                    <a:lnTo>
                      <a:pt x="73" y="538"/>
                    </a:lnTo>
                    <a:lnTo>
                      <a:pt x="51" y="502"/>
                    </a:lnTo>
                    <a:lnTo>
                      <a:pt x="37" y="472"/>
                    </a:lnTo>
                    <a:lnTo>
                      <a:pt x="25" y="442"/>
                    </a:lnTo>
                    <a:lnTo>
                      <a:pt x="15" y="412"/>
                    </a:lnTo>
                    <a:lnTo>
                      <a:pt x="8" y="380"/>
                    </a:lnTo>
                    <a:lnTo>
                      <a:pt x="3" y="348"/>
                    </a:lnTo>
                    <a:lnTo>
                      <a:pt x="0" y="316"/>
                    </a:lnTo>
                    <a:lnTo>
                      <a:pt x="0" y="283"/>
                    </a:lnTo>
                    <a:lnTo>
                      <a:pt x="2" y="252"/>
                    </a:lnTo>
                    <a:lnTo>
                      <a:pt x="6" y="221"/>
                    </a:lnTo>
                    <a:lnTo>
                      <a:pt x="13" y="191"/>
                    </a:lnTo>
                    <a:lnTo>
                      <a:pt x="23" y="162"/>
                    </a:lnTo>
                    <a:lnTo>
                      <a:pt x="35" y="135"/>
                    </a:lnTo>
                    <a:lnTo>
                      <a:pt x="49" y="110"/>
                    </a:lnTo>
                    <a:lnTo>
                      <a:pt x="65" y="87"/>
                    </a:lnTo>
                    <a:lnTo>
                      <a:pt x="85" y="66"/>
                    </a:lnTo>
                    <a:lnTo>
                      <a:pt x="106" y="48"/>
                    </a:lnTo>
                    <a:lnTo>
                      <a:pt x="131" y="33"/>
                    </a:lnTo>
                    <a:lnTo>
                      <a:pt x="162" y="19"/>
                    </a:lnTo>
                    <a:lnTo>
                      <a:pt x="195" y="9"/>
                    </a:lnTo>
                    <a:lnTo>
                      <a:pt x="228" y="2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FFC97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9" name="Freeform 16">
                <a:extLst>
                  <a:ext uri="{FF2B5EF4-FFF2-40B4-BE49-F238E27FC236}">
                    <a16:creationId xmlns:a16="http://schemas.microsoft.com/office/drawing/2014/main" id="{F19A822F-9150-3CBB-B7B8-498F02AA3C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3838" y="1577975"/>
                <a:ext cx="912813" cy="1016000"/>
              </a:xfrm>
              <a:custGeom>
                <a:avLst/>
                <a:gdLst/>
                <a:ahLst/>
                <a:cxnLst>
                  <a:cxn ang="0">
                    <a:pos x="244" y="0"/>
                  </a:cxn>
                  <a:cxn ang="0">
                    <a:pos x="277" y="2"/>
                  </a:cxn>
                  <a:cxn ang="0">
                    <a:pos x="309" y="9"/>
                  </a:cxn>
                  <a:cxn ang="0">
                    <a:pos x="342" y="20"/>
                  </a:cxn>
                  <a:cxn ang="0">
                    <a:pos x="373" y="35"/>
                  </a:cxn>
                  <a:cxn ang="0">
                    <a:pos x="404" y="53"/>
                  </a:cxn>
                  <a:cxn ang="0">
                    <a:pos x="433" y="75"/>
                  </a:cxn>
                  <a:cxn ang="0">
                    <a:pos x="460" y="101"/>
                  </a:cxn>
                  <a:cxn ang="0">
                    <a:pos x="486" y="130"/>
                  </a:cxn>
                  <a:cxn ang="0">
                    <a:pos x="509" y="162"/>
                  </a:cxn>
                  <a:cxn ang="0">
                    <a:pos x="530" y="197"/>
                  </a:cxn>
                  <a:cxn ang="0">
                    <a:pos x="548" y="236"/>
                  </a:cxn>
                  <a:cxn ang="0">
                    <a:pos x="559" y="268"/>
                  </a:cxn>
                  <a:cxn ang="0">
                    <a:pos x="568" y="300"/>
                  </a:cxn>
                  <a:cxn ang="0">
                    <a:pos x="572" y="332"/>
                  </a:cxn>
                  <a:cxn ang="0">
                    <a:pos x="575" y="364"/>
                  </a:cxn>
                  <a:cxn ang="0">
                    <a:pos x="574" y="396"/>
                  </a:cxn>
                  <a:cxn ang="0">
                    <a:pos x="571" y="427"/>
                  </a:cxn>
                  <a:cxn ang="0">
                    <a:pos x="565" y="457"/>
                  </a:cxn>
                  <a:cxn ang="0">
                    <a:pos x="555" y="485"/>
                  </a:cxn>
                  <a:cxn ang="0">
                    <a:pos x="543" y="512"/>
                  </a:cxn>
                  <a:cxn ang="0">
                    <a:pos x="528" y="537"/>
                  </a:cxn>
                  <a:cxn ang="0">
                    <a:pos x="511" y="560"/>
                  </a:cxn>
                  <a:cxn ang="0">
                    <a:pos x="490" y="581"/>
                  </a:cxn>
                  <a:cxn ang="0">
                    <a:pos x="468" y="599"/>
                  </a:cxn>
                  <a:cxn ang="0">
                    <a:pos x="442" y="614"/>
                  </a:cxn>
                  <a:cxn ang="0">
                    <a:pos x="415" y="626"/>
                  </a:cxn>
                  <a:cxn ang="0">
                    <a:pos x="379" y="635"/>
                  </a:cxn>
                  <a:cxn ang="0">
                    <a:pos x="345" y="640"/>
                  </a:cxn>
                  <a:cxn ang="0">
                    <a:pos x="309" y="640"/>
                  </a:cxn>
                  <a:cxn ang="0">
                    <a:pos x="275" y="635"/>
                  </a:cxn>
                  <a:cxn ang="0">
                    <a:pos x="242" y="626"/>
                  </a:cxn>
                  <a:cxn ang="0">
                    <a:pos x="209" y="612"/>
                  </a:cxn>
                  <a:cxn ang="0">
                    <a:pos x="177" y="595"/>
                  </a:cxn>
                  <a:cxn ang="0">
                    <a:pos x="147" y="573"/>
                  </a:cxn>
                  <a:cxn ang="0">
                    <a:pos x="119" y="548"/>
                  </a:cxn>
                  <a:cxn ang="0">
                    <a:pos x="92" y="519"/>
                  </a:cxn>
                  <a:cxn ang="0">
                    <a:pos x="68" y="486"/>
                  </a:cxn>
                  <a:cxn ang="0">
                    <a:pos x="46" y="451"/>
                  </a:cxn>
                  <a:cxn ang="0">
                    <a:pos x="33" y="423"/>
                  </a:cxn>
                  <a:cxn ang="0">
                    <a:pos x="21" y="394"/>
                  </a:cxn>
                  <a:cxn ang="0">
                    <a:pos x="12" y="364"/>
                  </a:cxn>
                  <a:cxn ang="0">
                    <a:pos x="6" y="334"/>
                  </a:cxn>
                  <a:cxn ang="0">
                    <a:pos x="1" y="304"/>
                  </a:cxn>
                  <a:cxn ang="0">
                    <a:pos x="0" y="273"/>
                  </a:cxn>
                  <a:cxn ang="0">
                    <a:pos x="1" y="242"/>
                  </a:cxn>
                  <a:cxn ang="0">
                    <a:pos x="4" y="212"/>
                  </a:cxn>
                  <a:cxn ang="0">
                    <a:pos x="9" y="183"/>
                  </a:cxn>
                  <a:cxn ang="0">
                    <a:pos x="17" y="155"/>
                  </a:cxn>
                  <a:cxn ang="0">
                    <a:pos x="27" y="129"/>
                  </a:cxn>
                  <a:cxn ang="0">
                    <a:pos x="41" y="104"/>
                  </a:cxn>
                  <a:cxn ang="0">
                    <a:pos x="56" y="82"/>
                  </a:cxn>
                  <a:cxn ang="0">
                    <a:pos x="74" y="61"/>
                  </a:cxn>
                  <a:cxn ang="0">
                    <a:pos x="95" y="44"/>
                  </a:cxn>
                  <a:cxn ang="0">
                    <a:pos x="118" y="29"/>
                  </a:cxn>
                  <a:cxn ang="0">
                    <a:pos x="148" y="16"/>
                  </a:cxn>
                  <a:cxn ang="0">
                    <a:pos x="179" y="6"/>
                  </a:cxn>
                  <a:cxn ang="0">
                    <a:pos x="212" y="1"/>
                  </a:cxn>
                  <a:cxn ang="0">
                    <a:pos x="244" y="0"/>
                  </a:cxn>
                </a:cxnLst>
                <a:rect l="0" t="0" r="r" b="b"/>
                <a:pathLst>
                  <a:path w="575" h="640">
                    <a:moveTo>
                      <a:pt x="244" y="0"/>
                    </a:moveTo>
                    <a:lnTo>
                      <a:pt x="277" y="2"/>
                    </a:lnTo>
                    <a:lnTo>
                      <a:pt x="309" y="9"/>
                    </a:lnTo>
                    <a:lnTo>
                      <a:pt x="342" y="20"/>
                    </a:lnTo>
                    <a:lnTo>
                      <a:pt x="373" y="35"/>
                    </a:lnTo>
                    <a:lnTo>
                      <a:pt x="404" y="53"/>
                    </a:lnTo>
                    <a:lnTo>
                      <a:pt x="433" y="75"/>
                    </a:lnTo>
                    <a:lnTo>
                      <a:pt x="460" y="101"/>
                    </a:lnTo>
                    <a:lnTo>
                      <a:pt x="486" y="130"/>
                    </a:lnTo>
                    <a:lnTo>
                      <a:pt x="509" y="162"/>
                    </a:lnTo>
                    <a:lnTo>
                      <a:pt x="530" y="197"/>
                    </a:lnTo>
                    <a:lnTo>
                      <a:pt x="548" y="236"/>
                    </a:lnTo>
                    <a:lnTo>
                      <a:pt x="559" y="268"/>
                    </a:lnTo>
                    <a:lnTo>
                      <a:pt x="568" y="300"/>
                    </a:lnTo>
                    <a:lnTo>
                      <a:pt x="572" y="332"/>
                    </a:lnTo>
                    <a:lnTo>
                      <a:pt x="575" y="364"/>
                    </a:lnTo>
                    <a:lnTo>
                      <a:pt x="574" y="396"/>
                    </a:lnTo>
                    <a:lnTo>
                      <a:pt x="571" y="427"/>
                    </a:lnTo>
                    <a:lnTo>
                      <a:pt x="565" y="457"/>
                    </a:lnTo>
                    <a:lnTo>
                      <a:pt x="555" y="485"/>
                    </a:lnTo>
                    <a:lnTo>
                      <a:pt x="543" y="512"/>
                    </a:lnTo>
                    <a:lnTo>
                      <a:pt x="528" y="537"/>
                    </a:lnTo>
                    <a:lnTo>
                      <a:pt x="511" y="560"/>
                    </a:lnTo>
                    <a:lnTo>
                      <a:pt x="490" y="581"/>
                    </a:lnTo>
                    <a:lnTo>
                      <a:pt x="468" y="599"/>
                    </a:lnTo>
                    <a:lnTo>
                      <a:pt x="442" y="614"/>
                    </a:lnTo>
                    <a:lnTo>
                      <a:pt x="415" y="626"/>
                    </a:lnTo>
                    <a:lnTo>
                      <a:pt x="379" y="635"/>
                    </a:lnTo>
                    <a:lnTo>
                      <a:pt x="345" y="640"/>
                    </a:lnTo>
                    <a:lnTo>
                      <a:pt x="309" y="640"/>
                    </a:lnTo>
                    <a:lnTo>
                      <a:pt x="275" y="635"/>
                    </a:lnTo>
                    <a:lnTo>
                      <a:pt x="242" y="626"/>
                    </a:lnTo>
                    <a:lnTo>
                      <a:pt x="209" y="612"/>
                    </a:lnTo>
                    <a:lnTo>
                      <a:pt x="177" y="595"/>
                    </a:lnTo>
                    <a:lnTo>
                      <a:pt x="147" y="573"/>
                    </a:lnTo>
                    <a:lnTo>
                      <a:pt x="119" y="548"/>
                    </a:lnTo>
                    <a:lnTo>
                      <a:pt x="92" y="519"/>
                    </a:lnTo>
                    <a:lnTo>
                      <a:pt x="68" y="486"/>
                    </a:lnTo>
                    <a:lnTo>
                      <a:pt x="46" y="451"/>
                    </a:lnTo>
                    <a:lnTo>
                      <a:pt x="33" y="423"/>
                    </a:lnTo>
                    <a:lnTo>
                      <a:pt x="21" y="394"/>
                    </a:lnTo>
                    <a:lnTo>
                      <a:pt x="12" y="364"/>
                    </a:lnTo>
                    <a:lnTo>
                      <a:pt x="6" y="334"/>
                    </a:lnTo>
                    <a:lnTo>
                      <a:pt x="1" y="304"/>
                    </a:lnTo>
                    <a:lnTo>
                      <a:pt x="0" y="273"/>
                    </a:lnTo>
                    <a:lnTo>
                      <a:pt x="1" y="242"/>
                    </a:lnTo>
                    <a:lnTo>
                      <a:pt x="4" y="212"/>
                    </a:lnTo>
                    <a:lnTo>
                      <a:pt x="9" y="183"/>
                    </a:lnTo>
                    <a:lnTo>
                      <a:pt x="17" y="155"/>
                    </a:lnTo>
                    <a:lnTo>
                      <a:pt x="27" y="129"/>
                    </a:lnTo>
                    <a:lnTo>
                      <a:pt x="41" y="104"/>
                    </a:lnTo>
                    <a:lnTo>
                      <a:pt x="56" y="82"/>
                    </a:lnTo>
                    <a:lnTo>
                      <a:pt x="74" y="61"/>
                    </a:lnTo>
                    <a:lnTo>
                      <a:pt x="95" y="44"/>
                    </a:lnTo>
                    <a:lnTo>
                      <a:pt x="118" y="29"/>
                    </a:lnTo>
                    <a:lnTo>
                      <a:pt x="148" y="16"/>
                    </a:lnTo>
                    <a:lnTo>
                      <a:pt x="179" y="6"/>
                    </a:lnTo>
                    <a:lnTo>
                      <a:pt x="212" y="1"/>
                    </a:lnTo>
                    <a:lnTo>
                      <a:pt x="244" y="0"/>
                    </a:lnTo>
                    <a:close/>
                  </a:path>
                </a:pathLst>
              </a:custGeom>
              <a:solidFill>
                <a:srgbClr val="FED78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Freeform 17">
                <a:extLst>
                  <a:ext uri="{FF2B5EF4-FFF2-40B4-BE49-F238E27FC236}">
                    <a16:creationId xmlns:a16="http://schemas.microsoft.com/office/drawing/2014/main" id="{BE370B6F-C634-2A88-59A9-B9B34757F9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1326" y="4044950"/>
                <a:ext cx="665163" cy="158750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291" y="6"/>
                  </a:cxn>
                  <a:cxn ang="0">
                    <a:pos x="419" y="57"/>
                  </a:cxn>
                  <a:cxn ang="0">
                    <a:pos x="419" y="59"/>
                  </a:cxn>
                  <a:cxn ang="0">
                    <a:pos x="418" y="63"/>
                  </a:cxn>
                  <a:cxn ang="0">
                    <a:pos x="417" y="71"/>
                  </a:cxn>
                  <a:cxn ang="0">
                    <a:pos x="416" y="83"/>
                  </a:cxn>
                  <a:cxn ang="0">
                    <a:pos x="398" y="83"/>
                  </a:cxn>
                  <a:cxn ang="0">
                    <a:pos x="349" y="83"/>
                  </a:cxn>
                  <a:cxn ang="0">
                    <a:pos x="320" y="83"/>
                  </a:cxn>
                  <a:cxn ang="0">
                    <a:pos x="288" y="84"/>
                  </a:cxn>
                  <a:cxn ang="0">
                    <a:pos x="281" y="68"/>
                  </a:cxn>
                  <a:cxn ang="0">
                    <a:pos x="272" y="85"/>
                  </a:cxn>
                  <a:cxn ang="0">
                    <a:pos x="238" y="87"/>
                  </a:cxn>
                  <a:cxn ang="0">
                    <a:pos x="201" y="89"/>
                  </a:cxn>
                  <a:cxn ang="0">
                    <a:pos x="166" y="91"/>
                  </a:cxn>
                  <a:cxn ang="0">
                    <a:pos x="131" y="92"/>
                  </a:cxn>
                  <a:cxn ang="0">
                    <a:pos x="99" y="94"/>
                  </a:cxn>
                  <a:cxn ang="0">
                    <a:pos x="68" y="96"/>
                  </a:cxn>
                  <a:cxn ang="0">
                    <a:pos x="42" y="98"/>
                  </a:cxn>
                  <a:cxn ang="0">
                    <a:pos x="20" y="99"/>
                  </a:cxn>
                  <a:cxn ang="0">
                    <a:pos x="2" y="100"/>
                  </a:cxn>
                  <a:cxn ang="0">
                    <a:pos x="1" y="93"/>
                  </a:cxn>
                  <a:cxn ang="0">
                    <a:pos x="1" y="83"/>
                  </a:cxn>
                  <a:cxn ang="0">
                    <a:pos x="1" y="75"/>
                  </a:cxn>
                  <a:cxn ang="0">
                    <a:pos x="0" y="68"/>
                  </a:cxn>
                  <a:cxn ang="0">
                    <a:pos x="0" y="66"/>
                  </a:cxn>
                  <a:cxn ang="0">
                    <a:pos x="240" y="0"/>
                  </a:cxn>
                </a:cxnLst>
                <a:rect l="0" t="0" r="r" b="b"/>
                <a:pathLst>
                  <a:path w="419" h="100">
                    <a:moveTo>
                      <a:pt x="240" y="0"/>
                    </a:moveTo>
                    <a:lnTo>
                      <a:pt x="291" y="6"/>
                    </a:lnTo>
                    <a:lnTo>
                      <a:pt x="419" y="57"/>
                    </a:lnTo>
                    <a:lnTo>
                      <a:pt x="419" y="59"/>
                    </a:lnTo>
                    <a:lnTo>
                      <a:pt x="418" y="63"/>
                    </a:lnTo>
                    <a:lnTo>
                      <a:pt x="417" y="71"/>
                    </a:lnTo>
                    <a:lnTo>
                      <a:pt x="416" y="83"/>
                    </a:lnTo>
                    <a:lnTo>
                      <a:pt x="398" y="83"/>
                    </a:lnTo>
                    <a:lnTo>
                      <a:pt x="349" y="83"/>
                    </a:lnTo>
                    <a:lnTo>
                      <a:pt x="320" y="83"/>
                    </a:lnTo>
                    <a:lnTo>
                      <a:pt x="288" y="84"/>
                    </a:lnTo>
                    <a:lnTo>
                      <a:pt x="281" y="68"/>
                    </a:lnTo>
                    <a:lnTo>
                      <a:pt x="272" y="85"/>
                    </a:lnTo>
                    <a:lnTo>
                      <a:pt x="238" y="87"/>
                    </a:lnTo>
                    <a:lnTo>
                      <a:pt x="201" y="89"/>
                    </a:lnTo>
                    <a:lnTo>
                      <a:pt x="166" y="91"/>
                    </a:lnTo>
                    <a:lnTo>
                      <a:pt x="131" y="92"/>
                    </a:lnTo>
                    <a:lnTo>
                      <a:pt x="99" y="94"/>
                    </a:lnTo>
                    <a:lnTo>
                      <a:pt x="68" y="96"/>
                    </a:lnTo>
                    <a:lnTo>
                      <a:pt x="42" y="98"/>
                    </a:lnTo>
                    <a:lnTo>
                      <a:pt x="20" y="99"/>
                    </a:lnTo>
                    <a:lnTo>
                      <a:pt x="2" y="100"/>
                    </a:lnTo>
                    <a:lnTo>
                      <a:pt x="1" y="93"/>
                    </a:lnTo>
                    <a:lnTo>
                      <a:pt x="1" y="83"/>
                    </a:lnTo>
                    <a:lnTo>
                      <a:pt x="1" y="75"/>
                    </a:lnTo>
                    <a:lnTo>
                      <a:pt x="0" y="68"/>
                    </a:lnTo>
                    <a:lnTo>
                      <a:pt x="0" y="66"/>
                    </a:lnTo>
                    <a:lnTo>
                      <a:pt x="240" y="0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Freeform 18">
                <a:extLst>
                  <a:ext uri="{FF2B5EF4-FFF2-40B4-BE49-F238E27FC236}">
                    <a16:creationId xmlns:a16="http://schemas.microsoft.com/office/drawing/2014/main" id="{B00D160A-43EF-3BFB-621F-AC5D05FCD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163" y="1550988"/>
                <a:ext cx="857250" cy="823913"/>
              </a:xfrm>
              <a:custGeom>
                <a:avLst/>
                <a:gdLst/>
                <a:ahLst/>
                <a:cxnLst>
                  <a:cxn ang="0">
                    <a:pos x="293" y="3"/>
                  </a:cxn>
                  <a:cxn ang="0">
                    <a:pos x="361" y="19"/>
                  </a:cxn>
                  <a:cxn ang="0">
                    <a:pos x="426" y="52"/>
                  </a:cxn>
                  <a:cxn ang="0">
                    <a:pos x="487" y="100"/>
                  </a:cxn>
                  <a:cxn ang="0">
                    <a:pos x="540" y="161"/>
                  </a:cxn>
                  <a:cxn ang="0">
                    <a:pos x="525" y="200"/>
                  </a:cxn>
                  <a:cxn ang="0">
                    <a:pos x="501" y="238"/>
                  </a:cxn>
                  <a:cxn ang="0">
                    <a:pos x="468" y="272"/>
                  </a:cxn>
                  <a:cxn ang="0">
                    <a:pos x="426" y="298"/>
                  </a:cxn>
                  <a:cxn ang="0">
                    <a:pos x="374" y="314"/>
                  </a:cxn>
                  <a:cxn ang="0">
                    <a:pos x="303" y="319"/>
                  </a:cxn>
                  <a:cxn ang="0">
                    <a:pos x="243" y="314"/>
                  </a:cxn>
                  <a:cxn ang="0">
                    <a:pos x="194" y="303"/>
                  </a:cxn>
                  <a:cxn ang="0">
                    <a:pos x="154" y="288"/>
                  </a:cxn>
                  <a:cxn ang="0">
                    <a:pos x="127" y="273"/>
                  </a:cxn>
                  <a:cxn ang="0">
                    <a:pos x="106" y="259"/>
                  </a:cxn>
                  <a:cxn ang="0">
                    <a:pos x="115" y="292"/>
                  </a:cxn>
                  <a:cxn ang="0">
                    <a:pos x="125" y="357"/>
                  </a:cxn>
                  <a:cxn ang="0">
                    <a:pos x="123" y="412"/>
                  </a:cxn>
                  <a:cxn ang="0">
                    <a:pos x="113" y="458"/>
                  </a:cxn>
                  <a:cxn ang="0">
                    <a:pos x="95" y="494"/>
                  </a:cxn>
                  <a:cxn ang="0">
                    <a:pos x="73" y="519"/>
                  </a:cxn>
                  <a:cxn ang="0">
                    <a:pos x="34" y="450"/>
                  </a:cxn>
                  <a:cxn ang="0">
                    <a:pos x="10" y="375"/>
                  </a:cxn>
                  <a:cxn ang="0">
                    <a:pos x="0" y="297"/>
                  </a:cxn>
                  <a:cxn ang="0">
                    <a:pos x="4" y="221"/>
                  </a:cxn>
                  <a:cxn ang="0">
                    <a:pos x="21" y="157"/>
                  </a:cxn>
                  <a:cxn ang="0">
                    <a:pos x="47" y="107"/>
                  </a:cxn>
                  <a:cxn ang="0">
                    <a:pos x="81" y="66"/>
                  </a:cxn>
                  <a:cxn ang="0">
                    <a:pos x="125" y="33"/>
                  </a:cxn>
                  <a:cxn ang="0">
                    <a:pos x="191" y="8"/>
                  </a:cxn>
                  <a:cxn ang="0">
                    <a:pos x="258" y="0"/>
                  </a:cxn>
                </a:cxnLst>
                <a:rect l="0" t="0" r="r" b="b"/>
                <a:pathLst>
                  <a:path w="540" h="519">
                    <a:moveTo>
                      <a:pt x="258" y="0"/>
                    </a:moveTo>
                    <a:lnTo>
                      <a:pt x="293" y="3"/>
                    </a:lnTo>
                    <a:lnTo>
                      <a:pt x="327" y="9"/>
                    </a:lnTo>
                    <a:lnTo>
                      <a:pt x="361" y="19"/>
                    </a:lnTo>
                    <a:lnTo>
                      <a:pt x="394" y="34"/>
                    </a:lnTo>
                    <a:lnTo>
                      <a:pt x="426" y="52"/>
                    </a:lnTo>
                    <a:lnTo>
                      <a:pt x="457" y="74"/>
                    </a:lnTo>
                    <a:lnTo>
                      <a:pt x="487" y="100"/>
                    </a:lnTo>
                    <a:lnTo>
                      <a:pt x="514" y="129"/>
                    </a:lnTo>
                    <a:lnTo>
                      <a:pt x="540" y="161"/>
                    </a:lnTo>
                    <a:lnTo>
                      <a:pt x="533" y="181"/>
                    </a:lnTo>
                    <a:lnTo>
                      <a:pt x="525" y="200"/>
                    </a:lnTo>
                    <a:lnTo>
                      <a:pt x="514" y="219"/>
                    </a:lnTo>
                    <a:lnTo>
                      <a:pt x="501" y="238"/>
                    </a:lnTo>
                    <a:lnTo>
                      <a:pt x="486" y="255"/>
                    </a:lnTo>
                    <a:lnTo>
                      <a:pt x="468" y="272"/>
                    </a:lnTo>
                    <a:lnTo>
                      <a:pt x="448" y="286"/>
                    </a:lnTo>
                    <a:lnTo>
                      <a:pt x="426" y="298"/>
                    </a:lnTo>
                    <a:lnTo>
                      <a:pt x="402" y="307"/>
                    </a:lnTo>
                    <a:lnTo>
                      <a:pt x="374" y="314"/>
                    </a:lnTo>
                    <a:lnTo>
                      <a:pt x="337" y="318"/>
                    </a:lnTo>
                    <a:lnTo>
                      <a:pt x="303" y="319"/>
                    </a:lnTo>
                    <a:lnTo>
                      <a:pt x="272" y="318"/>
                    </a:lnTo>
                    <a:lnTo>
                      <a:pt x="243" y="314"/>
                    </a:lnTo>
                    <a:lnTo>
                      <a:pt x="217" y="309"/>
                    </a:lnTo>
                    <a:lnTo>
                      <a:pt x="194" y="303"/>
                    </a:lnTo>
                    <a:lnTo>
                      <a:pt x="173" y="296"/>
                    </a:lnTo>
                    <a:lnTo>
                      <a:pt x="154" y="288"/>
                    </a:lnTo>
                    <a:lnTo>
                      <a:pt x="139" y="280"/>
                    </a:lnTo>
                    <a:lnTo>
                      <a:pt x="127" y="273"/>
                    </a:lnTo>
                    <a:lnTo>
                      <a:pt x="110" y="262"/>
                    </a:lnTo>
                    <a:lnTo>
                      <a:pt x="106" y="259"/>
                    </a:lnTo>
                    <a:lnTo>
                      <a:pt x="105" y="257"/>
                    </a:lnTo>
                    <a:lnTo>
                      <a:pt x="115" y="292"/>
                    </a:lnTo>
                    <a:lnTo>
                      <a:pt x="121" y="325"/>
                    </a:lnTo>
                    <a:lnTo>
                      <a:pt x="125" y="357"/>
                    </a:lnTo>
                    <a:lnTo>
                      <a:pt x="125" y="385"/>
                    </a:lnTo>
                    <a:lnTo>
                      <a:pt x="123" y="412"/>
                    </a:lnTo>
                    <a:lnTo>
                      <a:pt x="119" y="437"/>
                    </a:lnTo>
                    <a:lnTo>
                      <a:pt x="113" y="458"/>
                    </a:lnTo>
                    <a:lnTo>
                      <a:pt x="104" y="477"/>
                    </a:lnTo>
                    <a:lnTo>
                      <a:pt x="95" y="494"/>
                    </a:lnTo>
                    <a:lnTo>
                      <a:pt x="84" y="507"/>
                    </a:lnTo>
                    <a:lnTo>
                      <a:pt x="73" y="519"/>
                    </a:lnTo>
                    <a:lnTo>
                      <a:pt x="51" y="485"/>
                    </a:lnTo>
                    <a:lnTo>
                      <a:pt x="34" y="450"/>
                    </a:lnTo>
                    <a:lnTo>
                      <a:pt x="21" y="413"/>
                    </a:lnTo>
                    <a:lnTo>
                      <a:pt x="10" y="375"/>
                    </a:lnTo>
                    <a:lnTo>
                      <a:pt x="4" y="337"/>
                    </a:lnTo>
                    <a:lnTo>
                      <a:pt x="0" y="297"/>
                    </a:lnTo>
                    <a:lnTo>
                      <a:pt x="0" y="259"/>
                    </a:lnTo>
                    <a:lnTo>
                      <a:pt x="4" y="221"/>
                    </a:lnTo>
                    <a:lnTo>
                      <a:pt x="11" y="184"/>
                    </a:lnTo>
                    <a:lnTo>
                      <a:pt x="21" y="157"/>
                    </a:lnTo>
                    <a:lnTo>
                      <a:pt x="32" y="131"/>
                    </a:lnTo>
                    <a:lnTo>
                      <a:pt x="47" y="107"/>
                    </a:lnTo>
                    <a:lnTo>
                      <a:pt x="63" y="85"/>
                    </a:lnTo>
                    <a:lnTo>
                      <a:pt x="81" y="66"/>
                    </a:lnTo>
                    <a:lnTo>
                      <a:pt x="102" y="48"/>
                    </a:lnTo>
                    <a:lnTo>
                      <a:pt x="125" y="33"/>
                    </a:lnTo>
                    <a:lnTo>
                      <a:pt x="158" y="18"/>
                    </a:lnTo>
                    <a:lnTo>
                      <a:pt x="191" y="8"/>
                    </a:lnTo>
                    <a:lnTo>
                      <a:pt x="225" y="3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rgbClr val="F97D3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2" name="Freeform 19">
                <a:extLst>
                  <a:ext uri="{FF2B5EF4-FFF2-40B4-BE49-F238E27FC236}">
                    <a16:creationId xmlns:a16="http://schemas.microsoft.com/office/drawing/2014/main" id="{B7706B3C-A11B-EF4A-5010-D8A80C7746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8576" y="3871913"/>
                <a:ext cx="174625" cy="104775"/>
              </a:xfrm>
              <a:custGeom>
                <a:avLst/>
                <a:gdLst/>
                <a:ahLst/>
                <a:cxnLst>
                  <a:cxn ang="0">
                    <a:pos x="91" y="0"/>
                  </a:cxn>
                  <a:cxn ang="0">
                    <a:pos x="95" y="4"/>
                  </a:cxn>
                  <a:cxn ang="0">
                    <a:pos x="99" y="8"/>
                  </a:cxn>
                  <a:cxn ang="0">
                    <a:pos x="104" y="14"/>
                  </a:cxn>
                  <a:cxn ang="0">
                    <a:pos x="110" y="20"/>
                  </a:cxn>
                  <a:cxn ang="0">
                    <a:pos x="18" y="66"/>
                  </a:cxn>
                  <a:cxn ang="0">
                    <a:pos x="10" y="53"/>
                  </a:cxn>
                  <a:cxn ang="0">
                    <a:pos x="6" y="41"/>
                  </a:cxn>
                  <a:cxn ang="0">
                    <a:pos x="2" y="31"/>
                  </a:cxn>
                  <a:cxn ang="0">
                    <a:pos x="0" y="22"/>
                  </a:cxn>
                  <a:cxn ang="0">
                    <a:pos x="91" y="0"/>
                  </a:cxn>
                </a:cxnLst>
                <a:rect l="0" t="0" r="r" b="b"/>
                <a:pathLst>
                  <a:path w="110" h="66">
                    <a:moveTo>
                      <a:pt x="91" y="0"/>
                    </a:moveTo>
                    <a:lnTo>
                      <a:pt x="95" y="4"/>
                    </a:lnTo>
                    <a:lnTo>
                      <a:pt x="99" y="8"/>
                    </a:lnTo>
                    <a:lnTo>
                      <a:pt x="104" y="14"/>
                    </a:lnTo>
                    <a:lnTo>
                      <a:pt x="110" y="20"/>
                    </a:lnTo>
                    <a:lnTo>
                      <a:pt x="18" y="66"/>
                    </a:lnTo>
                    <a:lnTo>
                      <a:pt x="10" y="53"/>
                    </a:lnTo>
                    <a:lnTo>
                      <a:pt x="6" y="41"/>
                    </a:lnTo>
                    <a:lnTo>
                      <a:pt x="2" y="31"/>
                    </a:lnTo>
                    <a:lnTo>
                      <a:pt x="0" y="22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rgbClr val="F97D3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3" name="Freeform 20">
                <a:extLst>
                  <a:ext uri="{FF2B5EF4-FFF2-40B4-BE49-F238E27FC236}">
                    <a16:creationId xmlns:a16="http://schemas.microsoft.com/office/drawing/2014/main" id="{A6BF4BE4-0A4B-D312-488E-C77ADD48A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851" y="2814638"/>
                <a:ext cx="963613" cy="1344613"/>
              </a:xfrm>
              <a:custGeom>
                <a:avLst/>
                <a:gdLst/>
                <a:ahLst/>
                <a:cxnLst>
                  <a:cxn ang="0">
                    <a:pos x="219" y="3"/>
                  </a:cxn>
                  <a:cxn ang="0">
                    <a:pos x="257" y="7"/>
                  </a:cxn>
                  <a:cxn ang="0">
                    <a:pos x="356" y="7"/>
                  </a:cxn>
                  <a:cxn ang="0">
                    <a:pos x="383" y="7"/>
                  </a:cxn>
                  <a:cxn ang="0">
                    <a:pos x="393" y="6"/>
                  </a:cxn>
                  <a:cxn ang="0">
                    <a:pos x="411" y="79"/>
                  </a:cxn>
                  <a:cxn ang="0">
                    <a:pos x="433" y="152"/>
                  </a:cxn>
                  <a:cxn ang="0">
                    <a:pos x="471" y="258"/>
                  </a:cxn>
                  <a:cxn ang="0">
                    <a:pos x="498" y="324"/>
                  </a:cxn>
                  <a:cxn ang="0">
                    <a:pos x="524" y="385"/>
                  </a:cxn>
                  <a:cxn ang="0">
                    <a:pos x="549" y="438"/>
                  </a:cxn>
                  <a:cxn ang="0">
                    <a:pos x="571" y="482"/>
                  </a:cxn>
                  <a:cxn ang="0">
                    <a:pos x="588" y="515"/>
                  </a:cxn>
                  <a:cxn ang="0">
                    <a:pos x="599" y="536"/>
                  </a:cxn>
                  <a:cxn ang="0">
                    <a:pos x="607" y="783"/>
                  </a:cxn>
                  <a:cxn ang="0">
                    <a:pos x="275" y="847"/>
                  </a:cxn>
                  <a:cxn ang="0">
                    <a:pos x="281" y="762"/>
                  </a:cxn>
                  <a:cxn ang="0">
                    <a:pos x="282" y="638"/>
                  </a:cxn>
                  <a:cxn ang="0">
                    <a:pos x="280" y="562"/>
                  </a:cxn>
                  <a:cxn ang="0">
                    <a:pos x="277" y="493"/>
                  </a:cxn>
                  <a:cxn ang="0">
                    <a:pos x="272" y="436"/>
                  </a:cxn>
                  <a:cxn ang="0">
                    <a:pos x="268" y="391"/>
                  </a:cxn>
                  <a:cxn ang="0">
                    <a:pos x="265" y="362"/>
                  </a:cxn>
                  <a:cxn ang="0">
                    <a:pos x="263" y="352"/>
                  </a:cxn>
                  <a:cxn ang="0">
                    <a:pos x="252" y="421"/>
                  </a:cxn>
                  <a:cxn ang="0">
                    <a:pos x="241" y="476"/>
                  </a:cxn>
                  <a:cxn ang="0">
                    <a:pos x="229" y="526"/>
                  </a:cxn>
                  <a:cxn ang="0">
                    <a:pos x="211" y="597"/>
                  </a:cxn>
                  <a:cxn ang="0">
                    <a:pos x="203" y="622"/>
                  </a:cxn>
                  <a:cxn ang="0">
                    <a:pos x="195" y="644"/>
                  </a:cxn>
                  <a:cxn ang="0">
                    <a:pos x="185" y="663"/>
                  </a:cxn>
                  <a:cxn ang="0">
                    <a:pos x="174" y="686"/>
                  </a:cxn>
                  <a:cxn ang="0">
                    <a:pos x="151" y="732"/>
                  </a:cxn>
                  <a:cxn ang="0">
                    <a:pos x="130" y="777"/>
                  </a:cxn>
                  <a:cxn ang="0">
                    <a:pos x="0" y="744"/>
                  </a:cxn>
                  <a:cxn ang="0">
                    <a:pos x="19" y="702"/>
                  </a:cxn>
                  <a:cxn ang="0">
                    <a:pos x="56" y="607"/>
                  </a:cxn>
                  <a:cxn ang="0">
                    <a:pos x="73" y="562"/>
                  </a:cxn>
                  <a:cxn ang="0">
                    <a:pos x="87" y="524"/>
                  </a:cxn>
                  <a:cxn ang="0">
                    <a:pos x="97" y="496"/>
                  </a:cxn>
                  <a:cxn ang="0">
                    <a:pos x="100" y="481"/>
                  </a:cxn>
                  <a:cxn ang="0">
                    <a:pos x="124" y="374"/>
                  </a:cxn>
                  <a:cxn ang="0">
                    <a:pos x="148" y="273"/>
                  </a:cxn>
                  <a:cxn ang="0">
                    <a:pos x="163" y="183"/>
                  </a:cxn>
                  <a:cxn ang="0">
                    <a:pos x="176" y="115"/>
                  </a:cxn>
                  <a:cxn ang="0">
                    <a:pos x="187" y="66"/>
                  </a:cxn>
                  <a:cxn ang="0">
                    <a:pos x="195" y="31"/>
                  </a:cxn>
                  <a:cxn ang="0">
                    <a:pos x="201" y="11"/>
                  </a:cxn>
                  <a:cxn ang="0">
                    <a:pos x="204" y="1"/>
                  </a:cxn>
                </a:cxnLst>
                <a:rect l="0" t="0" r="r" b="b"/>
                <a:pathLst>
                  <a:path w="607" h="847">
                    <a:moveTo>
                      <a:pt x="204" y="0"/>
                    </a:moveTo>
                    <a:lnTo>
                      <a:pt x="219" y="3"/>
                    </a:lnTo>
                    <a:lnTo>
                      <a:pt x="237" y="5"/>
                    </a:lnTo>
                    <a:lnTo>
                      <a:pt x="257" y="7"/>
                    </a:lnTo>
                    <a:lnTo>
                      <a:pt x="278" y="7"/>
                    </a:lnTo>
                    <a:lnTo>
                      <a:pt x="356" y="7"/>
                    </a:lnTo>
                    <a:lnTo>
                      <a:pt x="371" y="7"/>
                    </a:lnTo>
                    <a:lnTo>
                      <a:pt x="383" y="7"/>
                    </a:lnTo>
                    <a:lnTo>
                      <a:pt x="391" y="6"/>
                    </a:lnTo>
                    <a:lnTo>
                      <a:pt x="393" y="6"/>
                    </a:lnTo>
                    <a:lnTo>
                      <a:pt x="401" y="42"/>
                    </a:lnTo>
                    <a:lnTo>
                      <a:pt x="411" y="79"/>
                    </a:lnTo>
                    <a:lnTo>
                      <a:pt x="422" y="115"/>
                    </a:lnTo>
                    <a:lnTo>
                      <a:pt x="433" y="152"/>
                    </a:lnTo>
                    <a:lnTo>
                      <a:pt x="458" y="223"/>
                    </a:lnTo>
                    <a:lnTo>
                      <a:pt x="471" y="258"/>
                    </a:lnTo>
                    <a:lnTo>
                      <a:pt x="485" y="292"/>
                    </a:lnTo>
                    <a:lnTo>
                      <a:pt x="498" y="324"/>
                    </a:lnTo>
                    <a:lnTo>
                      <a:pt x="512" y="355"/>
                    </a:lnTo>
                    <a:lnTo>
                      <a:pt x="524" y="385"/>
                    </a:lnTo>
                    <a:lnTo>
                      <a:pt x="537" y="412"/>
                    </a:lnTo>
                    <a:lnTo>
                      <a:pt x="549" y="438"/>
                    </a:lnTo>
                    <a:lnTo>
                      <a:pt x="560" y="461"/>
                    </a:lnTo>
                    <a:lnTo>
                      <a:pt x="571" y="482"/>
                    </a:lnTo>
                    <a:lnTo>
                      <a:pt x="580" y="500"/>
                    </a:lnTo>
                    <a:lnTo>
                      <a:pt x="588" y="515"/>
                    </a:lnTo>
                    <a:lnTo>
                      <a:pt x="594" y="528"/>
                    </a:lnTo>
                    <a:lnTo>
                      <a:pt x="599" y="536"/>
                    </a:lnTo>
                    <a:lnTo>
                      <a:pt x="603" y="544"/>
                    </a:lnTo>
                    <a:lnTo>
                      <a:pt x="607" y="783"/>
                    </a:lnTo>
                    <a:lnTo>
                      <a:pt x="576" y="843"/>
                    </a:lnTo>
                    <a:lnTo>
                      <a:pt x="275" y="847"/>
                    </a:lnTo>
                    <a:lnTo>
                      <a:pt x="278" y="805"/>
                    </a:lnTo>
                    <a:lnTo>
                      <a:pt x="281" y="762"/>
                    </a:lnTo>
                    <a:lnTo>
                      <a:pt x="282" y="720"/>
                    </a:lnTo>
                    <a:lnTo>
                      <a:pt x="282" y="638"/>
                    </a:lnTo>
                    <a:lnTo>
                      <a:pt x="282" y="599"/>
                    </a:lnTo>
                    <a:lnTo>
                      <a:pt x="280" y="562"/>
                    </a:lnTo>
                    <a:lnTo>
                      <a:pt x="278" y="526"/>
                    </a:lnTo>
                    <a:lnTo>
                      <a:pt x="277" y="493"/>
                    </a:lnTo>
                    <a:lnTo>
                      <a:pt x="274" y="462"/>
                    </a:lnTo>
                    <a:lnTo>
                      <a:pt x="272" y="436"/>
                    </a:lnTo>
                    <a:lnTo>
                      <a:pt x="270" y="411"/>
                    </a:lnTo>
                    <a:lnTo>
                      <a:pt x="268" y="391"/>
                    </a:lnTo>
                    <a:lnTo>
                      <a:pt x="266" y="374"/>
                    </a:lnTo>
                    <a:lnTo>
                      <a:pt x="265" y="362"/>
                    </a:lnTo>
                    <a:lnTo>
                      <a:pt x="263" y="355"/>
                    </a:lnTo>
                    <a:lnTo>
                      <a:pt x="263" y="352"/>
                    </a:lnTo>
                    <a:lnTo>
                      <a:pt x="258" y="388"/>
                    </a:lnTo>
                    <a:lnTo>
                      <a:pt x="252" y="421"/>
                    </a:lnTo>
                    <a:lnTo>
                      <a:pt x="246" y="449"/>
                    </a:lnTo>
                    <a:lnTo>
                      <a:pt x="241" y="476"/>
                    </a:lnTo>
                    <a:lnTo>
                      <a:pt x="235" y="501"/>
                    </a:lnTo>
                    <a:lnTo>
                      <a:pt x="229" y="526"/>
                    </a:lnTo>
                    <a:lnTo>
                      <a:pt x="222" y="553"/>
                    </a:lnTo>
                    <a:lnTo>
                      <a:pt x="211" y="597"/>
                    </a:lnTo>
                    <a:lnTo>
                      <a:pt x="207" y="610"/>
                    </a:lnTo>
                    <a:lnTo>
                      <a:pt x="203" y="622"/>
                    </a:lnTo>
                    <a:lnTo>
                      <a:pt x="199" y="633"/>
                    </a:lnTo>
                    <a:lnTo>
                      <a:pt x="195" y="644"/>
                    </a:lnTo>
                    <a:lnTo>
                      <a:pt x="190" y="653"/>
                    </a:lnTo>
                    <a:lnTo>
                      <a:pt x="185" y="663"/>
                    </a:lnTo>
                    <a:lnTo>
                      <a:pt x="180" y="674"/>
                    </a:lnTo>
                    <a:lnTo>
                      <a:pt x="174" y="686"/>
                    </a:lnTo>
                    <a:lnTo>
                      <a:pt x="167" y="699"/>
                    </a:lnTo>
                    <a:lnTo>
                      <a:pt x="151" y="732"/>
                    </a:lnTo>
                    <a:lnTo>
                      <a:pt x="141" y="753"/>
                    </a:lnTo>
                    <a:lnTo>
                      <a:pt x="130" y="777"/>
                    </a:lnTo>
                    <a:lnTo>
                      <a:pt x="118" y="804"/>
                    </a:lnTo>
                    <a:lnTo>
                      <a:pt x="0" y="744"/>
                    </a:lnTo>
                    <a:lnTo>
                      <a:pt x="10" y="724"/>
                    </a:lnTo>
                    <a:lnTo>
                      <a:pt x="19" y="702"/>
                    </a:lnTo>
                    <a:lnTo>
                      <a:pt x="48" y="631"/>
                    </a:lnTo>
                    <a:lnTo>
                      <a:pt x="56" y="607"/>
                    </a:lnTo>
                    <a:lnTo>
                      <a:pt x="65" y="584"/>
                    </a:lnTo>
                    <a:lnTo>
                      <a:pt x="73" y="562"/>
                    </a:lnTo>
                    <a:lnTo>
                      <a:pt x="80" y="542"/>
                    </a:lnTo>
                    <a:lnTo>
                      <a:pt x="87" y="524"/>
                    </a:lnTo>
                    <a:lnTo>
                      <a:pt x="92" y="508"/>
                    </a:lnTo>
                    <a:lnTo>
                      <a:pt x="97" y="496"/>
                    </a:lnTo>
                    <a:lnTo>
                      <a:pt x="99" y="486"/>
                    </a:lnTo>
                    <a:lnTo>
                      <a:pt x="100" y="481"/>
                    </a:lnTo>
                    <a:lnTo>
                      <a:pt x="111" y="427"/>
                    </a:lnTo>
                    <a:lnTo>
                      <a:pt x="124" y="374"/>
                    </a:lnTo>
                    <a:lnTo>
                      <a:pt x="136" y="323"/>
                    </a:lnTo>
                    <a:lnTo>
                      <a:pt x="148" y="273"/>
                    </a:lnTo>
                    <a:lnTo>
                      <a:pt x="156" y="225"/>
                    </a:lnTo>
                    <a:lnTo>
                      <a:pt x="163" y="183"/>
                    </a:lnTo>
                    <a:lnTo>
                      <a:pt x="170" y="147"/>
                    </a:lnTo>
                    <a:lnTo>
                      <a:pt x="176" y="115"/>
                    </a:lnTo>
                    <a:lnTo>
                      <a:pt x="182" y="88"/>
                    </a:lnTo>
                    <a:lnTo>
                      <a:pt x="187" y="66"/>
                    </a:lnTo>
                    <a:lnTo>
                      <a:pt x="191" y="46"/>
                    </a:lnTo>
                    <a:lnTo>
                      <a:pt x="195" y="31"/>
                    </a:lnTo>
                    <a:lnTo>
                      <a:pt x="198" y="19"/>
                    </a:lnTo>
                    <a:lnTo>
                      <a:pt x="201" y="11"/>
                    </a:lnTo>
                    <a:lnTo>
                      <a:pt x="203" y="5"/>
                    </a:lnTo>
                    <a:lnTo>
                      <a:pt x="204" y="1"/>
                    </a:lnTo>
                    <a:lnTo>
                      <a:pt x="20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4" name="Freeform 21">
                <a:extLst>
                  <a:ext uri="{FF2B5EF4-FFF2-40B4-BE49-F238E27FC236}">
                    <a16:creationId xmlns:a16="http://schemas.microsoft.com/office/drawing/2014/main" id="{06B0930E-FB12-D8DB-895D-8566AAD8AB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5626" y="3230563"/>
                <a:ext cx="344488" cy="9001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0" y="295"/>
                  </a:cxn>
                  <a:cxn ang="0">
                    <a:pos x="207" y="487"/>
                  </a:cxn>
                  <a:cxn ang="0">
                    <a:pos x="217" y="525"/>
                  </a:cxn>
                  <a:cxn ang="0">
                    <a:pos x="197" y="567"/>
                  </a:cxn>
                  <a:cxn ang="0">
                    <a:pos x="192" y="522"/>
                  </a:cxn>
                  <a:cxn ang="0">
                    <a:pos x="196" y="322"/>
                  </a:cxn>
                  <a:cxn ang="0">
                    <a:pos x="195" y="321"/>
                  </a:cxn>
                  <a:cxn ang="0">
                    <a:pos x="192" y="316"/>
                  </a:cxn>
                  <a:cxn ang="0">
                    <a:pos x="186" y="308"/>
                  </a:cxn>
                  <a:cxn ang="0">
                    <a:pos x="179" y="298"/>
                  </a:cxn>
                  <a:cxn ang="0">
                    <a:pos x="171" y="285"/>
                  </a:cxn>
                  <a:cxn ang="0">
                    <a:pos x="161" y="270"/>
                  </a:cxn>
                  <a:cxn ang="0">
                    <a:pos x="150" y="252"/>
                  </a:cxn>
                  <a:cxn ang="0">
                    <a:pos x="138" y="234"/>
                  </a:cxn>
                  <a:cxn ang="0">
                    <a:pos x="126" y="213"/>
                  </a:cxn>
                  <a:cxn ang="0">
                    <a:pos x="111" y="192"/>
                  </a:cxn>
                  <a:cxn ang="0">
                    <a:pos x="97" y="169"/>
                  </a:cxn>
                  <a:cxn ang="0">
                    <a:pos x="83" y="145"/>
                  </a:cxn>
                  <a:cxn ang="0">
                    <a:pos x="69" y="121"/>
                  </a:cxn>
                  <a:cxn ang="0">
                    <a:pos x="54" y="97"/>
                  </a:cxn>
                  <a:cxn ang="0">
                    <a:pos x="40" y="72"/>
                  </a:cxn>
                  <a:cxn ang="0">
                    <a:pos x="13" y="23"/>
                  </a:cxn>
                  <a:cxn ang="0">
                    <a:pos x="0" y="0"/>
                  </a:cxn>
                </a:cxnLst>
                <a:rect l="0" t="0" r="r" b="b"/>
                <a:pathLst>
                  <a:path w="217" h="567">
                    <a:moveTo>
                      <a:pt x="0" y="0"/>
                    </a:moveTo>
                    <a:lnTo>
                      <a:pt x="210" y="295"/>
                    </a:lnTo>
                    <a:lnTo>
                      <a:pt x="207" y="487"/>
                    </a:lnTo>
                    <a:lnTo>
                      <a:pt x="217" y="525"/>
                    </a:lnTo>
                    <a:lnTo>
                      <a:pt x="197" y="567"/>
                    </a:lnTo>
                    <a:lnTo>
                      <a:pt x="192" y="522"/>
                    </a:lnTo>
                    <a:lnTo>
                      <a:pt x="196" y="322"/>
                    </a:lnTo>
                    <a:lnTo>
                      <a:pt x="195" y="321"/>
                    </a:lnTo>
                    <a:lnTo>
                      <a:pt x="192" y="316"/>
                    </a:lnTo>
                    <a:lnTo>
                      <a:pt x="186" y="308"/>
                    </a:lnTo>
                    <a:lnTo>
                      <a:pt x="179" y="298"/>
                    </a:lnTo>
                    <a:lnTo>
                      <a:pt x="171" y="285"/>
                    </a:lnTo>
                    <a:lnTo>
                      <a:pt x="161" y="270"/>
                    </a:lnTo>
                    <a:lnTo>
                      <a:pt x="150" y="252"/>
                    </a:lnTo>
                    <a:lnTo>
                      <a:pt x="138" y="234"/>
                    </a:lnTo>
                    <a:lnTo>
                      <a:pt x="126" y="213"/>
                    </a:lnTo>
                    <a:lnTo>
                      <a:pt x="111" y="192"/>
                    </a:lnTo>
                    <a:lnTo>
                      <a:pt x="97" y="169"/>
                    </a:lnTo>
                    <a:lnTo>
                      <a:pt x="83" y="145"/>
                    </a:lnTo>
                    <a:lnTo>
                      <a:pt x="69" y="121"/>
                    </a:lnTo>
                    <a:lnTo>
                      <a:pt x="54" y="97"/>
                    </a:lnTo>
                    <a:lnTo>
                      <a:pt x="40" y="72"/>
                    </a:lnTo>
                    <a:lnTo>
                      <a:pt x="13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5" name="Freeform 22">
                <a:extLst>
                  <a:ext uri="{FF2B5EF4-FFF2-40B4-BE49-F238E27FC236}">
                    <a16:creationId xmlns:a16="http://schemas.microsoft.com/office/drawing/2014/main" id="{D9822C5A-B9EF-868D-61BE-42EE1E311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3126" y="2754313"/>
                <a:ext cx="612775" cy="1397000"/>
              </a:xfrm>
              <a:custGeom>
                <a:avLst/>
                <a:gdLst/>
                <a:ahLst/>
                <a:cxnLst>
                  <a:cxn ang="0">
                    <a:pos x="159" y="2"/>
                  </a:cxn>
                  <a:cxn ang="0">
                    <a:pos x="163" y="20"/>
                  </a:cxn>
                  <a:cxn ang="0">
                    <a:pos x="170" y="53"/>
                  </a:cxn>
                  <a:cxn ang="0">
                    <a:pos x="178" y="97"/>
                  </a:cxn>
                  <a:cxn ang="0">
                    <a:pos x="189" y="149"/>
                  </a:cxn>
                  <a:cxn ang="0">
                    <a:pos x="211" y="252"/>
                  </a:cxn>
                  <a:cxn ang="0">
                    <a:pos x="230" y="337"/>
                  </a:cxn>
                  <a:cxn ang="0">
                    <a:pos x="249" y="408"/>
                  </a:cxn>
                  <a:cxn ang="0">
                    <a:pos x="265" y="452"/>
                  </a:cxn>
                  <a:cxn ang="0">
                    <a:pos x="278" y="482"/>
                  </a:cxn>
                  <a:cxn ang="0">
                    <a:pos x="294" y="518"/>
                  </a:cxn>
                  <a:cxn ang="0">
                    <a:pos x="322" y="578"/>
                  </a:cxn>
                  <a:cxn ang="0">
                    <a:pos x="351" y="636"/>
                  </a:cxn>
                  <a:cxn ang="0">
                    <a:pos x="367" y="669"/>
                  </a:cxn>
                  <a:cxn ang="0">
                    <a:pos x="378" y="693"/>
                  </a:cxn>
                  <a:cxn ang="0">
                    <a:pos x="385" y="708"/>
                  </a:cxn>
                  <a:cxn ang="0">
                    <a:pos x="273" y="767"/>
                  </a:cxn>
                  <a:cxn ang="0">
                    <a:pos x="269" y="759"/>
                  </a:cxn>
                  <a:cxn ang="0">
                    <a:pos x="259" y="740"/>
                  </a:cxn>
                  <a:cxn ang="0">
                    <a:pos x="244" y="711"/>
                  </a:cxn>
                  <a:cxn ang="0">
                    <a:pos x="226" y="674"/>
                  </a:cxn>
                  <a:cxn ang="0">
                    <a:pos x="196" y="611"/>
                  </a:cxn>
                  <a:cxn ang="0">
                    <a:pos x="176" y="567"/>
                  </a:cxn>
                  <a:cxn ang="0">
                    <a:pos x="159" y="525"/>
                  </a:cxn>
                  <a:cxn ang="0">
                    <a:pos x="145" y="487"/>
                  </a:cxn>
                  <a:cxn ang="0">
                    <a:pos x="137" y="456"/>
                  </a:cxn>
                  <a:cxn ang="0">
                    <a:pos x="138" y="466"/>
                  </a:cxn>
                  <a:cxn ang="0">
                    <a:pos x="141" y="491"/>
                  </a:cxn>
                  <a:cxn ang="0">
                    <a:pos x="145" y="528"/>
                  </a:cxn>
                  <a:cxn ang="0">
                    <a:pos x="149" y="575"/>
                  </a:cxn>
                  <a:cxn ang="0">
                    <a:pos x="156" y="654"/>
                  </a:cxn>
                  <a:cxn ang="0">
                    <a:pos x="159" y="708"/>
                  </a:cxn>
                  <a:cxn ang="0">
                    <a:pos x="160" y="803"/>
                  </a:cxn>
                  <a:cxn ang="0">
                    <a:pos x="159" y="839"/>
                  </a:cxn>
                  <a:cxn ang="0">
                    <a:pos x="158" y="865"/>
                  </a:cxn>
                  <a:cxn ang="0">
                    <a:pos x="16" y="880"/>
                  </a:cxn>
                  <a:cxn ang="0">
                    <a:pos x="6" y="606"/>
                  </a:cxn>
                  <a:cxn ang="0">
                    <a:pos x="9" y="602"/>
                  </a:cxn>
                  <a:cxn ang="0">
                    <a:pos x="16" y="589"/>
                  </a:cxn>
                  <a:cxn ang="0">
                    <a:pos x="27" y="567"/>
                  </a:cxn>
                  <a:cxn ang="0">
                    <a:pos x="40" y="534"/>
                  </a:cxn>
                  <a:cxn ang="0">
                    <a:pos x="53" y="491"/>
                  </a:cxn>
                  <a:cxn ang="0">
                    <a:pos x="66" y="435"/>
                  </a:cxn>
                  <a:cxn ang="0">
                    <a:pos x="76" y="367"/>
                  </a:cxn>
                  <a:cxn ang="0">
                    <a:pos x="81" y="285"/>
                  </a:cxn>
                  <a:cxn ang="0">
                    <a:pos x="83" y="189"/>
                  </a:cxn>
                  <a:cxn ang="0">
                    <a:pos x="77" y="78"/>
                  </a:cxn>
                  <a:cxn ang="0">
                    <a:pos x="158" y="0"/>
                  </a:cxn>
                </a:cxnLst>
                <a:rect l="0" t="0" r="r" b="b"/>
                <a:pathLst>
                  <a:path w="386" h="880">
                    <a:moveTo>
                      <a:pt x="158" y="0"/>
                    </a:moveTo>
                    <a:lnTo>
                      <a:pt x="159" y="2"/>
                    </a:lnTo>
                    <a:lnTo>
                      <a:pt x="160" y="9"/>
                    </a:lnTo>
                    <a:lnTo>
                      <a:pt x="163" y="20"/>
                    </a:lnTo>
                    <a:lnTo>
                      <a:pt x="166" y="35"/>
                    </a:lnTo>
                    <a:lnTo>
                      <a:pt x="170" y="53"/>
                    </a:lnTo>
                    <a:lnTo>
                      <a:pt x="174" y="75"/>
                    </a:lnTo>
                    <a:lnTo>
                      <a:pt x="178" y="97"/>
                    </a:lnTo>
                    <a:lnTo>
                      <a:pt x="184" y="123"/>
                    </a:lnTo>
                    <a:lnTo>
                      <a:pt x="189" y="149"/>
                    </a:lnTo>
                    <a:lnTo>
                      <a:pt x="200" y="204"/>
                    </a:lnTo>
                    <a:lnTo>
                      <a:pt x="211" y="252"/>
                    </a:lnTo>
                    <a:lnTo>
                      <a:pt x="220" y="297"/>
                    </a:lnTo>
                    <a:lnTo>
                      <a:pt x="230" y="337"/>
                    </a:lnTo>
                    <a:lnTo>
                      <a:pt x="239" y="374"/>
                    </a:lnTo>
                    <a:lnTo>
                      <a:pt x="249" y="408"/>
                    </a:lnTo>
                    <a:lnTo>
                      <a:pt x="260" y="440"/>
                    </a:lnTo>
                    <a:lnTo>
                      <a:pt x="265" y="452"/>
                    </a:lnTo>
                    <a:lnTo>
                      <a:pt x="270" y="466"/>
                    </a:lnTo>
                    <a:lnTo>
                      <a:pt x="278" y="482"/>
                    </a:lnTo>
                    <a:lnTo>
                      <a:pt x="285" y="499"/>
                    </a:lnTo>
                    <a:lnTo>
                      <a:pt x="294" y="518"/>
                    </a:lnTo>
                    <a:lnTo>
                      <a:pt x="304" y="537"/>
                    </a:lnTo>
                    <a:lnTo>
                      <a:pt x="322" y="578"/>
                    </a:lnTo>
                    <a:lnTo>
                      <a:pt x="341" y="618"/>
                    </a:lnTo>
                    <a:lnTo>
                      <a:pt x="351" y="636"/>
                    </a:lnTo>
                    <a:lnTo>
                      <a:pt x="359" y="653"/>
                    </a:lnTo>
                    <a:lnTo>
                      <a:pt x="367" y="669"/>
                    </a:lnTo>
                    <a:lnTo>
                      <a:pt x="373" y="682"/>
                    </a:lnTo>
                    <a:lnTo>
                      <a:pt x="378" y="693"/>
                    </a:lnTo>
                    <a:lnTo>
                      <a:pt x="383" y="702"/>
                    </a:lnTo>
                    <a:lnTo>
                      <a:pt x="385" y="708"/>
                    </a:lnTo>
                    <a:lnTo>
                      <a:pt x="386" y="709"/>
                    </a:lnTo>
                    <a:lnTo>
                      <a:pt x="273" y="767"/>
                    </a:lnTo>
                    <a:lnTo>
                      <a:pt x="272" y="765"/>
                    </a:lnTo>
                    <a:lnTo>
                      <a:pt x="269" y="759"/>
                    </a:lnTo>
                    <a:lnTo>
                      <a:pt x="265" y="751"/>
                    </a:lnTo>
                    <a:lnTo>
                      <a:pt x="259" y="740"/>
                    </a:lnTo>
                    <a:lnTo>
                      <a:pt x="252" y="726"/>
                    </a:lnTo>
                    <a:lnTo>
                      <a:pt x="244" y="711"/>
                    </a:lnTo>
                    <a:lnTo>
                      <a:pt x="235" y="693"/>
                    </a:lnTo>
                    <a:lnTo>
                      <a:pt x="226" y="674"/>
                    </a:lnTo>
                    <a:lnTo>
                      <a:pt x="216" y="653"/>
                    </a:lnTo>
                    <a:lnTo>
                      <a:pt x="196" y="611"/>
                    </a:lnTo>
                    <a:lnTo>
                      <a:pt x="186" y="589"/>
                    </a:lnTo>
                    <a:lnTo>
                      <a:pt x="176" y="567"/>
                    </a:lnTo>
                    <a:lnTo>
                      <a:pt x="167" y="545"/>
                    </a:lnTo>
                    <a:lnTo>
                      <a:pt x="159" y="525"/>
                    </a:lnTo>
                    <a:lnTo>
                      <a:pt x="152" y="505"/>
                    </a:lnTo>
                    <a:lnTo>
                      <a:pt x="145" y="487"/>
                    </a:lnTo>
                    <a:lnTo>
                      <a:pt x="141" y="471"/>
                    </a:lnTo>
                    <a:lnTo>
                      <a:pt x="137" y="456"/>
                    </a:lnTo>
                    <a:lnTo>
                      <a:pt x="137" y="459"/>
                    </a:lnTo>
                    <a:lnTo>
                      <a:pt x="138" y="466"/>
                    </a:lnTo>
                    <a:lnTo>
                      <a:pt x="140" y="476"/>
                    </a:lnTo>
                    <a:lnTo>
                      <a:pt x="141" y="491"/>
                    </a:lnTo>
                    <a:lnTo>
                      <a:pt x="143" y="508"/>
                    </a:lnTo>
                    <a:lnTo>
                      <a:pt x="145" y="528"/>
                    </a:lnTo>
                    <a:lnTo>
                      <a:pt x="147" y="551"/>
                    </a:lnTo>
                    <a:lnTo>
                      <a:pt x="149" y="575"/>
                    </a:lnTo>
                    <a:lnTo>
                      <a:pt x="152" y="600"/>
                    </a:lnTo>
                    <a:lnTo>
                      <a:pt x="156" y="654"/>
                    </a:lnTo>
                    <a:lnTo>
                      <a:pt x="158" y="682"/>
                    </a:lnTo>
                    <a:lnTo>
                      <a:pt x="159" y="708"/>
                    </a:lnTo>
                    <a:lnTo>
                      <a:pt x="160" y="725"/>
                    </a:lnTo>
                    <a:lnTo>
                      <a:pt x="160" y="803"/>
                    </a:lnTo>
                    <a:lnTo>
                      <a:pt x="159" y="822"/>
                    </a:lnTo>
                    <a:lnTo>
                      <a:pt x="159" y="839"/>
                    </a:lnTo>
                    <a:lnTo>
                      <a:pt x="159" y="854"/>
                    </a:lnTo>
                    <a:lnTo>
                      <a:pt x="158" y="865"/>
                    </a:lnTo>
                    <a:lnTo>
                      <a:pt x="158" y="875"/>
                    </a:lnTo>
                    <a:lnTo>
                      <a:pt x="16" y="880"/>
                    </a:lnTo>
                    <a:lnTo>
                      <a:pt x="0" y="814"/>
                    </a:lnTo>
                    <a:lnTo>
                      <a:pt x="6" y="606"/>
                    </a:lnTo>
                    <a:lnTo>
                      <a:pt x="7" y="605"/>
                    </a:lnTo>
                    <a:lnTo>
                      <a:pt x="9" y="602"/>
                    </a:lnTo>
                    <a:lnTo>
                      <a:pt x="12" y="596"/>
                    </a:lnTo>
                    <a:lnTo>
                      <a:pt x="16" y="589"/>
                    </a:lnTo>
                    <a:lnTo>
                      <a:pt x="22" y="579"/>
                    </a:lnTo>
                    <a:lnTo>
                      <a:pt x="27" y="567"/>
                    </a:lnTo>
                    <a:lnTo>
                      <a:pt x="33" y="552"/>
                    </a:lnTo>
                    <a:lnTo>
                      <a:pt x="40" y="534"/>
                    </a:lnTo>
                    <a:lnTo>
                      <a:pt x="47" y="514"/>
                    </a:lnTo>
                    <a:lnTo>
                      <a:pt x="53" y="491"/>
                    </a:lnTo>
                    <a:lnTo>
                      <a:pt x="59" y="464"/>
                    </a:lnTo>
                    <a:lnTo>
                      <a:pt x="66" y="435"/>
                    </a:lnTo>
                    <a:lnTo>
                      <a:pt x="71" y="403"/>
                    </a:lnTo>
                    <a:lnTo>
                      <a:pt x="76" y="367"/>
                    </a:lnTo>
                    <a:lnTo>
                      <a:pt x="79" y="328"/>
                    </a:lnTo>
                    <a:lnTo>
                      <a:pt x="81" y="285"/>
                    </a:lnTo>
                    <a:lnTo>
                      <a:pt x="83" y="239"/>
                    </a:lnTo>
                    <a:lnTo>
                      <a:pt x="83" y="189"/>
                    </a:lnTo>
                    <a:lnTo>
                      <a:pt x="81" y="135"/>
                    </a:lnTo>
                    <a:lnTo>
                      <a:pt x="77" y="78"/>
                    </a:lnTo>
                    <a:lnTo>
                      <a:pt x="71" y="16"/>
                    </a:lnTo>
                    <a:lnTo>
                      <a:pt x="158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6" name="Freeform 23">
                <a:extLst>
                  <a:ext uri="{FF2B5EF4-FFF2-40B4-BE49-F238E27FC236}">
                    <a16:creationId xmlns:a16="http://schemas.microsoft.com/office/drawing/2014/main" id="{13A1DDA1-2F0F-63CC-90FA-48D814D8FB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5188" y="2763838"/>
                <a:ext cx="246063" cy="952500"/>
              </a:xfrm>
              <a:custGeom>
                <a:avLst/>
                <a:gdLst/>
                <a:ahLst/>
                <a:cxnLst>
                  <a:cxn ang="0">
                    <a:pos x="146" y="0"/>
                  </a:cxn>
                  <a:cxn ang="0">
                    <a:pos x="155" y="168"/>
                  </a:cxn>
                  <a:cxn ang="0">
                    <a:pos x="115" y="188"/>
                  </a:cxn>
                  <a:cxn ang="0">
                    <a:pos x="148" y="196"/>
                  </a:cxn>
                  <a:cxn ang="0">
                    <a:pos x="147" y="198"/>
                  </a:cxn>
                  <a:cxn ang="0">
                    <a:pos x="146" y="206"/>
                  </a:cxn>
                  <a:cxn ang="0">
                    <a:pos x="144" y="217"/>
                  </a:cxn>
                  <a:cxn ang="0">
                    <a:pos x="140" y="232"/>
                  </a:cxn>
                  <a:cxn ang="0">
                    <a:pos x="136" y="251"/>
                  </a:cxn>
                  <a:cxn ang="0">
                    <a:pos x="131" y="272"/>
                  </a:cxn>
                  <a:cxn ang="0">
                    <a:pos x="125" y="296"/>
                  </a:cxn>
                  <a:cxn ang="0">
                    <a:pos x="119" y="323"/>
                  </a:cxn>
                  <a:cxn ang="0">
                    <a:pos x="111" y="350"/>
                  </a:cxn>
                  <a:cxn ang="0">
                    <a:pos x="103" y="379"/>
                  </a:cxn>
                  <a:cxn ang="0">
                    <a:pos x="84" y="439"/>
                  </a:cxn>
                  <a:cxn ang="0">
                    <a:pos x="73" y="468"/>
                  </a:cxn>
                  <a:cxn ang="0">
                    <a:pos x="62" y="498"/>
                  </a:cxn>
                  <a:cxn ang="0">
                    <a:pos x="50" y="526"/>
                  </a:cxn>
                  <a:cxn ang="0">
                    <a:pos x="38" y="553"/>
                  </a:cxn>
                  <a:cxn ang="0">
                    <a:pos x="24" y="577"/>
                  </a:cxn>
                  <a:cxn ang="0">
                    <a:pos x="11" y="600"/>
                  </a:cxn>
                  <a:cxn ang="0">
                    <a:pos x="0" y="555"/>
                  </a:cxn>
                  <a:cxn ang="0">
                    <a:pos x="1" y="553"/>
                  </a:cxn>
                  <a:cxn ang="0">
                    <a:pos x="3" y="546"/>
                  </a:cxn>
                  <a:cxn ang="0">
                    <a:pos x="6" y="537"/>
                  </a:cxn>
                  <a:cxn ang="0">
                    <a:pos x="11" y="524"/>
                  </a:cxn>
                  <a:cxn ang="0">
                    <a:pos x="16" y="506"/>
                  </a:cxn>
                  <a:cxn ang="0">
                    <a:pos x="21" y="487"/>
                  </a:cxn>
                  <a:cxn ang="0">
                    <a:pos x="27" y="465"/>
                  </a:cxn>
                  <a:cxn ang="0">
                    <a:pos x="34" y="439"/>
                  </a:cxn>
                  <a:cxn ang="0">
                    <a:pos x="40" y="412"/>
                  </a:cxn>
                  <a:cxn ang="0">
                    <a:pos x="46" y="383"/>
                  </a:cxn>
                  <a:cxn ang="0">
                    <a:pos x="51" y="352"/>
                  </a:cxn>
                  <a:cxn ang="0">
                    <a:pos x="55" y="320"/>
                  </a:cxn>
                  <a:cxn ang="0">
                    <a:pos x="59" y="287"/>
                  </a:cxn>
                  <a:cxn ang="0">
                    <a:pos x="62" y="242"/>
                  </a:cxn>
                  <a:cxn ang="0">
                    <a:pos x="64" y="201"/>
                  </a:cxn>
                  <a:cxn ang="0">
                    <a:pos x="65" y="163"/>
                  </a:cxn>
                  <a:cxn ang="0">
                    <a:pos x="65" y="129"/>
                  </a:cxn>
                  <a:cxn ang="0">
                    <a:pos x="64" y="99"/>
                  </a:cxn>
                  <a:cxn ang="0">
                    <a:pos x="63" y="74"/>
                  </a:cxn>
                  <a:cxn ang="0">
                    <a:pos x="61" y="53"/>
                  </a:cxn>
                  <a:cxn ang="0">
                    <a:pos x="60" y="35"/>
                  </a:cxn>
                  <a:cxn ang="0">
                    <a:pos x="59" y="24"/>
                  </a:cxn>
                  <a:cxn ang="0">
                    <a:pos x="57" y="16"/>
                  </a:cxn>
                  <a:cxn ang="0">
                    <a:pos x="57" y="13"/>
                  </a:cxn>
                  <a:cxn ang="0">
                    <a:pos x="146" y="0"/>
                  </a:cxn>
                </a:cxnLst>
                <a:rect l="0" t="0" r="r" b="b"/>
                <a:pathLst>
                  <a:path w="155" h="600">
                    <a:moveTo>
                      <a:pt x="146" y="0"/>
                    </a:moveTo>
                    <a:lnTo>
                      <a:pt x="155" y="168"/>
                    </a:lnTo>
                    <a:lnTo>
                      <a:pt x="115" y="188"/>
                    </a:lnTo>
                    <a:lnTo>
                      <a:pt x="148" y="196"/>
                    </a:lnTo>
                    <a:lnTo>
                      <a:pt x="147" y="198"/>
                    </a:lnTo>
                    <a:lnTo>
                      <a:pt x="146" y="206"/>
                    </a:lnTo>
                    <a:lnTo>
                      <a:pt x="144" y="217"/>
                    </a:lnTo>
                    <a:lnTo>
                      <a:pt x="140" y="232"/>
                    </a:lnTo>
                    <a:lnTo>
                      <a:pt x="136" y="251"/>
                    </a:lnTo>
                    <a:lnTo>
                      <a:pt x="131" y="272"/>
                    </a:lnTo>
                    <a:lnTo>
                      <a:pt x="125" y="296"/>
                    </a:lnTo>
                    <a:lnTo>
                      <a:pt x="119" y="323"/>
                    </a:lnTo>
                    <a:lnTo>
                      <a:pt x="111" y="350"/>
                    </a:lnTo>
                    <a:lnTo>
                      <a:pt x="103" y="379"/>
                    </a:lnTo>
                    <a:lnTo>
                      <a:pt x="84" y="439"/>
                    </a:lnTo>
                    <a:lnTo>
                      <a:pt x="73" y="468"/>
                    </a:lnTo>
                    <a:lnTo>
                      <a:pt x="62" y="498"/>
                    </a:lnTo>
                    <a:lnTo>
                      <a:pt x="50" y="526"/>
                    </a:lnTo>
                    <a:lnTo>
                      <a:pt x="38" y="553"/>
                    </a:lnTo>
                    <a:lnTo>
                      <a:pt x="24" y="577"/>
                    </a:lnTo>
                    <a:lnTo>
                      <a:pt x="11" y="600"/>
                    </a:lnTo>
                    <a:lnTo>
                      <a:pt x="0" y="555"/>
                    </a:lnTo>
                    <a:lnTo>
                      <a:pt x="1" y="553"/>
                    </a:lnTo>
                    <a:lnTo>
                      <a:pt x="3" y="546"/>
                    </a:lnTo>
                    <a:lnTo>
                      <a:pt x="6" y="537"/>
                    </a:lnTo>
                    <a:lnTo>
                      <a:pt x="11" y="524"/>
                    </a:lnTo>
                    <a:lnTo>
                      <a:pt x="16" y="506"/>
                    </a:lnTo>
                    <a:lnTo>
                      <a:pt x="21" y="487"/>
                    </a:lnTo>
                    <a:lnTo>
                      <a:pt x="27" y="465"/>
                    </a:lnTo>
                    <a:lnTo>
                      <a:pt x="34" y="439"/>
                    </a:lnTo>
                    <a:lnTo>
                      <a:pt x="40" y="412"/>
                    </a:lnTo>
                    <a:lnTo>
                      <a:pt x="46" y="383"/>
                    </a:lnTo>
                    <a:lnTo>
                      <a:pt x="51" y="352"/>
                    </a:lnTo>
                    <a:lnTo>
                      <a:pt x="55" y="320"/>
                    </a:lnTo>
                    <a:lnTo>
                      <a:pt x="59" y="287"/>
                    </a:lnTo>
                    <a:lnTo>
                      <a:pt x="62" y="242"/>
                    </a:lnTo>
                    <a:lnTo>
                      <a:pt x="64" y="201"/>
                    </a:lnTo>
                    <a:lnTo>
                      <a:pt x="65" y="163"/>
                    </a:lnTo>
                    <a:lnTo>
                      <a:pt x="65" y="129"/>
                    </a:lnTo>
                    <a:lnTo>
                      <a:pt x="64" y="99"/>
                    </a:lnTo>
                    <a:lnTo>
                      <a:pt x="63" y="74"/>
                    </a:lnTo>
                    <a:lnTo>
                      <a:pt x="61" y="53"/>
                    </a:lnTo>
                    <a:lnTo>
                      <a:pt x="60" y="35"/>
                    </a:lnTo>
                    <a:lnTo>
                      <a:pt x="59" y="24"/>
                    </a:lnTo>
                    <a:lnTo>
                      <a:pt x="57" y="16"/>
                    </a:lnTo>
                    <a:lnTo>
                      <a:pt x="57" y="13"/>
                    </a:lnTo>
                    <a:lnTo>
                      <a:pt x="146" y="0"/>
                    </a:lnTo>
                    <a:close/>
                  </a:path>
                </a:pathLst>
              </a:custGeom>
              <a:solidFill>
                <a:srgbClr val="3C535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7" name="Freeform 24">
                <a:extLst>
                  <a:ext uri="{FF2B5EF4-FFF2-40B4-BE49-F238E27FC236}">
                    <a16:creationId xmlns:a16="http://schemas.microsoft.com/office/drawing/2014/main" id="{2FF47E8D-20CF-376F-E2D9-E4B82783D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738" y="2824163"/>
                <a:ext cx="442913" cy="892175"/>
              </a:xfrm>
              <a:custGeom>
                <a:avLst/>
                <a:gdLst/>
                <a:ahLst/>
                <a:cxnLst>
                  <a:cxn ang="0">
                    <a:pos x="93" y="2"/>
                  </a:cxn>
                  <a:cxn ang="0">
                    <a:pos x="98" y="19"/>
                  </a:cxn>
                  <a:cxn ang="0">
                    <a:pos x="107" y="50"/>
                  </a:cxn>
                  <a:cxn ang="0">
                    <a:pos x="119" y="92"/>
                  </a:cxn>
                  <a:cxn ang="0">
                    <a:pos x="134" y="140"/>
                  </a:cxn>
                  <a:cxn ang="0">
                    <a:pos x="158" y="218"/>
                  </a:cxn>
                  <a:cxn ang="0">
                    <a:pos x="175" y="267"/>
                  </a:cxn>
                  <a:cxn ang="0">
                    <a:pos x="192" y="317"/>
                  </a:cxn>
                  <a:cxn ang="0">
                    <a:pos x="212" y="366"/>
                  </a:cxn>
                  <a:cxn ang="0">
                    <a:pos x="231" y="411"/>
                  </a:cxn>
                  <a:cxn ang="0">
                    <a:pos x="249" y="449"/>
                  </a:cxn>
                  <a:cxn ang="0">
                    <a:pos x="263" y="479"/>
                  </a:cxn>
                  <a:cxn ang="0">
                    <a:pos x="273" y="499"/>
                  </a:cxn>
                  <a:cxn ang="0">
                    <a:pos x="277" y="506"/>
                  </a:cxn>
                  <a:cxn ang="0">
                    <a:pos x="277" y="560"/>
                  </a:cxn>
                  <a:cxn ang="0">
                    <a:pos x="269" y="548"/>
                  </a:cxn>
                  <a:cxn ang="0">
                    <a:pos x="254" y="525"/>
                  </a:cxn>
                  <a:cxn ang="0">
                    <a:pos x="234" y="497"/>
                  </a:cxn>
                  <a:cxn ang="0">
                    <a:pos x="200" y="449"/>
                  </a:cxn>
                  <a:cxn ang="0">
                    <a:pos x="179" y="419"/>
                  </a:cxn>
                  <a:cxn ang="0">
                    <a:pos x="160" y="395"/>
                  </a:cxn>
                  <a:cxn ang="0">
                    <a:pos x="140" y="367"/>
                  </a:cxn>
                  <a:cxn ang="0">
                    <a:pos x="97" y="302"/>
                  </a:cxn>
                  <a:cxn ang="0">
                    <a:pos x="77" y="271"/>
                  </a:cxn>
                  <a:cxn ang="0">
                    <a:pos x="61" y="245"/>
                  </a:cxn>
                  <a:cxn ang="0">
                    <a:pos x="49" y="227"/>
                  </a:cxn>
                  <a:cxn ang="0">
                    <a:pos x="45" y="220"/>
                  </a:cxn>
                  <a:cxn ang="0">
                    <a:pos x="36" y="190"/>
                  </a:cxn>
                  <a:cxn ang="0">
                    <a:pos x="33" y="181"/>
                  </a:cxn>
                  <a:cxn ang="0">
                    <a:pos x="28" y="157"/>
                  </a:cxn>
                  <a:cxn ang="0">
                    <a:pos x="21" y="125"/>
                  </a:cxn>
                  <a:cxn ang="0">
                    <a:pos x="10" y="68"/>
                  </a:cxn>
                  <a:cxn ang="0">
                    <a:pos x="4" y="31"/>
                  </a:cxn>
                  <a:cxn ang="0">
                    <a:pos x="0" y="2"/>
                  </a:cxn>
                </a:cxnLst>
                <a:rect l="0" t="0" r="r" b="b"/>
                <a:pathLst>
                  <a:path w="279" h="562">
                    <a:moveTo>
                      <a:pt x="92" y="0"/>
                    </a:moveTo>
                    <a:lnTo>
                      <a:pt x="93" y="2"/>
                    </a:lnTo>
                    <a:lnTo>
                      <a:pt x="95" y="8"/>
                    </a:lnTo>
                    <a:lnTo>
                      <a:pt x="98" y="19"/>
                    </a:lnTo>
                    <a:lnTo>
                      <a:pt x="102" y="34"/>
                    </a:lnTo>
                    <a:lnTo>
                      <a:pt x="107" y="50"/>
                    </a:lnTo>
                    <a:lnTo>
                      <a:pt x="113" y="70"/>
                    </a:lnTo>
                    <a:lnTo>
                      <a:pt x="119" y="92"/>
                    </a:lnTo>
                    <a:lnTo>
                      <a:pt x="126" y="116"/>
                    </a:lnTo>
                    <a:lnTo>
                      <a:pt x="134" y="140"/>
                    </a:lnTo>
                    <a:lnTo>
                      <a:pt x="150" y="192"/>
                    </a:lnTo>
                    <a:lnTo>
                      <a:pt x="158" y="218"/>
                    </a:lnTo>
                    <a:lnTo>
                      <a:pt x="166" y="243"/>
                    </a:lnTo>
                    <a:lnTo>
                      <a:pt x="175" y="267"/>
                    </a:lnTo>
                    <a:lnTo>
                      <a:pt x="183" y="291"/>
                    </a:lnTo>
                    <a:lnTo>
                      <a:pt x="192" y="317"/>
                    </a:lnTo>
                    <a:lnTo>
                      <a:pt x="202" y="341"/>
                    </a:lnTo>
                    <a:lnTo>
                      <a:pt x="212" y="366"/>
                    </a:lnTo>
                    <a:lnTo>
                      <a:pt x="221" y="389"/>
                    </a:lnTo>
                    <a:lnTo>
                      <a:pt x="231" y="411"/>
                    </a:lnTo>
                    <a:lnTo>
                      <a:pt x="240" y="431"/>
                    </a:lnTo>
                    <a:lnTo>
                      <a:pt x="249" y="449"/>
                    </a:lnTo>
                    <a:lnTo>
                      <a:pt x="256" y="466"/>
                    </a:lnTo>
                    <a:lnTo>
                      <a:pt x="263" y="479"/>
                    </a:lnTo>
                    <a:lnTo>
                      <a:pt x="269" y="491"/>
                    </a:lnTo>
                    <a:lnTo>
                      <a:pt x="273" y="499"/>
                    </a:lnTo>
                    <a:lnTo>
                      <a:pt x="276" y="504"/>
                    </a:lnTo>
                    <a:lnTo>
                      <a:pt x="277" y="506"/>
                    </a:lnTo>
                    <a:lnTo>
                      <a:pt x="279" y="562"/>
                    </a:lnTo>
                    <a:lnTo>
                      <a:pt x="277" y="560"/>
                    </a:lnTo>
                    <a:lnTo>
                      <a:pt x="274" y="555"/>
                    </a:lnTo>
                    <a:lnTo>
                      <a:pt x="269" y="548"/>
                    </a:lnTo>
                    <a:lnTo>
                      <a:pt x="262" y="538"/>
                    </a:lnTo>
                    <a:lnTo>
                      <a:pt x="254" y="525"/>
                    </a:lnTo>
                    <a:lnTo>
                      <a:pt x="244" y="512"/>
                    </a:lnTo>
                    <a:lnTo>
                      <a:pt x="234" y="497"/>
                    </a:lnTo>
                    <a:lnTo>
                      <a:pt x="212" y="465"/>
                    </a:lnTo>
                    <a:lnTo>
                      <a:pt x="200" y="449"/>
                    </a:lnTo>
                    <a:lnTo>
                      <a:pt x="189" y="434"/>
                    </a:lnTo>
                    <a:lnTo>
                      <a:pt x="179" y="419"/>
                    </a:lnTo>
                    <a:lnTo>
                      <a:pt x="169" y="407"/>
                    </a:lnTo>
                    <a:lnTo>
                      <a:pt x="160" y="395"/>
                    </a:lnTo>
                    <a:lnTo>
                      <a:pt x="150" y="382"/>
                    </a:lnTo>
                    <a:lnTo>
                      <a:pt x="140" y="367"/>
                    </a:lnTo>
                    <a:lnTo>
                      <a:pt x="130" y="352"/>
                    </a:lnTo>
                    <a:lnTo>
                      <a:pt x="97" y="302"/>
                    </a:lnTo>
                    <a:lnTo>
                      <a:pt x="87" y="286"/>
                    </a:lnTo>
                    <a:lnTo>
                      <a:pt x="77" y="271"/>
                    </a:lnTo>
                    <a:lnTo>
                      <a:pt x="68" y="257"/>
                    </a:lnTo>
                    <a:lnTo>
                      <a:pt x="61" y="245"/>
                    </a:lnTo>
                    <a:lnTo>
                      <a:pt x="54" y="234"/>
                    </a:lnTo>
                    <a:lnTo>
                      <a:pt x="49" y="227"/>
                    </a:lnTo>
                    <a:lnTo>
                      <a:pt x="46" y="222"/>
                    </a:lnTo>
                    <a:lnTo>
                      <a:pt x="45" y="220"/>
                    </a:lnTo>
                    <a:lnTo>
                      <a:pt x="87" y="190"/>
                    </a:lnTo>
                    <a:lnTo>
                      <a:pt x="36" y="190"/>
                    </a:lnTo>
                    <a:lnTo>
                      <a:pt x="35" y="187"/>
                    </a:lnTo>
                    <a:lnTo>
                      <a:pt x="33" y="181"/>
                    </a:lnTo>
                    <a:lnTo>
                      <a:pt x="32" y="171"/>
                    </a:lnTo>
                    <a:lnTo>
                      <a:pt x="28" y="157"/>
                    </a:lnTo>
                    <a:lnTo>
                      <a:pt x="25" y="142"/>
                    </a:lnTo>
                    <a:lnTo>
                      <a:pt x="21" y="125"/>
                    </a:lnTo>
                    <a:lnTo>
                      <a:pt x="13" y="87"/>
                    </a:lnTo>
                    <a:lnTo>
                      <a:pt x="10" y="68"/>
                    </a:lnTo>
                    <a:lnTo>
                      <a:pt x="6" y="49"/>
                    </a:lnTo>
                    <a:lnTo>
                      <a:pt x="4" y="31"/>
                    </a:lnTo>
                    <a:lnTo>
                      <a:pt x="2" y="16"/>
                    </a:lnTo>
                    <a:lnTo>
                      <a:pt x="0" y="2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3C535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8" name="Freeform 25">
                <a:extLst>
                  <a:ext uri="{FF2B5EF4-FFF2-40B4-BE49-F238E27FC236}">
                    <a16:creationId xmlns:a16="http://schemas.microsoft.com/office/drawing/2014/main" id="{C6E74923-E1D0-0E85-72A8-A5BA495AC1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163" y="1524000"/>
                <a:ext cx="874713" cy="842963"/>
              </a:xfrm>
              <a:custGeom>
                <a:avLst/>
                <a:gdLst/>
                <a:ahLst/>
                <a:cxnLst>
                  <a:cxn ang="0">
                    <a:pos x="300" y="2"/>
                  </a:cxn>
                  <a:cxn ang="0">
                    <a:pos x="369" y="20"/>
                  </a:cxn>
                  <a:cxn ang="0">
                    <a:pos x="436" y="52"/>
                  </a:cxn>
                  <a:cxn ang="0">
                    <a:pos x="497" y="100"/>
                  </a:cxn>
                  <a:cxn ang="0">
                    <a:pos x="551" y="161"/>
                  </a:cxn>
                  <a:cxn ang="0">
                    <a:pos x="543" y="200"/>
                  </a:cxn>
                  <a:cxn ang="0">
                    <a:pos x="522" y="238"/>
                  </a:cxn>
                  <a:cxn ang="0">
                    <a:pos x="489" y="271"/>
                  </a:cxn>
                  <a:cxn ang="0">
                    <a:pos x="446" y="296"/>
                  </a:cxn>
                  <a:cxn ang="0">
                    <a:pos x="393" y="311"/>
                  </a:cxn>
                  <a:cxn ang="0">
                    <a:pos x="321" y="316"/>
                  </a:cxn>
                  <a:cxn ang="0">
                    <a:pos x="258" y="309"/>
                  </a:cxn>
                  <a:cxn ang="0">
                    <a:pos x="206" y="295"/>
                  </a:cxn>
                  <a:cxn ang="0">
                    <a:pos x="164" y="279"/>
                  </a:cxn>
                  <a:cxn ang="0">
                    <a:pos x="132" y="261"/>
                  </a:cxn>
                  <a:cxn ang="0">
                    <a:pos x="113" y="249"/>
                  </a:cxn>
                  <a:cxn ang="0">
                    <a:pos x="107" y="243"/>
                  </a:cxn>
                  <a:cxn ang="0">
                    <a:pos x="123" y="312"/>
                  </a:cxn>
                  <a:cxn ang="0">
                    <a:pos x="126" y="372"/>
                  </a:cxn>
                  <a:cxn ang="0">
                    <a:pos x="119" y="424"/>
                  </a:cxn>
                  <a:cxn ang="0">
                    <a:pos x="106" y="468"/>
                  </a:cxn>
                  <a:cxn ang="0">
                    <a:pos x="88" y="503"/>
                  </a:cxn>
                  <a:cxn ang="0">
                    <a:pos x="69" y="531"/>
                  </a:cxn>
                  <a:cxn ang="0">
                    <a:pos x="51" y="502"/>
                  </a:cxn>
                  <a:cxn ang="0">
                    <a:pos x="25" y="442"/>
                  </a:cxn>
                  <a:cxn ang="0">
                    <a:pos x="8" y="380"/>
                  </a:cxn>
                  <a:cxn ang="0">
                    <a:pos x="0" y="316"/>
                  </a:cxn>
                  <a:cxn ang="0">
                    <a:pos x="2" y="252"/>
                  </a:cxn>
                  <a:cxn ang="0">
                    <a:pos x="13" y="191"/>
                  </a:cxn>
                  <a:cxn ang="0">
                    <a:pos x="35" y="135"/>
                  </a:cxn>
                  <a:cxn ang="0">
                    <a:pos x="65" y="87"/>
                  </a:cxn>
                  <a:cxn ang="0">
                    <a:pos x="106" y="48"/>
                  </a:cxn>
                  <a:cxn ang="0">
                    <a:pos x="163" y="18"/>
                  </a:cxn>
                  <a:cxn ang="0">
                    <a:pos x="231" y="2"/>
                  </a:cxn>
                </a:cxnLst>
                <a:rect l="0" t="0" r="r" b="b"/>
                <a:pathLst>
                  <a:path w="551" h="531">
                    <a:moveTo>
                      <a:pt x="265" y="0"/>
                    </a:moveTo>
                    <a:lnTo>
                      <a:pt x="300" y="2"/>
                    </a:lnTo>
                    <a:lnTo>
                      <a:pt x="335" y="9"/>
                    </a:lnTo>
                    <a:lnTo>
                      <a:pt x="369" y="20"/>
                    </a:lnTo>
                    <a:lnTo>
                      <a:pt x="403" y="34"/>
                    </a:lnTo>
                    <a:lnTo>
                      <a:pt x="436" y="52"/>
                    </a:lnTo>
                    <a:lnTo>
                      <a:pt x="467" y="74"/>
                    </a:lnTo>
                    <a:lnTo>
                      <a:pt x="497" y="100"/>
                    </a:lnTo>
                    <a:lnTo>
                      <a:pt x="525" y="129"/>
                    </a:lnTo>
                    <a:lnTo>
                      <a:pt x="551" y="161"/>
                    </a:lnTo>
                    <a:lnTo>
                      <a:pt x="549" y="181"/>
                    </a:lnTo>
                    <a:lnTo>
                      <a:pt x="543" y="200"/>
                    </a:lnTo>
                    <a:lnTo>
                      <a:pt x="535" y="219"/>
                    </a:lnTo>
                    <a:lnTo>
                      <a:pt x="522" y="238"/>
                    </a:lnTo>
                    <a:lnTo>
                      <a:pt x="507" y="255"/>
                    </a:lnTo>
                    <a:lnTo>
                      <a:pt x="489" y="271"/>
                    </a:lnTo>
                    <a:lnTo>
                      <a:pt x="469" y="284"/>
                    </a:lnTo>
                    <a:lnTo>
                      <a:pt x="446" y="296"/>
                    </a:lnTo>
                    <a:lnTo>
                      <a:pt x="421" y="305"/>
                    </a:lnTo>
                    <a:lnTo>
                      <a:pt x="393" y="311"/>
                    </a:lnTo>
                    <a:lnTo>
                      <a:pt x="355" y="315"/>
                    </a:lnTo>
                    <a:lnTo>
                      <a:pt x="321" y="316"/>
                    </a:lnTo>
                    <a:lnTo>
                      <a:pt x="288" y="313"/>
                    </a:lnTo>
                    <a:lnTo>
                      <a:pt x="258" y="309"/>
                    </a:lnTo>
                    <a:lnTo>
                      <a:pt x="231" y="303"/>
                    </a:lnTo>
                    <a:lnTo>
                      <a:pt x="206" y="295"/>
                    </a:lnTo>
                    <a:lnTo>
                      <a:pt x="184" y="287"/>
                    </a:lnTo>
                    <a:lnTo>
                      <a:pt x="164" y="279"/>
                    </a:lnTo>
                    <a:lnTo>
                      <a:pt x="147" y="269"/>
                    </a:lnTo>
                    <a:lnTo>
                      <a:pt x="132" y="261"/>
                    </a:lnTo>
                    <a:lnTo>
                      <a:pt x="121" y="254"/>
                    </a:lnTo>
                    <a:lnTo>
                      <a:pt x="113" y="249"/>
                    </a:lnTo>
                    <a:lnTo>
                      <a:pt x="109" y="245"/>
                    </a:lnTo>
                    <a:lnTo>
                      <a:pt x="107" y="243"/>
                    </a:lnTo>
                    <a:lnTo>
                      <a:pt x="117" y="279"/>
                    </a:lnTo>
                    <a:lnTo>
                      <a:pt x="123" y="312"/>
                    </a:lnTo>
                    <a:lnTo>
                      <a:pt x="126" y="342"/>
                    </a:lnTo>
                    <a:lnTo>
                      <a:pt x="126" y="372"/>
                    </a:lnTo>
                    <a:lnTo>
                      <a:pt x="124" y="399"/>
                    </a:lnTo>
                    <a:lnTo>
                      <a:pt x="119" y="424"/>
                    </a:lnTo>
                    <a:lnTo>
                      <a:pt x="113" y="447"/>
                    </a:lnTo>
                    <a:lnTo>
                      <a:pt x="106" y="468"/>
                    </a:lnTo>
                    <a:lnTo>
                      <a:pt x="97" y="487"/>
                    </a:lnTo>
                    <a:lnTo>
                      <a:pt x="88" y="503"/>
                    </a:lnTo>
                    <a:lnTo>
                      <a:pt x="79" y="518"/>
                    </a:lnTo>
                    <a:lnTo>
                      <a:pt x="69" y="531"/>
                    </a:lnTo>
                    <a:lnTo>
                      <a:pt x="60" y="516"/>
                    </a:lnTo>
                    <a:lnTo>
                      <a:pt x="51" y="502"/>
                    </a:lnTo>
                    <a:lnTo>
                      <a:pt x="37" y="472"/>
                    </a:lnTo>
                    <a:lnTo>
                      <a:pt x="25" y="442"/>
                    </a:lnTo>
                    <a:lnTo>
                      <a:pt x="15" y="412"/>
                    </a:lnTo>
                    <a:lnTo>
                      <a:pt x="8" y="380"/>
                    </a:lnTo>
                    <a:lnTo>
                      <a:pt x="3" y="348"/>
                    </a:lnTo>
                    <a:lnTo>
                      <a:pt x="0" y="316"/>
                    </a:lnTo>
                    <a:lnTo>
                      <a:pt x="0" y="283"/>
                    </a:lnTo>
                    <a:lnTo>
                      <a:pt x="2" y="252"/>
                    </a:lnTo>
                    <a:lnTo>
                      <a:pt x="6" y="221"/>
                    </a:lnTo>
                    <a:lnTo>
                      <a:pt x="13" y="191"/>
                    </a:lnTo>
                    <a:lnTo>
                      <a:pt x="23" y="162"/>
                    </a:lnTo>
                    <a:lnTo>
                      <a:pt x="35" y="135"/>
                    </a:lnTo>
                    <a:lnTo>
                      <a:pt x="49" y="110"/>
                    </a:lnTo>
                    <a:lnTo>
                      <a:pt x="65" y="87"/>
                    </a:lnTo>
                    <a:lnTo>
                      <a:pt x="85" y="66"/>
                    </a:lnTo>
                    <a:lnTo>
                      <a:pt x="106" y="48"/>
                    </a:lnTo>
                    <a:lnTo>
                      <a:pt x="131" y="33"/>
                    </a:lnTo>
                    <a:lnTo>
                      <a:pt x="163" y="18"/>
                    </a:lnTo>
                    <a:lnTo>
                      <a:pt x="196" y="8"/>
                    </a:lnTo>
                    <a:lnTo>
                      <a:pt x="231" y="2"/>
                    </a:lnTo>
                    <a:lnTo>
                      <a:pt x="26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9" name="Freeform 26">
                <a:extLst>
                  <a:ext uri="{FF2B5EF4-FFF2-40B4-BE49-F238E27FC236}">
                    <a16:creationId xmlns:a16="http://schemas.microsoft.com/office/drawing/2014/main" id="{F1C34765-B2A2-1A7D-C420-285D643D2C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1226" y="3819525"/>
                <a:ext cx="26988" cy="26988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3" y="2"/>
                  </a:cxn>
                  <a:cxn ang="0">
                    <a:pos x="15" y="3"/>
                  </a:cxn>
                  <a:cxn ang="0">
                    <a:pos x="17" y="6"/>
                  </a:cxn>
                  <a:cxn ang="0">
                    <a:pos x="17" y="11"/>
                  </a:cxn>
                  <a:cxn ang="0">
                    <a:pos x="13" y="15"/>
                  </a:cxn>
                  <a:cxn ang="0">
                    <a:pos x="9" y="17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8"/>
                  </a:cxn>
                  <a:cxn ang="0">
                    <a:pos x="2" y="3"/>
                  </a:cxn>
                  <a:cxn ang="0">
                    <a:pos x="4" y="2"/>
                  </a:cxn>
                  <a:cxn ang="0">
                    <a:pos x="9" y="0"/>
                  </a:cxn>
                </a:cxnLst>
                <a:rect l="0" t="0" r="r" b="b"/>
                <a:pathLst>
                  <a:path w="17" h="17">
                    <a:moveTo>
                      <a:pt x="9" y="0"/>
                    </a:moveTo>
                    <a:lnTo>
                      <a:pt x="13" y="2"/>
                    </a:lnTo>
                    <a:lnTo>
                      <a:pt x="15" y="3"/>
                    </a:lnTo>
                    <a:lnTo>
                      <a:pt x="17" y="6"/>
                    </a:lnTo>
                    <a:lnTo>
                      <a:pt x="17" y="11"/>
                    </a:lnTo>
                    <a:lnTo>
                      <a:pt x="13" y="15"/>
                    </a:lnTo>
                    <a:lnTo>
                      <a:pt x="9" y="17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8"/>
                    </a:lnTo>
                    <a:lnTo>
                      <a:pt x="2" y="3"/>
                    </a:lnTo>
                    <a:lnTo>
                      <a:pt x="4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0" name="Freeform 27">
                <a:extLst>
                  <a:ext uri="{FF2B5EF4-FFF2-40B4-BE49-F238E27FC236}">
                    <a16:creationId xmlns:a16="http://schemas.microsoft.com/office/drawing/2014/main" id="{65F7A2D2-10A9-7442-FD11-C1861EB06D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8051" y="3941763"/>
                <a:ext cx="25400" cy="2698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2" y="2"/>
                  </a:cxn>
                  <a:cxn ang="0">
                    <a:pos x="15" y="4"/>
                  </a:cxn>
                  <a:cxn ang="0">
                    <a:pos x="16" y="8"/>
                  </a:cxn>
                  <a:cxn ang="0">
                    <a:pos x="15" y="13"/>
                  </a:cxn>
                  <a:cxn ang="0">
                    <a:pos x="12" y="15"/>
                  </a:cxn>
                  <a:cxn ang="0">
                    <a:pos x="7" y="17"/>
                  </a:cxn>
                  <a:cxn ang="0">
                    <a:pos x="3" y="15"/>
                  </a:cxn>
                  <a:cxn ang="0">
                    <a:pos x="1" y="13"/>
                  </a:cxn>
                  <a:cxn ang="0">
                    <a:pos x="0" y="8"/>
                  </a:cxn>
                  <a:cxn ang="0">
                    <a:pos x="0" y="5"/>
                  </a:cxn>
                  <a:cxn ang="0">
                    <a:pos x="2" y="3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17">
                    <a:moveTo>
                      <a:pt x="7" y="0"/>
                    </a:moveTo>
                    <a:lnTo>
                      <a:pt x="12" y="2"/>
                    </a:lnTo>
                    <a:lnTo>
                      <a:pt x="15" y="4"/>
                    </a:lnTo>
                    <a:lnTo>
                      <a:pt x="16" y="8"/>
                    </a:lnTo>
                    <a:lnTo>
                      <a:pt x="15" y="13"/>
                    </a:lnTo>
                    <a:lnTo>
                      <a:pt x="12" y="15"/>
                    </a:lnTo>
                    <a:lnTo>
                      <a:pt x="7" y="17"/>
                    </a:lnTo>
                    <a:lnTo>
                      <a:pt x="3" y="15"/>
                    </a:lnTo>
                    <a:lnTo>
                      <a:pt x="1" y="13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1" name="Freeform 28">
                <a:extLst>
                  <a:ext uri="{FF2B5EF4-FFF2-40B4-BE49-F238E27FC236}">
                    <a16:creationId xmlns:a16="http://schemas.microsoft.com/office/drawing/2014/main" id="{5A43E296-E3B4-3EEF-1681-E079D9EFCE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4101" y="1873250"/>
                <a:ext cx="87313" cy="465138"/>
              </a:xfrm>
              <a:custGeom>
                <a:avLst/>
                <a:gdLst/>
                <a:ahLst/>
                <a:cxnLst>
                  <a:cxn ang="0">
                    <a:pos x="35" y="291"/>
                  </a:cxn>
                  <a:cxn ang="0">
                    <a:pos x="34" y="293"/>
                  </a:cxn>
                  <a:cxn ang="0">
                    <a:pos x="35" y="29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4" y="6"/>
                  </a:cxn>
                  <a:cxn ang="0">
                    <a:pos x="9" y="14"/>
                  </a:cxn>
                  <a:cxn ang="0">
                    <a:pos x="16" y="25"/>
                  </a:cxn>
                  <a:cxn ang="0">
                    <a:pos x="23" y="38"/>
                  </a:cxn>
                  <a:cxn ang="0">
                    <a:pos x="30" y="54"/>
                  </a:cxn>
                  <a:cxn ang="0">
                    <a:pos x="37" y="73"/>
                  </a:cxn>
                  <a:cxn ang="0">
                    <a:pos x="44" y="94"/>
                  </a:cxn>
                  <a:cxn ang="0">
                    <a:pos x="49" y="117"/>
                  </a:cxn>
                  <a:cxn ang="0">
                    <a:pos x="53" y="142"/>
                  </a:cxn>
                  <a:cxn ang="0">
                    <a:pos x="55" y="169"/>
                  </a:cxn>
                  <a:cxn ang="0">
                    <a:pos x="55" y="198"/>
                  </a:cxn>
                  <a:cxn ang="0">
                    <a:pos x="52" y="228"/>
                  </a:cxn>
                  <a:cxn ang="0">
                    <a:pos x="45" y="260"/>
                  </a:cxn>
                  <a:cxn ang="0">
                    <a:pos x="35" y="291"/>
                  </a:cxn>
                  <a:cxn ang="0">
                    <a:pos x="36" y="285"/>
                  </a:cxn>
                  <a:cxn ang="0">
                    <a:pos x="38" y="274"/>
                  </a:cxn>
                  <a:cxn ang="0">
                    <a:pos x="41" y="260"/>
                  </a:cxn>
                  <a:cxn ang="0">
                    <a:pos x="42" y="244"/>
                  </a:cxn>
                  <a:cxn ang="0">
                    <a:pos x="44" y="223"/>
                  </a:cxn>
                  <a:cxn ang="0">
                    <a:pos x="45" y="201"/>
                  </a:cxn>
                  <a:cxn ang="0">
                    <a:pos x="44" y="176"/>
                  </a:cxn>
                  <a:cxn ang="0">
                    <a:pos x="42" y="150"/>
                  </a:cxn>
                  <a:cxn ang="0">
                    <a:pos x="38" y="122"/>
                  </a:cxn>
                  <a:cxn ang="0">
                    <a:pos x="33" y="92"/>
                  </a:cxn>
                  <a:cxn ang="0">
                    <a:pos x="25" y="62"/>
                  </a:cxn>
                  <a:cxn ang="0">
                    <a:pos x="14" y="31"/>
                  </a:cxn>
                  <a:cxn ang="0">
                    <a:pos x="0" y="0"/>
                  </a:cxn>
                </a:cxnLst>
                <a:rect l="0" t="0" r="r" b="b"/>
                <a:pathLst>
                  <a:path w="55" h="293">
                    <a:moveTo>
                      <a:pt x="35" y="291"/>
                    </a:moveTo>
                    <a:lnTo>
                      <a:pt x="34" y="293"/>
                    </a:lnTo>
                    <a:lnTo>
                      <a:pt x="35" y="291"/>
                    </a:lnTo>
                    <a:close/>
                    <a:moveTo>
                      <a:pt x="0" y="0"/>
                    </a:moveTo>
                    <a:lnTo>
                      <a:pt x="1" y="1"/>
                    </a:lnTo>
                    <a:lnTo>
                      <a:pt x="4" y="6"/>
                    </a:lnTo>
                    <a:lnTo>
                      <a:pt x="9" y="14"/>
                    </a:lnTo>
                    <a:lnTo>
                      <a:pt x="16" y="25"/>
                    </a:lnTo>
                    <a:lnTo>
                      <a:pt x="23" y="38"/>
                    </a:lnTo>
                    <a:lnTo>
                      <a:pt x="30" y="54"/>
                    </a:lnTo>
                    <a:lnTo>
                      <a:pt x="37" y="73"/>
                    </a:lnTo>
                    <a:lnTo>
                      <a:pt x="44" y="94"/>
                    </a:lnTo>
                    <a:lnTo>
                      <a:pt x="49" y="117"/>
                    </a:lnTo>
                    <a:lnTo>
                      <a:pt x="53" y="142"/>
                    </a:lnTo>
                    <a:lnTo>
                      <a:pt x="55" y="169"/>
                    </a:lnTo>
                    <a:lnTo>
                      <a:pt x="55" y="198"/>
                    </a:lnTo>
                    <a:lnTo>
                      <a:pt x="52" y="228"/>
                    </a:lnTo>
                    <a:lnTo>
                      <a:pt x="45" y="260"/>
                    </a:lnTo>
                    <a:lnTo>
                      <a:pt x="35" y="291"/>
                    </a:lnTo>
                    <a:lnTo>
                      <a:pt x="36" y="285"/>
                    </a:lnTo>
                    <a:lnTo>
                      <a:pt x="38" y="274"/>
                    </a:lnTo>
                    <a:lnTo>
                      <a:pt x="41" y="260"/>
                    </a:lnTo>
                    <a:lnTo>
                      <a:pt x="42" y="244"/>
                    </a:lnTo>
                    <a:lnTo>
                      <a:pt x="44" y="223"/>
                    </a:lnTo>
                    <a:lnTo>
                      <a:pt x="45" y="201"/>
                    </a:lnTo>
                    <a:lnTo>
                      <a:pt x="44" y="176"/>
                    </a:lnTo>
                    <a:lnTo>
                      <a:pt x="42" y="150"/>
                    </a:lnTo>
                    <a:lnTo>
                      <a:pt x="38" y="122"/>
                    </a:lnTo>
                    <a:lnTo>
                      <a:pt x="33" y="92"/>
                    </a:lnTo>
                    <a:lnTo>
                      <a:pt x="25" y="62"/>
                    </a:lnTo>
                    <a:lnTo>
                      <a:pt x="1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2" name="Freeform 29">
                <a:extLst>
                  <a:ext uri="{FF2B5EF4-FFF2-40B4-BE49-F238E27FC236}">
                    <a16:creationId xmlns:a16="http://schemas.microsoft.com/office/drawing/2014/main" id="{F2253C08-3D07-211C-C644-BEA9A96E7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2288" y="1682750"/>
                <a:ext cx="409575" cy="303213"/>
              </a:xfrm>
              <a:custGeom>
                <a:avLst/>
                <a:gdLst/>
                <a:ahLst/>
                <a:cxnLst>
                  <a:cxn ang="0">
                    <a:pos x="208" y="0"/>
                  </a:cxn>
                  <a:cxn ang="0">
                    <a:pos x="210" y="1"/>
                  </a:cxn>
                  <a:cxn ang="0">
                    <a:pos x="219" y="10"/>
                  </a:cxn>
                  <a:cxn ang="0">
                    <a:pos x="225" y="17"/>
                  </a:cxn>
                  <a:cxn ang="0">
                    <a:pos x="232" y="26"/>
                  </a:cxn>
                  <a:cxn ang="0">
                    <a:pos x="240" y="36"/>
                  </a:cxn>
                  <a:cxn ang="0">
                    <a:pos x="247" y="48"/>
                  </a:cxn>
                  <a:cxn ang="0">
                    <a:pos x="253" y="61"/>
                  </a:cxn>
                  <a:cxn ang="0">
                    <a:pos x="257" y="74"/>
                  </a:cxn>
                  <a:cxn ang="0">
                    <a:pos x="258" y="88"/>
                  </a:cxn>
                  <a:cxn ang="0">
                    <a:pos x="257" y="102"/>
                  </a:cxn>
                  <a:cxn ang="0">
                    <a:pos x="252" y="118"/>
                  </a:cxn>
                  <a:cxn ang="0">
                    <a:pos x="243" y="133"/>
                  </a:cxn>
                  <a:cxn ang="0">
                    <a:pos x="229" y="148"/>
                  </a:cxn>
                  <a:cxn ang="0">
                    <a:pos x="212" y="162"/>
                  </a:cxn>
                  <a:cxn ang="0">
                    <a:pos x="192" y="173"/>
                  </a:cxn>
                  <a:cxn ang="0">
                    <a:pos x="171" y="181"/>
                  </a:cxn>
                  <a:cxn ang="0">
                    <a:pos x="149" y="187"/>
                  </a:cxn>
                  <a:cxn ang="0">
                    <a:pos x="127" y="191"/>
                  </a:cxn>
                  <a:cxn ang="0">
                    <a:pos x="104" y="191"/>
                  </a:cxn>
                  <a:cxn ang="0">
                    <a:pos x="83" y="191"/>
                  </a:cxn>
                  <a:cxn ang="0">
                    <a:pos x="62" y="188"/>
                  </a:cxn>
                  <a:cxn ang="0">
                    <a:pos x="43" y="183"/>
                  </a:cxn>
                  <a:cxn ang="0">
                    <a:pos x="26" y="178"/>
                  </a:cxn>
                  <a:cxn ang="0">
                    <a:pos x="11" y="171"/>
                  </a:cxn>
                  <a:cxn ang="0">
                    <a:pos x="0" y="163"/>
                  </a:cxn>
                  <a:cxn ang="0">
                    <a:pos x="2" y="163"/>
                  </a:cxn>
                  <a:cxn ang="0">
                    <a:pos x="9" y="164"/>
                  </a:cxn>
                  <a:cxn ang="0">
                    <a:pos x="18" y="165"/>
                  </a:cxn>
                  <a:cxn ang="0">
                    <a:pos x="30" y="165"/>
                  </a:cxn>
                  <a:cxn ang="0">
                    <a:pos x="45" y="165"/>
                  </a:cxn>
                  <a:cxn ang="0">
                    <a:pos x="61" y="165"/>
                  </a:cxn>
                  <a:cxn ang="0">
                    <a:pos x="79" y="162"/>
                  </a:cxn>
                  <a:cxn ang="0">
                    <a:pos x="98" y="158"/>
                  </a:cxn>
                  <a:cxn ang="0">
                    <a:pos x="116" y="152"/>
                  </a:cxn>
                  <a:cxn ang="0">
                    <a:pos x="133" y="143"/>
                  </a:cxn>
                  <a:cxn ang="0">
                    <a:pos x="150" y="132"/>
                  </a:cxn>
                  <a:cxn ang="0">
                    <a:pos x="165" y="118"/>
                  </a:cxn>
                  <a:cxn ang="0">
                    <a:pos x="163" y="119"/>
                  </a:cxn>
                  <a:cxn ang="0">
                    <a:pos x="158" y="120"/>
                  </a:cxn>
                  <a:cxn ang="0">
                    <a:pos x="149" y="121"/>
                  </a:cxn>
                  <a:cxn ang="0">
                    <a:pos x="138" y="122"/>
                  </a:cxn>
                  <a:cxn ang="0">
                    <a:pos x="124" y="122"/>
                  </a:cxn>
                  <a:cxn ang="0">
                    <a:pos x="110" y="120"/>
                  </a:cxn>
                  <a:cxn ang="0">
                    <a:pos x="96" y="116"/>
                  </a:cxn>
                  <a:cxn ang="0">
                    <a:pos x="82" y="109"/>
                  </a:cxn>
                  <a:cxn ang="0">
                    <a:pos x="69" y="99"/>
                  </a:cxn>
                  <a:cxn ang="0">
                    <a:pos x="75" y="99"/>
                  </a:cxn>
                  <a:cxn ang="0">
                    <a:pos x="82" y="98"/>
                  </a:cxn>
                  <a:cxn ang="0">
                    <a:pos x="91" y="98"/>
                  </a:cxn>
                  <a:cxn ang="0">
                    <a:pos x="102" y="97"/>
                  </a:cxn>
                  <a:cxn ang="0">
                    <a:pos x="114" y="94"/>
                  </a:cxn>
                  <a:cxn ang="0">
                    <a:pos x="127" y="91"/>
                  </a:cxn>
                  <a:cxn ang="0">
                    <a:pos x="140" y="87"/>
                  </a:cxn>
                  <a:cxn ang="0">
                    <a:pos x="153" y="82"/>
                  </a:cxn>
                  <a:cxn ang="0">
                    <a:pos x="166" y="76"/>
                  </a:cxn>
                  <a:cxn ang="0">
                    <a:pos x="178" y="68"/>
                  </a:cxn>
                  <a:cxn ang="0">
                    <a:pos x="188" y="58"/>
                  </a:cxn>
                  <a:cxn ang="0">
                    <a:pos x="197" y="46"/>
                  </a:cxn>
                  <a:cxn ang="0">
                    <a:pos x="203" y="33"/>
                  </a:cxn>
                  <a:cxn ang="0">
                    <a:pos x="207" y="18"/>
                  </a:cxn>
                  <a:cxn ang="0">
                    <a:pos x="208" y="0"/>
                  </a:cxn>
                </a:cxnLst>
                <a:rect l="0" t="0" r="r" b="b"/>
                <a:pathLst>
                  <a:path w="258" h="191">
                    <a:moveTo>
                      <a:pt x="208" y="0"/>
                    </a:moveTo>
                    <a:lnTo>
                      <a:pt x="210" y="1"/>
                    </a:lnTo>
                    <a:lnTo>
                      <a:pt x="219" y="10"/>
                    </a:lnTo>
                    <a:lnTo>
                      <a:pt x="225" y="17"/>
                    </a:lnTo>
                    <a:lnTo>
                      <a:pt x="232" y="26"/>
                    </a:lnTo>
                    <a:lnTo>
                      <a:pt x="240" y="36"/>
                    </a:lnTo>
                    <a:lnTo>
                      <a:pt x="247" y="48"/>
                    </a:lnTo>
                    <a:lnTo>
                      <a:pt x="253" y="61"/>
                    </a:lnTo>
                    <a:lnTo>
                      <a:pt x="257" y="74"/>
                    </a:lnTo>
                    <a:lnTo>
                      <a:pt x="258" y="88"/>
                    </a:lnTo>
                    <a:lnTo>
                      <a:pt x="257" y="102"/>
                    </a:lnTo>
                    <a:lnTo>
                      <a:pt x="252" y="118"/>
                    </a:lnTo>
                    <a:lnTo>
                      <a:pt x="243" y="133"/>
                    </a:lnTo>
                    <a:lnTo>
                      <a:pt x="229" y="148"/>
                    </a:lnTo>
                    <a:lnTo>
                      <a:pt x="212" y="162"/>
                    </a:lnTo>
                    <a:lnTo>
                      <a:pt x="192" y="173"/>
                    </a:lnTo>
                    <a:lnTo>
                      <a:pt x="171" y="181"/>
                    </a:lnTo>
                    <a:lnTo>
                      <a:pt x="149" y="187"/>
                    </a:lnTo>
                    <a:lnTo>
                      <a:pt x="127" y="191"/>
                    </a:lnTo>
                    <a:lnTo>
                      <a:pt x="104" y="191"/>
                    </a:lnTo>
                    <a:lnTo>
                      <a:pt x="83" y="191"/>
                    </a:lnTo>
                    <a:lnTo>
                      <a:pt x="62" y="188"/>
                    </a:lnTo>
                    <a:lnTo>
                      <a:pt x="43" y="183"/>
                    </a:lnTo>
                    <a:lnTo>
                      <a:pt x="26" y="178"/>
                    </a:lnTo>
                    <a:lnTo>
                      <a:pt x="11" y="171"/>
                    </a:lnTo>
                    <a:lnTo>
                      <a:pt x="0" y="163"/>
                    </a:lnTo>
                    <a:lnTo>
                      <a:pt x="2" y="163"/>
                    </a:lnTo>
                    <a:lnTo>
                      <a:pt x="9" y="164"/>
                    </a:lnTo>
                    <a:lnTo>
                      <a:pt x="18" y="165"/>
                    </a:lnTo>
                    <a:lnTo>
                      <a:pt x="30" y="165"/>
                    </a:lnTo>
                    <a:lnTo>
                      <a:pt x="45" y="165"/>
                    </a:lnTo>
                    <a:lnTo>
                      <a:pt x="61" y="165"/>
                    </a:lnTo>
                    <a:lnTo>
                      <a:pt x="79" y="162"/>
                    </a:lnTo>
                    <a:lnTo>
                      <a:pt x="98" y="158"/>
                    </a:lnTo>
                    <a:lnTo>
                      <a:pt x="116" y="152"/>
                    </a:lnTo>
                    <a:lnTo>
                      <a:pt x="133" y="143"/>
                    </a:lnTo>
                    <a:lnTo>
                      <a:pt x="150" y="132"/>
                    </a:lnTo>
                    <a:lnTo>
                      <a:pt x="165" y="118"/>
                    </a:lnTo>
                    <a:lnTo>
                      <a:pt x="163" y="119"/>
                    </a:lnTo>
                    <a:lnTo>
                      <a:pt x="158" y="120"/>
                    </a:lnTo>
                    <a:lnTo>
                      <a:pt x="149" y="121"/>
                    </a:lnTo>
                    <a:lnTo>
                      <a:pt x="138" y="122"/>
                    </a:lnTo>
                    <a:lnTo>
                      <a:pt x="124" y="122"/>
                    </a:lnTo>
                    <a:lnTo>
                      <a:pt x="110" y="120"/>
                    </a:lnTo>
                    <a:lnTo>
                      <a:pt x="96" y="116"/>
                    </a:lnTo>
                    <a:lnTo>
                      <a:pt x="82" y="109"/>
                    </a:lnTo>
                    <a:lnTo>
                      <a:pt x="69" y="99"/>
                    </a:lnTo>
                    <a:lnTo>
                      <a:pt x="75" y="99"/>
                    </a:lnTo>
                    <a:lnTo>
                      <a:pt x="82" y="98"/>
                    </a:lnTo>
                    <a:lnTo>
                      <a:pt x="91" y="98"/>
                    </a:lnTo>
                    <a:lnTo>
                      <a:pt x="102" y="97"/>
                    </a:lnTo>
                    <a:lnTo>
                      <a:pt x="114" y="94"/>
                    </a:lnTo>
                    <a:lnTo>
                      <a:pt x="127" y="91"/>
                    </a:lnTo>
                    <a:lnTo>
                      <a:pt x="140" y="87"/>
                    </a:lnTo>
                    <a:lnTo>
                      <a:pt x="153" y="82"/>
                    </a:lnTo>
                    <a:lnTo>
                      <a:pt x="166" y="76"/>
                    </a:lnTo>
                    <a:lnTo>
                      <a:pt x="178" y="68"/>
                    </a:lnTo>
                    <a:lnTo>
                      <a:pt x="188" y="58"/>
                    </a:lnTo>
                    <a:lnTo>
                      <a:pt x="197" y="46"/>
                    </a:lnTo>
                    <a:lnTo>
                      <a:pt x="203" y="33"/>
                    </a:lnTo>
                    <a:lnTo>
                      <a:pt x="207" y="1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36363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B956371-1282-22D9-09DA-EEC394A0DE0E}"/>
                </a:ext>
              </a:extLst>
            </p:cNvPr>
            <p:cNvSpPr/>
            <p:nvPr/>
          </p:nvSpPr>
          <p:spPr>
            <a:xfrm>
              <a:off x="4446428" y="5487640"/>
              <a:ext cx="2011680" cy="270141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7000">
                  <a:schemeClr val="tx1">
                    <a:lumMod val="65000"/>
                    <a:lumOff val="35000"/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sz="1800" kern="0">
                <a:solidFill>
                  <a:sysClr val="window" lastClr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864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2D32-CFCE-8871-B9C2-90B6A1B29AAB}"/>
              </a:ext>
            </a:extLst>
          </p:cNvPr>
          <p:cNvSpPr txBox="1">
            <a:spLocks/>
          </p:cNvSpPr>
          <p:nvPr/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</a:t>
            </a:r>
            <a:endParaRPr lang="en-IN" b="1" i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28572AF5-4325-39D7-436B-876ABCF2D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91" y="423696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3DD16A34-2A13-225C-B5CD-89735FE96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91" y="4236969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0740EF3C-29A1-9AE3-F11E-A3CB25060B0C}"/>
              </a:ext>
            </a:extLst>
          </p:cNvPr>
          <p:cNvSpPr>
            <a:spLocks/>
          </p:cNvSpPr>
          <p:nvPr/>
        </p:nvSpPr>
        <p:spPr bwMode="auto">
          <a:xfrm>
            <a:off x="2208118" y="2543730"/>
            <a:ext cx="2972818" cy="1265606"/>
          </a:xfrm>
          <a:custGeom>
            <a:avLst/>
            <a:gdLst>
              <a:gd name="T0" fmla="*/ 2386 w 2722"/>
              <a:gd name="T1" fmla="*/ 0 h 1161"/>
              <a:gd name="T2" fmla="*/ 25 w 2722"/>
              <a:gd name="T3" fmla="*/ 971 h 1161"/>
              <a:gd name="T4" fmla="*/ 0 w 2722"/>
              <a:gd name="T5" fmla="*/ 1066 h 1161"/>
              <a:gd name="T6" fmla="*/ 2722 w 2722"/>
              <a:gd name="T7" fmla="*/ 639 h 1161"/>
              <a:gd name="T8" fmla="*/ 2386 w 2722"/>
              <a:gd name="T9" fmla="*/ 0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22" h="1161">
                <a:moveTo>
                  <a:pt x="2386" y="0"/>
                </a:moveTo>
                <a:cubicBezTo>
                  <a:pt x="2386" y="0"/>
                  <a:pt x="1116" y="1031"/>
                  <a:pt x="25" y="971"/>
                </a:cubicBezTo>
                <a:cubicBezTo>
                  <a:pt x="0" y="1066"/>
                  <a:pt x="0" y="1066"/>
                  <a:pt x="0" y="1066"/>
                </a:cubicBezTo>
                <a:cubicBezTo>
                  <a:pt x="0" y="1066"/>
                  <a:pt x="756" y="1161"/>
                  <a:pt x="2722" y="639"/>
                </a:cubicBezTo>
                <a:lnTo>
                  <a:pt x="2386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3C0FC1B5-2F1D-7DFE-04A7-DFC0EC405C63}"/>
              </a:ext>
            </a:extLst>
          </p:cNvPr>
          <p:cNvSpPr>
            <a:spLocks/>
          </p:cNvSpPr>
          <p:nvPr/>
        </p:nvSpPr>
        <p:spPr bwMode="auto">
          <a:xfrm>
            <a:off x="2208118" y="3846341"/>
            <a:ext cx="2972818" cy="1265606"/>
          </a:xfrm>
          <a:custGeom>
            <a:avLst/>
            <a:gdLst>
              <a:gd name="T0" fmla="*/ 2386 w 2722"/>
              <a:gd name="T1" fmla="*/ 1161 h 1161"/>
              <a:gd name="T2" fmla="*/ 25 w 2722"/>
              <a:gd name="T3" fmla="*/ 191 h 1161"/>
              <a:gd name="T4" fmla="*/ 0 w 2722"/>
              <a:gd name="T5" fmla="*/ 95 h 1161"/>
              <a:gd name="T6" fmla="*/ 2722 w 2722"/>
              <a:gd name="T7" fmla="*/ 523 h 1161"/>
              <a:gd name="T8" fmla="*/ 2386 w 2722"/>
              <a:gd name="T9" fmla="*/ 1161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22" h="1161">
                <a:moveTo>
                  <a:pt x="2386" y="1161"/>
                </a:moveTo>
                <a:cubicBezTo>
                  <a:pt x="2386" y="1161"/>
                  <a:pt x="1116" y="131"/>
                  <a:pt x="25" y="191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95"/>
                  <a:pt x="756" y="0"/>
                  <a:pt x="2722" y="523"/>
                </a:cubicBezTo>
                <a:lnTo>
                  <a:pt x="2386" y="1161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62B943D6-AF07-3760-F0CE-3E5F8D098E9A}"/>
              </a:ext>
            </a:extLst>
          </p:cNvPr>
          <p:cNvSpPr>
            <a:spLocks/>
          </p:cNvSpPr>
          <p:nvPr/>
        </p:nvSpPr>
        <p:spPr bwMode="auto">
          <a:xfrm>
            <a:off x="2346274" y="3428846"/>
            <a:ext cx="3596987" cy="838803"/>
          </a:xfrm>
          <a:custGeom>
            <a:avLst/>
            <a:gdLst>
              <a:gd name="T0" fmla="*/ 3293 w 3293"/>
              <a:gd name="T1" fmla="*/ 0 h 769"/>
              <a:gd name="T2" fmla="*/ 0 w 3293"/>
              <a:gd name="T3" fmla="*/ 339 h 769"/>
              <a:gd name="T4" fmla="*/ 0 w 3293"/>
              <a:gd name="T5" fmla="*/ 424 h 769"/>
              <a:gd name="T6" fmla="*/ 3293 w 3293"/>
              <a:gd name="T7" fmla="*/ 769 h 769"/>
              <a:gd name="T8" fmla="*/ 3293 w 3293"/>
              <a:gd name="T9" fmla="*/ 0 h 7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93" h="769">
                <a:moveTo>
                  <a:pt x="3293" y="0"/>
                </a:moveTo>
                <a:cubicBezTo>
                  <a:pt x="3293" y="0"/>
                  <a:pt x="1091" y="438"/>
                  <a:pt x="0" y="339"/>
                </a:cubicBezTo>
                <a:cubicBezTo>
                  <a:pt x="0" y="424"/>
                  <a:pt x="0" y="424"/>
                  <a:pt x="0" y="424"/>
                </a:cubicBezTo>
                <a:cubicBezTo>
                  <a:pt x="0" y="424"/>
                  <a:pt x="1384" y="477"/>
                  <a:pt x="3293" y="769"/>
                </a:cubicBezTo>
                <a:lnTo>
                  <a:pt x="3293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4F4ACAA-524D-AE1F-F62A-6E2EF9232C58}"/>
              </a:ext>
            </a:extLst>
          </p:cNvPr>
          <p:cNvSpPr>
            <a:spLocks/>
          </p:cNvSpPr>
          <p:nvPr/>
        </p:nvSpPr>
        <p:spPr bwMode="auto">
          <a:xfrm>
            <a:off x="2235256" y="1744399"/>
            <a:ext cx="2220362" cy="1872505"/>
          </a:xfrm>
          <a:custGeom>
            <a:avLst/>
            <a:gdLst>
              <a:gd name="T0" fmla="*/ 1281 w 2033"/>
              <a:gd name="T1" fmla="*/ 0 h 1719"/>
              <a:gd name="T2" fmla="*/ 0 w 2033"/>
              <a:gd name="T3" fmla="*/ 1528 h 1719"/>
              <a:gd name="T4" fmla="*/ 0 w 2033"/>
              <a:gd name="T5" fmla="*/ 1641 h 1719"/>
              <a:gd name="T6" fmla="*/ 2033 w 2033"/>
              <a:gd name="T7" fmla="*/ 310 h 1719"/>
              <a:gd name="T8" fmla="*/ 1281 w 2033"/>
              <a:gd name="T9" fmla="*/ 0 h 1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3" h="1719">
                <a:moveTo>
                  <a:pt x="1281" y="0"/>
                </a:moveTo>
                <a:cubicBezTo>
                  <a:pt x="1281" y="0"/>
                  <a:pt x="822" y="1383"/>
                  <a:pt x="0" y="1528"/>
                </a:cubicBezTo>
                <a:cubicBezTo>
                  <a:pt x="0" y="1641"/>
                  <a:pt x="0" y="1641"/>
                  <a:pt x="0" y="1641"/>
                </a:cubicBezTo>
                <a:cubicBezTo>
                  <a:pt x="0" y="1641"/>
                  <a:pt x="1182" y="1719"/>
                  <a:pt x="2033" y="31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EF4AD62-C992-135E-1952-CE62BB1ED009}"/>
              </a:ext>
            </a:extLst>
          </p:cNvPr>
          <p:cNvSpPr>
            <a:spLocks/>
          </p:cNvSpPr>
          <p:nvPr/>
        </p:nvSpPr>
        <p:spPr bwMode="auto">
          <a:xfrm>
            <a:off x="2235256" y="4041240"/>
            <a:ext cx="2220362" cy="1871272"/>
          </a:xfrm>
          <a:custGeom>
            <a:avLst/>
            <a:gdLst>
              <a:gd name="T0" fmla="*/ 1281 w 2033"/>
              <a:gd name="T1" fmla="*/ 1718 h 1718"/>
              <a:gd name="T2" fmla="*/ 0 w 2033"/>
              <a:gd name="T3" fmla="*/ 190 h 1718"/>
              <a:gd name="T4" fmla="*/ 0 w 2033"/>
              <a:gd name="T5" fmla="*/ 77 h 1718"/>
              <a:gd name="T6" fmla="*/ 2033 w 2033"/>
              <a:gd name="T7" fmla="*/ 1408 h 1718"/>
              <a:gd name="T8" fmla="*/ 1281 w 2033"/>
              <a:gd name="T9" fmla="*/ 1718 h 17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3" h="1718">
                <a:moveTo>
                  <a:pt x="1281" y="1718"/>
                </a:moveTo>
                <a:cubicBezTo>
                  <a:pt x="1281" y="1718"/>
                  <a:pt x="822" y="335"/>
                  <a:pt x="0" y="190"/>
                </a:cubicBezTo>
                <a:cubicBezTo>
                  <a:pt x="0" y="77"/>
                  <a:pt x="0" y="77"/>
                  <a:pt x="0" y="77"/>
                </a:cubicBezTo>
                <a:cubicBezTo>
                  <a:pt x="0" y="77"/>
                  <a:pt x="1182" y="0"/>
                  <a:pt x="2033" y="1408"/>
                </a:cubicBezTo>
                <a:lnTo>
                  <a:pt x="1281" y="1718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FA2233-1861-4A95-9561-F4531B7B0D99}"/>
              </a:ext>
            </a:extLst>
          </p:cNvPr>
          <p:cNvSpPr/>
          <p:nvPr/>
        </p:nvSpPr>
        <p:spPr>
          <a:xfrm>
            <a:off x="3542428" y="1336967"/>
            <a:ext cx="1005560" cy="100556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  <a:effectLst>
            <a:outerShdw blurRad="2794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5EC8FF-51E0-6218-735A-CB42EBBC64BB}"/>
              </a:ext>
            </a:extLst>
          </p:cNvPr>
          <p:cNvSpPr txBox="1"/>
          <p:nvPr/>
        </p:nvSpPr>
        <p:spPr>
          <a:xfrm>
            <a:off x="4827435" y="1448644"/>
            <a:ext cx="1813460" cy="70788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r>
              <a:rPr lang="en-IN" sz="2000" b="1" u="sng" dirty="0">
                <a:solidFill>
                  <a:schemeClr val="tx2">
                    <a:lumMod val="40000"/>
                    <a:lumOff val="60000"/>
                  </a:schemeClr>
                </a:solidFill>
              </a:rPr>
              <a:t>Better Weapon Choices</a:t>
            </a:r>
            <a:endParaRPr lang="en-IN" sz="2000" b="1" u="sng" dirty="0">
              <a:solidFill>
                <a:schemeClr val="tx2">
                  <a:lumMod val="40000"/>
                  <a:lumOff val="6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3523D5-1769-1BF4-98A8-8A5745E506AE}"/>
              </a:ext>
            </a:extLst>
          </p:cNvPr>
          <p:cNvSpPr txBox="1"/>
          <p:nvPr/>
        </p:nvSpPr>
        <p:spPr>
          <a:xfrm>
            <a:off x="5954508" y="2454207"/>
            <a:ext cx="1776262" cy="646331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r>
              <a:rPr lang="en-IN" b="1" u="sng" dirty="0">
                <a:solidFill>
                  <a:srgbClr val="FF0000"/>
                </a:solidFill>
              </a:rPr>
              <a:t>Improved Efficiency</a:t>
            </a:r>
            <a:endParaRPr lang="en-IN" u="sng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652C37-7E66-D6BE-B113-3ED6191175CB}"/>
              </a:ext>
            </a:extLst>
          </p:cNvPr>
          <p:cNvSpPr txBox="1"/>
          <p:nvPr/>
        </p:nvSpPr>
        <p:spPr>
          <a:xfrm>
            <a:off x="6964243" y="3549156"/>
            <a:ext cx="1517685" cy="70788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r>
              <a:rPr lang="en-IN" sz="2000" b="1" u="sng" dirty="0">
                <a:solidFill>
                  <a:srgbClr val="92D050"/>
                </a:solidFill>
              </a:rPr>
              <a:t>Ethical Challenges</a:t>
            </a:r>
            <a:endParaRPr lang="en-IN" sz="2000" b="1" u="sng" dirty="0">
              <a:solidFill>
                <a:srgbClr val="92D05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817D29-FC92-2DCE-C9E2-7CB40CB355D0}"/>
              </a:ext>
            </a:extLst>
          </p:cNvPr>
          <p:cNvSpPr txBox="1"/>
          <p:nvPr/>
        </p:nvSpPr>
        <p:spPr>
          <a:xfrm>
            <a:off x="5954508" y="4623165"/>
            <a:ext cx="1776262" cy="70788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r>
              <a:rPr lang="en-IN" sz="2000" b="1" u="sng" dirty="0">
                <a:solidFill>
                  <a:srgbClr val="7030A0"/>
                </a:solidFill>
              </a:rPr>
              <a:t>Transparency &amp; Oversight</a:t>
            </a:r>
            <a:endParaRPr lang="en-IN" sz="2000" b="1" u="sng" dirty="0">
              <a:solidFill>
                <a:srgbClr val="7030A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BF0F46-DADD-A65A-9B42-818362361046}"/>
              </a:ext>
            </a:extLst>
          </p:cNvPr>
          <p:cNvSpPr txBox="1"/>
          <p:nvPr/>
        </p:nvSpPr>
        <p:spPr>
          <a:xfrm>
            <a:off x="4827435" y="5476633"/>
            <a:ext cx="1517685" cy="707886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r>
              <a:rPr lang="en-IN" sz="2000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Regulations Needed</a:t>
            </a:r>
            <a:endParaRPr lang="en-IN" sz="2000" b="1" u="sng" dirty="0">
              <a:solidFill>
                <a:schemeClr val="accent5">
                  <a:lumMod val="60000"/>
                  <a:lumOff val="4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3C01BA6-6C46-82C8-241C-EEAB59A9D4B3}"/>
              </a:ext>
            </a:extLst>
          </p:cNvPr>
          <p:cNvGrpSpPr/>
          <p:nvPr/>
        </p:nvGrpSpPr>
        <p:grpSpPr>
          <a:xfrm>
            <a:off x="1280940" y="3114397"/>
            <a:ext cx="1467700" cy="1467701"/>
            <a:chOff x="1280940" y="3114397"/>
            <a:chExt cx="1467700" cy="146770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1254F0-3678-2ACD-8666-CA20856F61C8}"/>
                </a:ext>
              </a:extLst>
            </p:cNvPr>
            <p:cNvSpPr/>
            <p:nvPr/>
          </p:nvSpPr>
          <p:spPr>
            <a:xfrm>
              <a:off x="1280940" y="3114397"/>
              <a:ext cx="1467700" cy="146770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57150">
              <a:solidFill>
                <a:schemeClr val="bg1"/>
              </a:solidFill>
            </a:ln>
            <a:effectLst>
              <a:outerShdw blurRad="279400" dir="5400000" algn="t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958A62-8200-D9B3-0DCF-927E7F274436}"/>
                </a:ext>
              </a:extLst>
            </p:cNvPr>
            <p:cNvSpPr/>
            <p:nvPr/>
          </p:nvSpPr>
          <p:spPr>
            <a:xfrm>
              <a:off x="1608006" y="3209904"/>
              <a:ext cx="789775" cy="64112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40000"/>
                  </a:schemeClr>
                </a:gs>
                <a:gs pos="90000">
                  <a:schemeClr val="bg1">
                    <a:lumMod val="8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FDB0C1E0-18E1-75FD-9B27-E2A045619C5C}"/>
              </a:ext>
            </a:extLst>
          </p:cNvPr>
          <p:cNvSpPr/>
          <p:nvPr/>
        </p:nvSpPr>
        <p:spPr>
          <a:xfrm>
            <a:off x="3734449" y="1429688"/>
            <a:ext cx="608558" cy="494014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40000"/>
                </a:schemeClr>
              </a:gs>
              <a:gs pos="90000">
                <a:schemeClr val="bg1">
                  <a:lumMod val="8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C8AACB0-FD03-2B0A-404A-C9EDDC70BA0B}"/>
              </a:ext>
            </a:extLst>
          </p:cNvPr>
          <p:cNvGrpSpPr/>
          <p:nvPr/>
        </p:nvGrpSpPr>
        <p:grpSpPr>
          <a:xfrm>
            <a:off x="4619789" y="2281866"/>
            <a:ext cx="1005560" cy="1005560"/>
            <a:chOff x="4619789" y="2281866"/>
            <a:chExt cx="1005560" cy="100556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BF1C9FB-6551-4B65-7F3E-D3C832F7AA21}"/>
                </a:ext>
              </a:extLst>
            </p:cNvPr>
            <p:cNvSpPr/>
            <p:nvPr/>
          </p:nvSpPr>
          <p:spPr>
            <a:xfrm>
              <a:off x="4619789" y="2281866"/>
              <a:ext cx="1005560" cy="100556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chemeClr val="bg1"/>
              </a:solidFill>
            </a:ln>
            <a:effectLst>
              <a:outerShdw blurRad="279400" dir="5400000" algn="t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A9A1455-9521-7021-BF05-A02FF54E108B}"/>
                </a:ext>
              </a:extLst>
            </p:cNvPr>
            <p:cNvSpPr/>
            <p:nvPr/>
          </p:nvSpPr>
          <p:spPr>
            <a:xfrm>
              <a:off x="4821378" y="2378594"/>
              <a:ext cx="608558" cy="49401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40000"/>
                  </a:schemeClr>
                </a:gs>
                <a:gs pos="90000">
                  <a:schemeClr val="bg1">
                    <a:lumMod val="8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B369BB-ECF9-AF8D-B3DE-23766B815C5D}"/>
              </a:ext>
            </a:extLst>
          </p:cNvPr>
          <p:cNvGrpSpPr/>
          <p:nvPr/>
        </p:nvGrpSpPr>
        <p:grpSpPr>
          <a:xfrm>
            <a:off x="5635335" y="3345468"/>
            <a:ext cx="1005560" cy="1005560"/>
            <a:chOff x="5635335" y="3345468"/>
            <a:chExt cx="1005560" cy="100556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C25BA42-EA46-7237-EE63-557D2CD4A83C}"/>
                </a:ext>
              </a:extLst>
            </p:cNvPr>
            <p:cNvSpPr/>
            <p:nvPr/>
          </p:nvSpPr>
          <p:spPr>
            <a:xfrm>
              <a:off x="5635335" y="3345468"/>
              <a:ext cx="1005560" cy="100556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57150">
              <a:solidFill>
                <a:schemeClr val="bg1"/>
              </a:solidFill>
            </a:ln>
            <a:effectLst>
              <a:outerShdw blurRad="279400" dir="5400000" algn="t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1A5FD2C-8800-81C6-0AF5-4C2BD9797F4D}"/>
                </a:ext>
              </a:extLst>
            </p:cNvPr>
            <p:cNvSpPr/>
            <p:nvPr/>
          </p:nvSpPr>
          <p:spPr>
            <a:xfrm>
              <a:off x="5822042" y="3439643"/>
              <a:ext cx="608558" cy="49401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40000"/>
                  </a:schemeClr>
                </a:gs>
                <a:gs pos="90000">
                  <a:schemeClr val="bg1">
                    <a:lumMod val="8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260B3EF-5B1D-16DA-DC7A-0D091E0347CC}"/>
              </a:ext>
            </a:extLst>
          </p:cNvPr>
          <p:cNvGrpSpPr/>
          <p:nvPr/>
        </p:nvGrpSpPr>
        <p:grpSpPr>
          <a:xfrm>
            <a:off x="4619789" y="4383602"/>
            <a:ext cx="1005560" cy="1005560"/>
            <a:chOff x="4619789" y="4383602"/>
            <a:chExt cx="1005560" cy="100556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24A20ED-1B3C-4BEF-E092-E3DC935F211F}"/>
                </a:ext>
              </a:extLst>
            </p:cNvPr>
            <p:cNvSpPr/>
            <p:nvPr/>
          </p:nvSpPr>
          <p:spPr>
            <a:xfrm>
              <a:off x="4619789" y="4383602"/>
              <a:ext cx="1005560" cy="100556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7150">
              <a:solidFill>
                <a:schemeClr val="bg1"/>
              </a:solidFill>
            </a:ln>
            <a:effectLst>
              <a:outerShdw blurRad="279400" dir="5400000" algn="t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980CB4A-ED2A-6B78-410D-D2B76E71F341}"/>
                </a:ext>
              </a:extLst>
            </p:cNvPr>
            <p:cNvSpPr/>
            <p:nvPr/>
          </p:nvSpPr>
          <p:spPr>
            <a:xfrm>
              <a:off x="4821378" y="4483439"/>
              <a:ext cx="608558" cy="49401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40000"/>
                  </a:schemeClr>
                </a:gs>
                <a:gs pos="90000">
                  <a:schemeClr val="bg1">
                    <a:lumMod val="8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114037F-7DCC-EB78-C6D9-331AB23DE63F}"/>
              </a:ext>
            </a:extLst>
          </p:cNvPr>
          <p:cNvGrpSpPr/>
          <p:nvPr/>
        </p:nvGrpSpPr>
        <p:grpSpPr>
          <a:xfrm>
            <a:off x="3542428" y="5231361"/>
            <a:ext cx="1005560" cy="1005560"/>
            <a:chOff x="3542428" y="5231361"/>
            <a:chExt cx="1005560" cy="100556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A74EC4D-6A5C-0161-A057-3F8D80AD34A0}"/>
                </a:ext>
              </a:extLst>
            </p:cNvPr>
            <p:cNvSpPr/>
            <p:nvPr/>
          </p:nvSpPr>
          <p:spPr>
            <a:xfrm>
              <a:off x="3542428" y="5231361"/>
              <a:ext cx="1005560" cy="100556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57150">
              <a:solidFill>
                <a:schemeClr val="bg1"/>
              </a:solidFill>
            </a:ln>
            <a:effectLst>
              <a:outerShdw blurRad="279400" dir="5400000" algn="t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7544751-F58A-BADD-4FC5-8680A2D8AA7E}"/>
                </a:ext>
              </a:extLst>
            </p:cNvPr>
            <p:cNvSpPr/>
            <p:nvPr/>
          </p:nvSpPr>
          <p:spPr>
            <a:xfrm>
              <a:off x="3751702" y="5320201"/>
              <a:ext cx="608558" cy="49401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40000"/>
                  </a:schemeClr>
                </a:gs>
                <a:gs pos="90000">
                  <a:schemeClr val="bg1">
                    <a:lumMod val="8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07DEB78-696A-7082-C56C-033F65F17169}"/>
              </a:ext>
            </a:extLst>
          </p:cNvPr>
          <p:cNvSpPr/>
          <p:nvPr/>
        </p:nvSpPr>
        <p:spPr>
          <a:xfrm>
            <a:off x="6315328" y="731192"/>
            <a:ext cx="2296278" cy="923330"/>
          </a:xfrm>
          <a:prstGeom prst="rect">
            <a:avLst/>
          </a:prstGeom>
        </p:spPr>
        <p:txBody>
          <a:bodyPr wrap="square" lIns="0" rIns="0" anchor="ctr">
            <a:spAutoFit/>
          </a:bodyPr>
          <a:lstStyle/>
          <a:p>
            <a:r>
              <a:rPr lang="en-US" b="1" dirty="0"/>
              <a:t>AI enhances weapon selection with precision and speed.</a:t>
            </a:r>
            <a:endParaRPr lang="en-IN" b="1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454301-CB05-0485-F240-4B36BE5B67CB}"/>
              </a:ext>
            </a:extLst>
          </p:cNvPr>
          <p:cNvSpPr/>
          <p:nvPr/>
        </p:nvSpPr>
        <p:spPr>
          <a:xfrm>
            <a:off x="7178800" y="2029265"/>
            <a:ext cx="2296278" cy="1015663"/>
          </a:xfrm>
          <a:prstGeom prst="rect">
            <a:avLst/>
          </a:prstGeom>
        </p:spPr>
        <p:txBody>
          <a:bodyPr wrap="square" lIns="0" rIns="0" anchor="ctr">
            <a:spAutoFit/>
          </a:bodyPr>
          <a:lstStyle/>
          <a:p>
            <a:r>
              <a:rPr lang="en-US" sz="2000" b="1" dirty="0"/>
              <a:t>AI automates tasks, boosting defense operations.</a:t>
            </a:r>
            <a:endParaRPr lang="en-IN" sz="2000" b="1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747536-7016-F20D-5E49-3B1FBCDB5093}"/>
              </a:ext>
            </a:extLst>
          </p:cNvPr>
          <p:cNvSpPr/>
          <p:nvPr/>
        </p:nvSpPr>
        <p:spPr>
          <a:xfrm>
            <a:off x="8379451" y="3217369"/>
            <a:ext cx="2296278" cy="1015663"/>
          </a:xfrm>
          <a:prstGeom prst="rect">
            <a:avLst/>
          </a:prstGeom>
        </p:spPr>
        <p:txBody>
          <a:bodyPr wrap="square" lIns="0" rIns="0" anchor="ctr">
            <a:spAutoFit/>
          </a:bodyPr>
          <a:lstStyle/>
          <a:p>
            <a:r>
              <a:rPr lang="en-US" sz="2000" b="1" dirty="0"/>
              <a:t>Accountability, bias, and human control are key concerns.</a:t>
            </a:r>
            <a:endParaRPr lang="en-IN" sz="2000" b="1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DE6CBF-5D65-4927-67D0-4CCBC311B511}"/>
              </a:ext>
            </a:extLst>
          </p:cNvPr>
          <p:cNvSpPr/>
          <p:nvPr/>
        </p:nvSpPr>
        <p:spPr>
          <a:xfrm>
            <a:off x="7723085" y="4315388"/>
            <a:ext cx="2296278" cy="1323439"/>
          </a:xfrm>
          <a:prstGeom prst="rect">
            <a:avLst/>
          </a:prstGeom>
        </p:spPr>
        <p:txBody>
          <a:bodyPr wrap="square" lIns="0" rIns="0" anchor="ctr">
            <a:spAutoFit/>
          </a:bodyPr>
          <a:lstStyle/>
          <a:p>
            <a:r>
              <a:rPr lang="en-US" sz="2000" b="1" dirty="0"/>
              <a:t>Clear algorithms and human oversight are crucial for responsible AI use.</a:t>
            </a:r>
            <a:endParaRPr lang="en-IN" sz="2000" b="1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2CA5AA-8EAD-2E54-4F8C-2240096F03DC}"/>
              </a:ext>
            </a:extLst>
          </p:cNvPr>
          <p:cNvSpPr/>
          <p:nvPr/>
        </p:nvSpPr>
        <p:spPr>
          <a:xfrm>
            <a:off x="6242605" y="5729089"/>
            <a:ext cx="2296278" cy="1015663"/>
          </a:xfrm>
          <a:prstGeom prst="rect">
            <a:avLst/>
          </a:prstGeom>
        </p:spPr>
        <p:txBody>
          <a:bodyPr wrap="square" lIns="0" rIns="0" anchor="ctr">
            <a:spAutoFit/>
          </a:bodyPr>
          <a:lstStyle/>
          <a:p>
            <a:r>
              <a:rPr lang="en-US" sz="2000" b="1" dirty="0"/>
              <a:t>Strong guidelines are essential to govern AI in defense.</a:t>
            </a:r>
            <a:endParaRPr lang="en-IN" sz="2000" b="1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D8E7C5B-6DC6-BFD6-1A25-C80AA73D4852}"/>
              </a:ext>
            </a:extLst>
          </p:cNvPr>
          <p:cNvGrpSpPr/>
          <p:nvPr/>
        </p:nvGrpSpPr>
        <p:grpSpPr>
          <a:xfrm>
            <a:off x="1692780" y="3603210"/>
            <a:ext cx="644020" cy="490074"/>
            <a:chOff x="1651000" y="3603625"/>
            <a:chExt cx="723901" cy="550863"/>
          </a:xfrm>
          <a:solidFill>
            <a:schemeClr val="bg1">
              <a:lumMod val="75000"/>
            </a:schemeClr>
          </a:solidFill>
        </p:grpSpPr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3D8FC06D-D2E3-2E73-034C-4CC512178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1000" y="3676650"/>
              <a:ext cx="303213" cy="477838"/>
            </a:xfrm>
            <a:custGeom>
              <a:avLst/>
              <a:gdLst>
                <a:gd name="T0" fmla="*/ 1411 w 2250"/>
                <a:gd name="T1" fmla="*/ 2772 h 3570"/>
                <a:gd name="T2" fmla="*/ 1872 w 2250"/>
                <a:gd name="T3" fmla="*/ 2520 h 3570"/>
                <a:gd name="T4" fmla="*/ 1877 w 2250"/>
                <a:gd name="T5" fmla="*/ 2518 h 3570"/>
                <a:gd name="T6" fmla="*/ 2103 w 2250"/>
                <a:gd name="T7" fmla="*/ 2394 h 3570"/>
                <a:gd name="T8" fmla="*/ 2250 w 2250"/>
                <a:gd name="T9" fmla="*/ 2146 h 3570"/>
                <a:gd name="T10" fmla="*/ 2250 w 2250"/>
                <a:gd name="T11" fmla="*/ 1863 h 3570"/>
                <a:gd name="T12" fmla="*/ 2088 w 2250"/>
                <a:gd name="T13" fmla="*/ 1605 h 3570"/>
                <a:gd name="T14" fmla="*/ 2088 w 2250"/>
                <a:gd name="T15" fmla="*/ 1605 h 3570"/>
                <a:gd name="T16" fmla="*/ 2088 w 2250"/>
                <a:gd name="T17" fmla="*/ 1605 h 3570"/>
                <a:gd name="T18" fmla="*/ 2057 w 2250"/>
                <a:gd name="T19" fmla="*/ 1539 h 3570"/>
                <a:gd name="T20" fmla="*/ 2053 w 2250"/>
                <a:gd name="T21" fmla="*/ 1530 h 3570"/>
                <a:gd name="T22" fmla="*/ 2023 w 2250"/>
                <a:gd name="T23" fmla="*/ 1456 h 3570"/>
                <a:gd name="T24" fmla="*/ 2021 w 2250"/>
                <a:gd name="T25" fmla="*/ 1451 h 3570"/>
                <a:gd name="T26" fmla="*/ 1997 w 2250"/>
                <a:gd name="T27" fmla="*/ 1382 h 3570"/>
                <a:gd name="T28" fmla="*/ 1991 w 2250"/>
                <a:gd name="T29" fmla="*/ 1362 h 3570"/>
                <a:gd name="T30" fmla="*/ 1970 w 2250"/>
                <a:gd name="T31" fmla="*/ 1282 h 3570"/>
                <a:gd name="T32" fmla="*/ 1863 w 2250"/>
                <a:gd name="T33" fmla="*/ 1087 h 3570"/>
                <a:gd name="T34" fmla="*/ 1863 w 2250"/>
                <a:gd name="T35" fmla="*/ 776 h 3570"/>
                <a:gd name="T36" fmla="*/ 1940 w 2250"/>
                <a:gd name="T37" fmla="*/ 604 h 3570"/>
                <a:gd name="T38" fmla="*/ 1940 w 2250"/>
                <a:gd name="T39" fmla="*/ 166 h 3570"/>
                <a:gd name="T40" fmla="*/ 1397 w 2250"/>
                <a:gd name="T41" fmla="*/ 0 h 3570"/>
                <a:gd name="T42" fmla="*/ 621 w 2250"/>
                <a:gd name="T43" fmla="*/ 621 h 3570"/>
                <a:gd name="T44" fmla="*/ 621 w 2250"/>
                <a:gd name="T45" fmla="*/ 1009 h 3570"/>
                <a:gd name="T46" fmla="*/ 543 w 2250"/>
                <a:gd name="T47" fmla="*/ 1157 h 3570"/>
                <a:gd name="T48" fmla="*/ 543 w 2250"/>
                <a:gd name="T49" fmla="*/ 1425 h 3570"/>
                <a:gd name="T50" fmla="*/ 636 w 2250"/>
                <a:gd name="T51" fmla="*/ 1594 h 3570"/>
                <a:gd name="T52" fmla="*/ 928 w 2250"/>
                <a:gd name="T53" fmla="*/ 2096 h 3570"/>
                <a:gd name="T54" fmla="*/ 928 w 2250"/>
                <a:gd name="T55" fmla="*/ 2340 h 3570"/>
                <a:gd name="T56" fmla="*/ 801 w 2250"/>
                <a:gd name="T57" fmla="*/ 2555 h 3570"/>
                <a:gd name="T58" fmla="*/ 280 w 2250"/>
                <a:gd name="T59" fmla="*/ 2881 h 3570"/>
                <a:gd name="T60" fmla="*/ 0 w 2250"/>
                <a:gd name="T61" fmla="*/ 3353 h 3570"/>
                <a:gd name="T62" fmla="*/ 0 w 2250"/>
                <a:gd name="T63" fmla="*/ 3570 h 3570"/>
                <a:gd name="T64" fmla="*/ 1087 w 2250"/>
                <a:gd name="T65" fmla="*/ 3570 h 3570"/>
                <a:gd name="T66" fmla="*/ 1087 w 2250"/>
                <a:gd name="T67" fmla="*/ 3318 h 3570"/>
                <a:gd name="T68" fmla="*/ 1411 w 2250"/>
                <a:gd name="T69" fmla="*/ 2772 h 3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250" h="3570">
                  <a:moveTo>
                    <a:pt x="1411" y="2772"/>
                  </a:moveTo>
                  <a:cubicBezTo>
                    <a:pt x="1872" y="2520"/>
                    <a:pt x="1872" y="2520"/>
                    <a:pt x="1872" y="2520"/>
                  </a:cubicBezTo>
                  <a:cubicBezTo>
                    <a:pt x="1870" y="2518"/>
                    <a:pt x="1872" y="2517"/>
                    <a:pt x="1877" y="2518"/>
                  </a:cubicBezTo>
                  <a:cubicBezTo>
                    <a:pt x="2103" y="2394"/>
                    <a:pt x="2103" y="2394"/>
                    <a:pt x="2103" y="2394"/>
                  </a:cubicBezTo>
                  <a:cubicBezTo>
                    <a:pt x="2194" y="2345"/>
                    <a:pt x="2250" y="2250"/>
                    <a:pt x="2250" y="2146"/>
                  </a:cubicBezTo>
                  <a:cubicBezTo>
                    <a:pt x="2250" y="1863"/>
                    <a:pt x="2250" y="1863"/>
                    <a:pt x="2250" y="1863"/>
                  </a:cubicBezTo>
                  <a:cubicBezTo>
                    <a:pt x="2250" y="1863"/>
                    <a:pt x="2168" y="1764"/>
                    <a:pt x="2088" y="1605"/>
                  </a:cubicBezTo>
                  <a:cubicBezTo>
                    <a:pt x="2088" y="1605"/>
                    <a:pt x="2088" y="1605"/>
                    <a:pt x="2088" y="1605"/>
                  </a:cubicBezTo>
                  <a:cubicBezTo>
                    <a:pt x="2088" y="1605"/>
                    <a:pt x="2088" y="1605"/>
                    <a:pt x="2088" y="1605"/>
                  </a:cubicBezTo>
                  <a:cubicBezTo>
                    <a:pt x="2078" y="1584"/>
                    <a:pt x="2067" y="1562"/>
                    <a:pt x="2057" y="1539"/>
                  </a:cubicBezTo>
                  <a:cubicBezTo>
                    <a:pt x="2056" y="1536"/>
                    <a:pt x="2054" y="1533"/>
                    <a:pt x="2053" y="1530"/>
                  </a:cubicBezTo>
                  <a:cubicBezTo>
                    <a:pt x="2043" y="1506"/>
                    <a:pt x="2033" y="1482"/>
                    <a:pt x="2023" y="1456"/>
                  </a:cubicBezTo>
                  <a:cubicBezTo>
                    <a:pt x="2022" y="1455"/>
                    <a:pt x="2022" y="1453"/>
                    <a:pt x="2021" y="1451"/>
                  </a:cubicBezTo>
                  <a:cubicBezTo>
                    <a:pt x="2013" y="1429"/>
                    <a:pt x="2005" y="1406"/>
                    <a:pt x="1997" y="1382"/>
                  </a:cubicBezTo>
                  <a:cubicBezTo>
                    <a:pt x="1995" y="1375"/>
                    <a:pt x="1993" y="1369"/>
                    <a:pt x="1991" y="1362"/>
                  </a:cubicBezTo>
                  <a:cubicBezTo>
                    <a:pt x="1984" y="1336"/>
                    <a:pt x="1976" y="1309"/>
                    <a:pt x="1970" y="1282"/>
                  </a:cubicBezTo>
                  <a:cubicBezTo>
                    <a:pt x="1906" y="1240"/>
                    <a:pt x="1863" y="1168"/>
                    <a:pt x="1863" y="1087"/>
                  </a:cubicBezTo>
                  <a:cubicBezTo>
                    <a:pt x="1863" y="776"/>
                    <a:pt x="1863" y="776"/>
                    <a:pt x="1863" y="776"/>
                  </a:cubicBezTo>
                  <a:cubicBezTo>
                    <a:pt x="1863" y="708"/>
                    <a:pt x="1893" y="647"/>
                    <a:pt x="1940" y="604"/>
                  </a:cubicBezTo>
                  <a:cubicBezTo>
                    <a:pt x="1940" y="166"/>
                    <a:pt x="1940" y="166"/>
                    <a:pt x="1940" y="166"/>
                  </a:cubicBezTo>
                  <a:cubicBezTo>
                    <a:pt x="1830" y="81"/>
                    <a:pt x="1661" y="0"/>
                    <a:pt x="1397" y="0"/>
                  </a:cubicBezTo>
                  <a:cubicBezTo>
                    <a:pt x="655" y="0"/>
                    <a:pt x="621" y="621"/>
                    <a:pt x="621" y="621"/>
                  </a:cubicBezTo>
                  <a:cubicBezTo>
                    <a:pt x="621" y="1009"/>
                    <a:pt x="621" y="1009"/>
                    <a:pt x="621" y="1009"/>
                  </a:cubicBezTo>
                  <a:cubicBezTo>
                    <a:pt x="580" y="1046"/>
                    <a:pt x="543" y="1098"/>
                    <a:pt x="543" y="1157"/>
                  </a:cubicBezTo>
                  <a:cubicBezTo>
                    <a:pt x="543" y="1425"/>
                    <a:pt x="543" y="1425"/>
                    <a:pt x="543" y="1425"/>
                  </a:cubicBezTo>
                  <a:cubicBezTo>
                    <a:pt x="543" y="1496"/>
                    <a:pt x="581" y="1558"/>
                    <a:pt x="636" y="1594"/>
                  </a:cubicBezTo>
                  <a:cubicBezTo>
                    <a:pt x="703" y="1886"/>
                    <a:pt x="928" y="2096"/>
                    <a:pt x="928" y="2096"/>
                  </a:cubicBezTo>
                  <a:cubicBezTo>
                    <a:pt x="928" y="2340"/>
                    <a:pt x="928" y="2340"/>
                    <a:pt x="928" y="2340"/>
                  </a:cubicBezTo>
                  <a:cubicBezTo>
                    <a:pt x="928" y="2430"/>
                    <a:pt x="879" y="2512"/>
                    <a:pt x="801" y="2555"/>
                  </a:cubicBezTo>
                  <a:cubicBezTo>
                    <a:pt x="280" y="2881"/>
                    <a:pt x="280" y="2881"/>
                    <a:pt x="280" y="2881"/>
                  </a:cubicBezTo>
                  <a:cubicBezTo>
                    <a:pt x="108" y="2975"/>
                    <a:pt x="0" y="3156"/>
                    <a:pt x="0" y="3353"/>
                  </a:cubicBezTo>
                  <a:cubicBezTo>
                    <a:pt x="0" y="3570"/>
                    <a:pt x="0" y="3570"/>
                    <a:pt x="0" y="3570"/>
                  </a:cubicBezTo>
                  <a:cubicBezTo>
                    <a:pt x="1087" y="3570"/>
                    <a:pt x="1087" y="3570"/>
                    <a:pt x="1087" y="3570"/>
                  </a:cubicBezTo>
                  <a:cubicBezTo>
                    <a:pt x="1087" y="3318"/>
                    <a:pt x="1087" y="3318"/>
                    <a:pt x="1087" y="3318"/>
                  </a:cubicBezTo>
                  <a:cubicBezTo>
                    <a:pt x="1087" y="3091"/>
                    <a:pt x="1211" y="2881"/>
                    <a:pt x="1411" y="27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1F42ABF1-4217-D46A-B53B-357AA9059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1688" y="3676650"/>
              <a:ext cx="303213" cy="477838"/>
            </a:xfrm>
            <a:custGeom>
              <a:avLst/>
              <a:gdLst>
                <a:gd name="T0" fmla="*/ 1164 w 2250"/>
                <a:gd name="T1" fmla="*/ 3318 h 3570"/>
                <a:gd name="T2" fmla="*/ 1164 w 2250"/>
                <a:gd name="T3" fmla="*/ 3570 h 3570"/>
                <a:gd name="T4" fmla="*/ 2250 w 2250"/>
                <a:gd name="T5" fmla="*/ 3570 h 3570"/>
                <a:gd name="T6" fmla="*/ 2250 w 2250"/>
                <a:gd name="T7" fmla="*/ 3353 h 3570"/>
                <a:gd name="T8" fmla="*/ 1970 w 2250"/>
                <a:gd name="T9" fmla="*/ 2881 h 3570"/>
                <a:gd name="T10" fmla="*/ 1450 w 2250"/>
                <a:gd name="T11" fmla="*/ 2555 h 3570"/>
                <a:gd name="T12" fmla="*/ 1322 w 2250"/>
                <a:gd name="T13" fmla="*/ 2340 h 3570"/>
                <a:gd name="T14" fmla="*/ 1322 w 2250"/>
                <a:gd name="T15" fmla="*/ 2096 h 3570"/>
                <a:gd name="T16" fmla="*/ 1614 w 2250"/>
                <a:gd name="T17" fmla="*/ 1594 h 3570"/>
                <a:gd name="T18" fmla="*/ 1707 w 2250"/>
                <a:gd name="T19" fmla="*/ 1425 h 3570"/>
                <a:gd name="T20" fmla="*/ 1707 w 2250"/>
                <a:gd name="T21" fmla="*/ 1157 h 3570"/>
                <a:gd name="T22" fmla="*/ 1629 w 2250"/>
                <a:gd name="T23" fmla="*/ 1009 h 3570"/>
                <a:gd name="T24" fmla="*/ 1629 w 2250"/>
                <a:gd name="T25" fmla="*/ 621 h 3570"/>
                <a:gd name="T26" fmla="*/ 853 w 2250"/>
                <a:gd name="T27" fmla="*/ 0 h 3570"/>
                <a:gd name="T28" fmla="*/ 310 w 2250"/>
                <a:gd name="T29" fmla="*/ 166 h 3570"/>
                <a:gd name="T30" fmla="*/ 310 w 2250"/>
                <a:gd name="T31" fmla="*/ 604 h 3570"/>
                <a:gd name="T32" fmla="*/ 388 w 2250"/>
                <a:gd name="T33" fmla="*/ 776 h 3570"/>
                <a:gd name="T34" fmla="*/ 388 w 2250"/>
                <a:gd name="T35" fmla="*/ 1087 h 3570"/>
                <a:gd name="T36" fmla="*/ 280 w 2250"/>
                <a:gd name="T37" fmla="*/ 1282 h 3570"/>
                <a:gd name="T38" fmla="*/ 259 w 2250"/>
                <a:gd name="T39" fmla="*/ 1362 h 3570"/>
                <a:gd name="T40" fmla="*/ 253 w 2250"/>
                <a:gd name="T41" fmla="*/ 1382 h 3570"/>
                <a:gd name="T42" fmla="*/ 229 w 2250"/>
                <a:gd name="T43" fmla="*/ 1451 h 3570"/>
                <a:gd name="T44" fmla="*/ 227 w 2250"/>
                <a:gd name="T45" fmla="*/ 1456 h 3570"/>
                <a:gd name="T46" fmla="*/ 197 w 2250"/>
                <a:gd name="T47" fmla="*/ 1530 h 3570"/>
                <a:gd name="T48" fmla="*/ 193 w 2250"/>
                <a:gd name="T49" fmla="*/ 1539 h 3570"/>
                <a:gd name="T50" fmla="*/ 162 w 2250"/>
                <a:gd name="T51" fmla="*/ 1605 h 3570"/>
                <a:gd name="T52" fmla="*/ 162 w 2250"/>
                <a:gd name="T53" fmla="*/ 1605 h 3570"/>
                <a:gd name="T54" fmla="*/ 162 w 2250"/>
                <a:gd name="T55" fmla="*/ 1605 h 3570"/>
                <a:gd name="T56" fmla="*/ 0 w 2250"/>
                <a:gd name="T57" fmla="*/ 1863 h 3570"/>
                <a:gd name="T58" fmla="*/ 0 w 2250"/>
                <a:gd name="T59" fmla="*/ 2146 h 3570"/>
                <a:gd name="T60" fmla="*/ 147 w 2250"/>
                <a:gd name="T61" fmla="*/ 2394 h 3570"/>
                <a:gd name="T62" fmla="*/ 373 w 2250"/>
                <a:gd name="T63" fmla="*/ 2518 h 3570"/>
                <a:gd name="T64" fmla="*/ 378 w 2250"/>
                <a:gd name="T65" fmla="*/ 2520 h 3570"/>
                <a:gd name="T66" fmla="*/ 839 w 2250"/>
                <a:gd name="T67" fmla="*/ 2772 h 3570"/>
                <a:gd name="T68" fmla="*/ 1164 w 2250"/>
                <a:gd name="T69" fmla="*/ 3318 h 3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250" h="3570">
                  <a:moveTo>
                    <a:pt x="1164" y="3318"/>
                  </a:moveTo>
                  <a:cubicBezTo>
                    <a:pt x="1164" y="3570"/>
                    <a:pt x="1164" y="3570"/>
                    <a:pt x="1164" y="3570"/>
                  </a:cubicBezTo>
                  <a:cubicBezTo>
                    <a:pt x="2250" y="3570"/>
                    <a:pt x="2250" y="3570"/>
                    <a:pt x="2250" y="3570"/>
                  </a:cubicBezTo>
                  <a:cubicBezTo>
                    <a:pt x="2250" y="3353"/>
                    <a:pt x="2250" y="3353"/>
                    <a:pt x="2250" y="3353"/>
                  </a:cubicBezTo>
                  <a:cubicBezTo>
                    <a:pt x="2250" y="3156"/>
                    <a:pt x="2142" y="2975"/>
                    <a:pt x="1970" y="2881"/>
                  </a:cubicBezTo>
                  <a:cubicBezTo>
                    <a:pt x="1450" y="2555"/>
                    <a:pt x="1450" y="2555"/>
                    <a:pt x="1450" y="2555"/>
                  </a:cubicBezTo>
                  <a:cubicBezTo>
                    <a:pt x="1371" y="2512"/>
                    <a:pt x="1322" y="2430"/>
                    <a:pt x="1322" y="2340"/>
                  </a:cubicBezTo>
                  <a:cubicBezTo>
                    <a:pt x="1322" y="2096"/>
                    <a:pt x="1322" y="2096"/>
                    <a:pt x="1322" y="2096"/>
                  </a:cubicBezTo>
                  <a:cubicBezTo>
                    <a:pt x="1322" y="2096"/>
                    <a:pt x="1547" y="1886"/>
                    <a:pt x="1614" y="1594"/>
                  </a:cubicBezTo>
                  <a:cubicBezTo>
                    <a:pt x="1670" y="1558"/>
                    <a:pt x="1707" y="1496"/>
                    <a:pt x="1707" y="1425"/>
                  </a:cubicBezTo>
                  <a:cubicBezTo>
                    <a:pt x="1707" y="1157"/>
                    <a:pt x="1707" y="1157"/>
                    <a:pt x="1707" y="1157"/>
                  </a:cubicBezTo>
                  <a:cubicBezTo>
                    <a:pt x="1707" y="1098"/>
                    <a:pt x="1670" y="1046"/>
                    <a:pt x="1629" y="1009"/>
                  </a:cubicBezTo>
                  <a:cubicBezTo>
                    <a:pt x="1629" y="621"/>
                    <a:pt x="1629" y="621"/>
                    <a:pt x="1629" y="621"/>
                  </a:cubicBezTo>
                  <a:cubicBezTo>
                    <a:pt x="1629" y="621"/>
                    <a:pt x="1595" y="0"/>
                    <a:pt x="853" y="0"/>
                  </a:cubicBezTo>
                  <a:cubicBezTo>
                    <a:pt x="590" y="0"/>
                    <a:pt x="420" y="81"/>
                    <a:pt x="310" y="166"/>
                  </a:cubicBezTo>
                  <a:cubicBezTo>
                    <a:pt x="310" y="604"/>
                    <a:pt x="310" y="604"/>
                    <a:pt x="310" y="604"/>
                  </a:cubicBezTo>
                  <a:cubicBezTo>
                    <a:pt x="357" y="647"/>
                    <a:pt x="388" y="708"/>
                    <a:pt x="388" y="776"/>
                  </a:cubicBezTo>
                  <a:cubicBezTo>
                    <a:pt x="388" y="1087"/>
                    <a:pt x="388" y="1087"/>
                    <a:pt x="388" y="1087"/>
                  </a:cubicBezTo>
                  <a:cubicBezTo>
                    <a:pt x="388" y="1168"/>
                    <a:pt x="345" y="1240"/>
                    <a:pt x="280" y="1282"/>
                  </a:cubicBezTo>
                  <a:cubicBezTo>
                    <a:pt x="274" y="1309"/>
                    <a:pt x="267" y="1336"/>
                    <a:pt x="259" y="1362"/>
                  </a:cubicBezTo>
                  <a:cubicBezTo>
                    <a:pt x="257" y="1369"/>
                    <a:pt x="255" y="1375"/>
                    <a:pt x="253" y="1382"/>
                  </a:cubicBezTo>
                  <a:cubicBezTo>
                    <a:pt x="245" y="1406"/>
                    <a:pt x="237" y="1429"/>
                    <a:pt x="229" y="1451"/>
                  </a:cubicBezTo>
                  <a:cubicBezTo>
                    <a:pt x="228" y="1453"/>
                    <a:pt x="228" y="1455"/>
                    <a:pt x="227" y="1456"/>
                  </a:cubicBezTo>
                  <a:cubicBezTo>
                    <a:pt x="218" y="1482"/>
                    <a:pt x="208" y="1506"/>
                    <a:pt x="197" y="1530"/>
                  </a:cubicBezTo>
                  <a:cubicBezTo>
                    <a:pt x="196" y="1533"/>
                    <a:pt x="194" y="1536"/>
                    <a:pt x="193" y="1539"/>
                  </a:cubicBezTo>
                  <a:cubicBezTo>
                    <a:pt x="183" y="1562"/>
                    <a:pt x="173" y="1584"/>
                    <a:pt x="162" y="1605"/>
                  </a:cubicBezTo>
                  <a:cubicBezTo>
                    <a:pt x="162" y="1605"/>
                    <a:pt x="162" y="1605"/>
                    <a:pt x="162" y="1605"/>
                  </a:cubicBezTo>
                  <a:cubicBezTo>
                    <a:pt x="162" y="1605"/>
                    <a:pt x="162" y="1605"/>
                    <a:pt x="162" y="1605"/>
                  </a:cubicBezTo>
                  <a:cubicBezTo>
                    <a:pt x="82" y="1764"/>
                    <a:pt x="0" y="1863"/>
                    <a:pt x="0" y="1863"/>
                  </a:cubicBezTo>
                  <a:cubicBezTo>
                    <a:pt x="0" y="2146"/>
                    <a:pt x="0" y="2146"/>
                    <a:pt x="0" y="2146"/>
                  </a:cubicBezTo>
                  <a:cubicBezTo>
                    <a:pt x="0" y="2250"/>
                    <a:pt x="56" y="2345"/>
                    <a:pt x="147" y="2394"/>
                  </a:cubicBezTo>
                  <a:cubicBezTo>
                    <a:pt x="373" y="2518"/>
                    <a:pt x="373" y="2518"/>
                    <a:pt x="373" y="2518"/>
                  </a:cubicBezTo>
                  <a:cubicBezTo>
                    <a:pt x="378" y="2517"/>
                    <a:pt x="381" y="2518"/>
                    <a:pt x="378" y="2520"/>
                  </a:cubicBezTo>
                  <a:cubicBezTo>
                    <a:pt x="839" y="2772"/>
                    <a:pt x="839" y="2772"/>
                    <a:pt x="839" y="2772"/>
                  </a:cubicBezTo>
                  <a:cubicBezTo>
                    <a:pt x="1039" y="2881"/>
                    <a:pt x="1164" y="3091"/>
                    <a:pt x="1164" y="33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Freeform 17">
              <a:extLst>
                <a:ext uri="{FF2B5EF4-FFF2-40B4-BE49-F238E27FC236}">
                  <a16:creationId xmlns:a16="http://schemas.microsoft.com/office/drawing/2014/main" id="{D14BDA61-65B3-F95D-6EB8-2C239E765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763" y="3603625"/>
              <a:ext cx="460375" cy="550863"/>
            </a:xfrm>
            <a:custGeom>
              <a:avLst/>
              <a:gdLst>
                <a:gd name="T0" fmla="*/ 3070 w 3414"/>
                <a:gd name="T1" fmla="*/ 3320 h 4113"/>
                <a:gd name="T2" fmla="*/ 2329 w 3414"/>
                <a:gd name="T3" fmla="*/ 2949 h 4113"/>
                <a:gd name="T4" fmla="*/ 2173 w 3414"/>
                <a:gd name="T5" fmla="*/ 2696 h 4113"/>
                <a:gd name="T6" fmla="*/ 2173 w 3414"/>
                <a:gd name="T7" fmla="*/ 2406 h 4113"/>
                <a:gd name="T8" fmla="*/ 2243 w 3414"/>
                <a:gd name="T9" fmla="*/ 2315 h 4113"/>
                <a:gd name="T10" fmla="*/ 2473 w 3414"/>
                <a:gd name="T11" fmla="*/ 1851 h 4113"/>
                <a:gd name="T12" fmla="*/ 2638 w 3414"/>
                <a:gd name="T13" fmla="*/ 1630 h 4113"/>
                <a:gd name="T14" fmla="*/ 2638 w 3414"/>
                <a:gd name="T15" fmla="*/ 1319 h 4113"/>
                <a:gd name="T16" fmla="*/ 2561 w 3414"/>
                <a:gd name="T17" fmla="*/ 1147 h 4113"/>
                <a:gd name="T18" fmla="*/ 2561 w 3414"/>
                <a:gd name="T19" fmla="*/ 699 h 4113"/>
                <a:gd name="T20" fmla="*/ 1707 w 3414"/>
                <a:gd name="T21" fmla="*/ 0 h 4113"/>
                <a:gd name="T22" fmla="*/ 854 w 3414"/>
                <a:gd name="T23" fmla="*/ 699 h 4113"/>
                <a:gd name="T24" fmla="*/ 854 w 3414"/>
                <a:gd name="T25" fmla="*/ 1147 h 4113"/>
                <a:gd name="T26" fmla="*/ 776 w 3414"/>
                <a:gd name="T27" fmla="*/ 1319 h 4113"/>
                <a:gd name="T28" fmla="*/ 776 w 3414"/>
                <a:gd name="T29" fmla="*/ 1630 h 4113"/>
                <a:gd name="T30" fmla="*/ 883 w 3414"/>
                <a:gd name="T31" fmla="*/ 1825 h 4113"/>
                <a:gd name="T32" fmla="*/ 1164 w 3414"/>
                <a:gd name="T33" fmla="*/ 2406 h 4113"/>
                <a:gd name="T34" fmla="*/ 1164 w 3414"/>
                <a:gd name="T35" fmla="*/ 2689 h 4113"/>
                <a:gd name="T36" fmla="*/ 1017 w 3414"/>
                <a:gd name="T37" fmla="*/ 2937 h 4113"/>
                <a:gd name="T38" fmla="*/ 324 w 3414"/>
                <a:gd name="T39" fmla="*/ 3315 h 4113"/>
                <a:gd name="T40" fmla="*/ 0 w 3414"/>
                <a:gd name="T41" fmla="*/ 3861 h 4113"/>
                <a:gd name="T42" fmla="*/ 0 w 3414"/>
                <a:gd name="T43" fmla="*/ 4113 h 4113"/>
                <a:gd name="T44" fmla="*/ 3414 w 3414"/>
                <a:gd name="T45" fmla="*/ 4113 h 4113"/>
                <a:gd name="T46" fmla="*/ 3414 w 3414"/>
                <a:gd name="T47" fmla="*/ 3877 h 4113"/>
                <a:gd name="T48" fmla="*/ 3070 w 3414"/>
                <a:gd name="T49" fmla="*/ 3320 h 4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14" h="4113">
                  <a:moveTo>
                    <a:pt x="3070" y="3320"/>
                  </a:moveTo>
                  <a:cubicBezTo>
                    <a:pt x="2329" y="2949"/>
                    <a:pt x="2329" y="2949"/>
                    <a:pt x="2329" y="2949"/>
                  </a:cubicBezTo>
                  <a:cubicBezTo>
                    <a:pt x="2233" y="2901"/>
                    <a:pt x="2173" y="2804"/>
                    <a:pt x="2173" y="2696"/>
                  </a:cubicBezTo>
                  <a:cubicBezTo>
                    <a:pt x="2173" y="2406"/>
                    <a:pt x="2173" y="2406"/>
                    <a:pt x="2173" y="2406"/>
                  </a:cubicBezTo>
                  <a:cubicBezTo>
                    <a:pt x="2193" y="2382"/>
                    <a:pt x="2217" y="2351"/>
                    <a:pt x="2243" y="2315"/>
                  </a:cubicBezTo>
                  <a:cubicBezTo>
                    <a:pt x="2344" y="2173"/>
                    <a:pt x="2420" y="2016"/>
                    <a:pt x="2473" y="1851"/>
                  </a:cubicBezTo>
                  <a:cubicBezTo>
                    <a:pt x="2568" y="1822"/>
                    <a:pt x="2638" y="1734"/>
                    <a:pt x="2638" y="1630"/>
                  </a:cubicBezTo>
                  <a:cubicBezTo>
                    <a:pt x="2638" y="1319"/>
                    <a:pt x="2638" y="1319"/>
                    <a:pt x="2638" y="1319"/>
                  </a:cubicBezTo>
                  <a:cubicBezTo>
                    <a:pt x="2638" y="1251"/>
                    <a:pt x="2608" y="1190"/>
                    <a:pt x="2561" y="1147"/>
                  </a:cubicBezTo>
                  <a:cubicBezTo>
                    <a:pt x="2561" y="699"/>
                    <a:pt x="2561" y="699"/>
                    <a:pt x="2561" y="699"/>
                  </a:cubicBezTo>
                  <a:cubicBezTo>
                    <a:pt x="2561" y="699"/>
                    <a:pt x="2653" y="0"/>
                    <a:pt x="1707" y="0"/>
                  </a:cubicBezTo>
                  <a:cubicBezTo>
                    <a:pt x="761" y="0"/>
                    <a:pt x="854" y="699"/>
                    <a:pt x="854" y="699"/>
                  </a:cubicBezTo>
                  <a:cubicBezTo>
                    <a:pt x="854" y="1147"/>
                    <a:pt x="854" y="1147"/>
                    <a:pt x="854" y="1147"/>
                  </a:cubicBezTo>
                  <a:cubicBezTo>
                    <a:pt x="806" y="1190"/>
                    <a:pt x="776" y="1251"/>
                    <a:pt x="776" y="1319"/>
                  </a:cubicBezTo>
                  <a:cubicBezTo>
                    <a:pt x="776" y="1630"/>
                    <a:pt x="776" y="1630"/>
                    <a:pt x="776" y="1630"/>
                  </a:cubicBezTo>
                  <a:cubicBezTo>
                    <a:pt x="776" y="1711"/>
                    <a:pt x="819" y="1783"/>
                    <a:pt x="883" y="1825"/>
                  </a:cubicBezTo>
                  <a:cubicBezTo>
                    <a:pt x="961" y="2163"/>
                    <a:pt x="1164" y="2406"/>
                    <a:pt x="1164" y="2406"/>
                  </a:cubicBezTo>
                  <a:cubicBezTo>
                    <a:pt x="1164" y="2689"/>
                    <a:pt x="1164" y="2689"/>
                    <a:pt x="1164" y="2689"/>
                  </a:cubicBezTo>
                  <a:cubicBezTo>
                    <a:pt x="1164" y="2793"/>
                    <a:pt x="1107" y="2888"/>
                    <a:pt x="1017" y="2937"/>
                  </a:cubicBezTo>
                  <a:cubicBezTo>
                    <a:pt x="324" y="3315"/>
                    <a:pt x="324" y="3315"/>
                    <a:pt x="324" y="3315"/>
                  </a:cubicBezTo>
                  <a:cubicBezTo>
                    <a:pt x="124" y="3424"/>
                    <a:pt x="0" y="3634"/>
                    <a:pt x="0" y="3861"/>
                  </a:cubicBezTo>
                  <a:cubicBezTo>
                    <a:pt x="0" y="4113"/>
                    <a:pt x="0" y="4113"/>
                    <a:pt x="0" y="4113"/>
                  </a:cubicBezTo>
                  <a:cubicBezTo>
                    <a:pt x="3414" y="4113"/>
                    <a:pt x="3414" y="4113"/>
                    <a:pt x="3414" y="4113"/>
                  </a:cubicBezTo>
                  <a:cubicBezTo>
                    <a:pt x="3414" y="3877"/>
                    <a:pt x="3414" y="3877"/>
                    <a:pt x="3414" y="3877"/>
                  </a:cubicBezTo>
                  <a:cubicBezTo>
                    <a:pt x="3414" y="3641"/>
                    <a:pt x="3281" y="3425"/>
                    <a:pt x="3070" y="33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CD66C99-E50A-1605-0FFA-91FC8B5BC264}"/>
              </a:ext>
            </a:extLst>
          </p:cNvPr>
          <p:cNvSpPr txBox="1"/>
          <p:nvPr/>
        </p:nvSpPr>
        <p:spPr>
          <a:xfrm>
            <a:off x="3776545" y="1608915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11485F-A461-776E-CAD7-CA71A361C81B}"/>
              </a:ext>
            </a:extLst>
          </p:cNvPr>
          <p:cNvSpPr txBox="1"/>
          <p:nvPr/>
        </p:nvSpPr>
        <p:spPr>
          <a:xfrm>
            <a:off x="3776545" y="5503309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5CE3CA-BE6A-780F-8881-184693399D2C}"/>
              </a:ext>
            </a:extLst>
          </p:cNvPr>
          <p:cNvSpPr txBox="1"/>
          <p:nvPr/>
        </p:nvSpPr>
        <p:spPr>
          <a:xfrm>
            <a:off x="4853906" y="4655550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C0CA7F-6B2C-FB99-55A0-E6E3BA22DBCE}"/>
              </a:ext>
            </a:extLst>
          </p:cNvPr>
          <p:cNvSpPr txBox="1"/>
          <p:nvPr/>
        </p:nvSpPr>
        <p:spPr>
          <a:xfrm>
            <a:off x="5869452" y="3617416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8E6648-822D-E9BC-73C0-600FD71C9973}"/>
              </a:ext>
            </a:extLst>
          </p:cNvPr>
          <p:cNvSpPr txBox="1"/>
          <p:nvPr/>
        </p:nvSpPr>
        <p:spPr>
          <a:xfrm>
            <a:off x="4853906" y="2553814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67214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8CB9-7962-2D6C-AB39-5B11876B8F86}"/>
              </a:ext>
            </a:extLst>
          </p:cNvPr>
          <p:cNvSpPr txBox="1">
            <a:spLocks/>
          </p:cNvSpPr>
          <p:nvPr/>
        </p:nvSpPr>
        <p:spPr>
          <a:xfrm>
            <a:off x="989676" y="379702"/>
            <a:ext cx="8770571" cy="13452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u="sng" dirty="0"/>
              <a:t>R</a:t>
            </a:r>
            <a:r>
              <a:rPr lang="en-IN" sz="3600" b="1" u="sng" dirty="0">
                <a:latin typeface="+mn-lt"/>
              </a:rPr>
              <a:t>eferences</a:t>
            </a:r>
            <a:endParaRPr lang="en-IN" sz="3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5B5D0-9DFB-8BF5-A1DB-0424FE93DFE9}"/>
              </a:ext>
            </a:extLst>
          </p:cNvPr>
          <p:cNvSpPr txBox="1">
            <a:spLocks/>
          </p:cNvSpPr>
          <p:nvPr/>
        </p:nvSpPr>
        <p:spPr>
          <a:xfrm>
            <a:off x="1234440" y="1332561"/>
            <a:ext cx="10206446" cy="451306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/>
              <a:t> </a:t>
            </a:r>
            <a:r>
              <a:rPr lang="en-US" sz="1600" dirty="0"/>
              <a:t>H R Rohit et.al., “A Review of Artificial Intelligence Methods for Data Science and Data Analytics: Applications and Research Challenges,”2018 2nd International Conference on I-SMAC (IoT in Social, Mobile, Analytics and Cloud), 2018. </a:t>
            </a:r>
            <a:endParaRPr lang="en-IN" sz="1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S. </a:t>
            </a:r>
            <a:r>
              <a:rPr lang="en-US" sz="1600" dirty="0" err="1"/>
              <a:t>Pankanti</a:t>
            </a:r>
            <a:r>
              <a:rPr lang="en-US" sz="1600" dirty="0"/>
              <a:t> </a:t>
            </a:r>
            <a:r>
              <a:rPr lang="en-US" sz="1600" dirty="0" err="1"/>
              <a:t>et.al.,“Robust</a:t>
            </a:r>
            <a:r>
              <a:rPr lang="en-US" sz="1600" dirty="0"/>
              <a:t> abandoned object detection using </a:t>
            </a:r>
            <a:r>
              <a:rPr lang="en-US" sz="1600" dirty="0" err="1"/>
              <a:t>regionlevel</a:t>
            </a:r>
            <a:r>
              <a:rPr lang="en-US" sz="1600" dirty="0"/>
              <a:t> </a:t>
            </a:r>
            <a:r>
              <a:rPr lang="en-US" sz="1600" dirty="0" err="1"/>
              <a:t>analysis,”International</a:t>
            </a:r>
            <a:r>
              <a:rPr lang="en-US" sz="1600" dirty="0"/>
              <a:t> Conference on Image Processing,2011.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/>
              <a:t> </a:t>
            </a:r>
            <a:r>
              <a:rPr lang="en-US" sz="1600" dirty="0"/>
              <a:t>Weapon Detection Using Artificial Intelligence And Deep Learning For Security Applications. (2023, May 26). International Research Journal Of Modernization In Engineering Technology And Science.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Deep Learning based Object Detection Methods: A Review. (2022, March 31 ). </a:t>
            </a:r>
            <a:r>
              <a:rPr lang="en-US" sz="1600" dirty="0" err="1"/>
              <a:t>Medicon</a:t>
            </a:r>
            <a:r>
              <a:rPr lang="en-US" sz="1600" dirty="0"/>
              <a:t> Engineering Themes.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 err="1"/>
              <a:t>Gawade</a:t>
            </a:r>
            <a:r>
              <a:rPr lang="en-IN" sz="1600" dirty="0"/>
              <a:t>, S., Vidhya, R., &amp; Radhika, R. (2022). Automatic Weapon Detection for Surveillance Applications. SSRN Electronic Journal.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P. M Panchal, S. R Panchal and S. K Shah, "A Comparison of SIFT and SURF", International Journal of Innovative Research in Computer and Communication Engineering, vol. 1, no. 2, pp. 323-327, 2013.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Chetan Dhule, Rahul Agrawal, Sanjay </a:t>
            </a:r>
            <a:r>
              <a:rPr lang="en-US" sz="1600" dirty="0" err="1"/>
              <a:t>Dorle</a:t>
            </a:r>
            <a:r>
              <a:rPr lang="en-US" sz="1600" dirty="0"/>
              <a:t>, “Study of Design of IoT based Digital Board for Real Time Data Delivery on National Highway”, 6th International Conference on Inventive Computation Technologies (ICICT), 978-1-7281-8501-9/21/ 2021 IEEE, PP 841-844.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/>
              <a:t>Rahul Agrawal, </a:t>
            </a:r>
            <a:r>
              <a:rPr lang="en-IN" sz="1600" dirty="0" err="1"/>
              <a:t>Dr.</a:t>
            </a:r>
            <a:r>
              <a:rPr lang="en-IN" sz="1600" dirty="0"/>
              <a:t> Preeti Bajaj, “EEG Based Brain state Classification technique using Support Vector Machine -A Design Approach”, 3rd International Conference on Intelligent Sustainable Systems (ICISS 2020) organized by SCAD Institute of Technology, </a:t>
            </a:r>
            <a:r>
              <a:rPr lang="en-IN" sz="1600" dirty="0" err="1"/>
              <a:t>Palladam</a:t>
            </a:r>
            <a:r>
              <a:rPr lang="en-IN" sz="1600" dirty="0"/>
              <a:t>, India from 03- 05, December 2020 (Indexed by IEEE) ISBN: 978-1-7281-7089- 3/20 2020 IEEE ,PP. 1523-1528.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73316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6C69C-B4AA-0DD2-227C-74770CC78133}"/>
              </a:ext>
            </a:extLst>
          </p:cNvPr>
          <p:cNvSpPr txBox="1">
            <a:spLocks/>
          </p:cNvSpPr>
          <p:nvPr/>
        </p:nvSpPr>
        <p:spPr>
          <a:xfrm>
            <a:off x="0" y="2161269"/>
            <a:ext cx="11430000" cy="23780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b="1">
                <a:latin typeface="Brush Script MT" panose="03060802040406070304" pitchFamily="66" charset="0"/>
              </a:rPr>
              <a:t>Thank You</a:t>
            </a:r>
            <a:endParaRPr lang="en-IN" sz="9600" b="1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44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</TotalTime>
  <Words>2226</Words>
  <Application>Microsoft Office PowerPoint</Application>
  <PresentationFormat>Widescreen</PresentationFormat>
  <Paragraphs>245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Brush Script MT</vt:lpstr>
      <vt:lpstr>Calibri</vt:lpstr>
      <vt:lpstr>Calibri Light</vt:lpstr>
      <vt:lpstr>Google Sans</vt:lpstr>
      <vt:lpstr>Open Sans</vt:lpstr>
      <vt:lpstr>Segoe UI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Akshit Kotnala</dc:creator>
  <cp:lastModifiedBy>Akshit Kotnala</cp:lastModifiedBy>
  <cp:revision>7</cp:revision>
  <dcterms:created xsi:type="dcterms:W3CDTF">2024-09-08T07:00:53Z</dcterms:created>
  <dcterms:modified xsi:type="dcterms:W3CDTF">2024-10-25T06:34:36Z</dcterms:modified>
</cp:coreProperties>
</file>